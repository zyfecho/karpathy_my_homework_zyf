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4"/>
  </p:handoutMasterIdLst>
  <p:sldIdLst>
    <p:sldId id="773" r:id="rId3"/>
    <p:sldId id="690" r:id="rId5"/>
    <p:sldId id="999" r:id="rId6"/>
    <p:sldId id="1037" r:id="rId7"/>
    <p:sldId id="1006" r:id="rId8"/>
    <p:sldId id="1000" r:id="rId9"/>
    <p:sldId id="1001" r:id="rId10"/>
    <p:sldId id="1002" r:id="rId11"/>
    <p:sldId id="1015" r:id="rId12"/>
    <p:sldId id="1004" r:id="rId13"/>
    <p:sldId id="1018" r:id="rId14"/>
    <p:sldId id="1422" r:id="rId15"/>
    <p:sldId id="1008" r:id="rId16"/>
    <p:sldId id="1009" r:id="rId17"/>
    <p:sldId id="1010" r:id="rId18"/>
    <p:sldId id="1007" r:id="rId19"/>
    <p:sldId id="1065" r:id="rId20"/>
    <p:sldId id="1011" r:id="rId21"/>
    <p:sldId id="1066" r:id="rId22"/>
    <p:sldId id="1062" r:id="rId23"/>
    <p:sldId id="1013" r:id="rId24"/>
    <p:sldId id="1024" r:id="rId25"/>
    <p:sldId id="1064" r:id="rId26"/>
    <p:sldId id="1016" r:id="rId27"/>
    <p:sldId id="1023" r:id="rId28"/>
    <p:sldId id="1025" r:id="rId29"/>
    <p:sldId id="1412" r:id="rId30"/>
    <p:sldId id="1115" r:id="rId31"/>
    <p:sldId id="1414" r:id="rId32"/>
    <p:sldId id="1421" r:id="rId33"/>
    <p:sldId id="1415" r:id="rId34"/>
    <p:sldId id="1417" r:id="rId35"/>
    <p:sldId id="1413" r:id="rId36"/>
    <p:sldId id="1035" r:id="rId37"/>
    <p:sldId id="1032" r:id="rId38"/>
    <p:sldId id="1027" r:id="rId39"/>
    <p:sldId id="1050" r:id="rId40"/>
    <p:sldId id="1034" r:id="rId41"/>
    <p:sldId id="1033" r:id="rId42"/>
    <p:sldId id="1051" r:id="rId43"/>
    <p:sldId id="1054" r:id="rId44"/>
    <p:sldId id="1055" r:id="rId45"/>
    <p:sldId id="1053" r:id="rId46"/>
    <p:sldId id="990" r:id="rId47"/>
    <p:sldId id="995" r:id="rId48"/>
    <p:sldId id="1036" r:id="rId49"/>
    <p:sldId id="1418" r:id="rId50"/>
    <p:sldId id="1291" r:id="rId51"/>
    <p:sldId id="1038" r:id="rId52"/>
    <p:sldId id="1048" r:id="rId53"/>
    <p:sldId id="1049" r:id="rId54"/>
    <p:sldId id="867" r:id="rId55"/>
    <p:sldId id="1410" r:id="rId56"/>
    <p:sldId id="1047" r:id="rId57"/>
    <p:sldId id="1039" r:id="rId58"/>
    <p:sldId id="1419" r:id="rId59"/>
    <p:sldId id="1041" r:id="rId60"/>
    <p:sldId id="1057" r:id="rId61"/>
    <p:sldId id="1043" r:id="rId62"/>
    <p:sldId id="992" r:id="rId63"/>
    <p:sldId id="1044" r:id="rId64"/>
    <p:sldId id="1045" r:id="rId65"/>
    <p:sldId id="1046" r:id="rId66"/>
    <p:sldId id="1411" r:id="rId67"/>
    <p:sldId id="1056" r:id="rId68"/>
    <p:sldId id="1059" r:id="rId69"/>
    <p:sldId id="1420" r:id="rId70"/>
    <p:sldId id="1060" r:id="rId71"/>
    <p:sldId id="1058" r:id="rId72"/>
    <p:sldId id="1061" r:id="rId73"/>
  </p:sldIdLst>
  <p:sldSz cx="12192000" cy="6858000"/>
  <p:notesSz cx="6797675" cy="992632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8" userDrawn="1">
          <p15:clr>
            <a:srgbClr val="A4A3A4"/>
          </p15:clr>
        </p15:guide>
        <p15:guide id="3" orient="horz" pos="420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5269" userDrawn="1">
          <p15:clr>
            <a:srgbClr val="A4A3A4"/>
          </p15:clr>
        </p15:guide>
        <p15:guide id="6" pos="26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44B46"/>
    <a:srgbClr val="0066FF"/>
    <a:srgbClr val="008200"/>
    <a:srgbClr val="FF222A"/>
    <a:srgbClr val="7F6000"/>
    <a:srgbClr val="FFC000"/>
    <a:srgbClr val="00FF00"/>
    <a:srgbClr val="FFFFC8"/>
    <a:srgbClr val="548235"/>
    <a:srgbClr val="FF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76431" autoAdjust="0"/>
  </p:normalViewPr>
  <p:slideViewPr>
    <p:cSldViewPr snapToGrid="0" showGuides="1">
      <p:cViewPr varScale="1">
        <p:scale>
          <a:sx n="51" d="100"/>
          <a:sy n="51" d="100"/>
        </p:scale>
        <p:origin x="1256" y="52"/>
      </p:cViewPr>
      <p:guideLst>
        <p:guide orient="horz" pos="2568"/>
        <p:guide orient="horz" pos="420"/>
        <p:guide pos="3840"/>
        <p:guide pos="5269"/>
        <p:guide pos="262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handoutMaster" Target="handoutMasters/handoutMaster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BE6DEB61-24A3-4710-82A0-F44FFE49BB39}" type="datetimeFigureOut">
              <a:rPr lang="zh-CN" altLang="en-US"/>
            </a:fld>
            <a:endParaRPr lang="zh-CN" altLang="en-US">
              <a:latin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solidFill>
                  <a:srgbClr val="898989"/>
                </a:solidFill>
                <a:ea typeface="等线" panose="02010600030101010101" pitchFamily="2" charset="-122"/>
              </a:defRPr>
            </a:lvl1pPr>
          </a:lstStyle>
          <a:p>
            <a:pPr>
              <a:defRPr/>
            </a:pPr>
            <a:fld id="{29FC4E4F-C77A-44F4-90A7-BDA76DB2E99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9EC2A980-D20A-4018-B0A7-F751CC11842F}" type="datetimeFigureOut">
              <a:rPr lang="zh-CN" altLang="en-US"/>
            </a:fld>
            <a:endParaRPr lang="zh-CN" altLang="en-US">
              <a:latin typeface="等线" panose="02010600030101010101" pitchFamily="2" charset="-122"/>
            </a:endParaRPr>
          </a:p>
        </p:txBody>
      </p:sp>
      <p:sp>
        <p:nvSpPr>
          <p:cNvPr id="1741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latin typeface="Calibri" panose="020F0502020204030204" pitchFamily="34" charset="0"/>
                <a:ea typeface="+mn-ea"/>
              </a:defRPr>
            </a:lvl1pPr>
          </a:lstStyle>
          <a:p>
            <a:pPr>
              <a:defRPr/>
            </a:pPr>
            <a:fld id="{6C6F9D2F-72BB-4446-8BF2-E67408B0A06E}" type="slidenum">
              <a:rPr lang="zh-CN" altLang="en-US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DFDAE-03EA-44B6-94EF-7312A671F5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DFDAE-03EA-44B6-94EF-7312A671F5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6F9D2F-72BB-4446-8BF2-E67408B0A06E}" type="slidenum">
              <a:rPr lang="zh-CN" altLang="en-US" smtClean="0"/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48528-DDC5-4D19-BFC8-CB42405DD62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191D9A-5DF6-4F14-BB6F-FCDB2554D44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59B6-764C-4347-AA78-ADAD14B8575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BFDD7-5F4F-4B8E-9025-83CE13D60D1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C4433-FD13-43DB-85DC-EEE595F53AB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E5FE2-4338-4FB4-A4EF-93BF43B7787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C0CC2-3821-4FCB-AEA0-4863E3AEFA21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20E4E-2388-4F33-B0F6-14039C0FB37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734269-45B5-42AE-9068-EEC734BE8F5F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0B0F3-43A8-491C-9A87-BA5FD55E594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93D4D-9480-497A-9F39-6471EFB4ECF6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51943-7203-40B8-B2DF-0C638B1B7B1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2955925" y="98425"/>
            <a:ext cx="9236075" cy="3079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3" name="组合 19"/>
          <p:cNvGrpSpPr/>
          <p:nvPr userDrawn="1"/>
        </p:nvGrpSpPr>
        <p:grpSpPr bwMode="auto">
          <a:xfrm>
            <a:off x="0" y="6513513"/>
            <a:ext cx="12192000" cy="371475"/>
            <a:chOff x="0" y="6513463"/>
            <a:chExt cx="12192000" cy="370984"/>
          </a:xfrm>
        </p:grpSpPr>
        <p:sp>
          <p:nvSpPr>
            <p:cNvPr id="4" name="矩形 3"/>
            <p:cNvSpPr/>
            <p:nvPr/>
          </p:nvSpPr>
          <p:spPr>
            <a:xfrm>
              <a:off x="0" y="6513463"/>
              <a:ext cx="12192000" cy="198175"/>
            </a:xfrm>
            <a:prstGeom prst="rect">
              <a:avLst/>
            </a:prstGeom>
            <a:solidFill>
              <a:srgbClr val="34BF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5" name="矩形 4"/>
            <p:cNvSpPr/>
            <p:nvPr/>
          </p:nvSpPr>
          <p:spPr>
            <a:xfrm>
              <a:off x="0" y="6553098"/>
              <a:ext cx="12192000" cy="309154"/>
            </a:xfrm>
            <a:prstGeom prst="rect">
              <a:avLst/>
            </a:prstGeom>
            <a:solidFill>
              <a:srgbClr val="036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6" name="文本框 17"/>
            <p:cNvSpPr txBox="1">
              <a:spLocks noChangeArrowheads="1"/>
            </p:cNvSpPr>
            <p:nvPr userDrawn="1"/>
          </p:nvSpPr>
          <p:spPr bwMode="auto">
            <a:xfrm>
              <a:off x="239713" y="6515048"/>
              <a:ext cx="3213100" cy="369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等线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等线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等线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等线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dirty="0">
                  <a:solidFill>
                    <a:schemeClr val="bg1"/>
                  </a:solidFill>
                  <a:ea typeface="+mn-ea"/>
                </a:rPr>
                <a:t>ORANGE PPT </a:t>
              </a:r>
              <a:r>
                <a:rPr lang="zh-CN" altLang="en-US">
                  <a:solidFill>
                    <a:schemeClr val="bg1"/>
                  </a:solidFill>
                  <a:ea typeface="+mn-ea"/>
                </a:rPr>
                <a:t>工作室出品</a:t>
              </a:r>
              <a:endParaRPr lang="zh-CN" altLang="en-US">
                <a:solidFill>
                  <a:schemeClr val="bg1"/>
                </a:solidFill>
                <a:ea typeface="+mn-ea"/>
              </a:endParaRPr>
            </a:p>
          </p:txBody>
        </p:sp>
      </p:grpSp>
      <p:sp>
        <p:nvSpPr>
          <p:cNvPr id="7" name="矩形 6"/>
          <p:cNvSpPr/>
          <p:nvPr userDrawn="1"/>
        </p:nvSpPr>
        <p:spPr>
          <a:xfrm>
            <a:off x="-9525" y="93663"/>
            <a:ext cx="1101725" cy="31908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sp>
        <p:nvSpPr>
          <p:cNvPr id="8" name="文本框 10"/>
          <p:cNvSpPr txBox="1">
            <a:spLocks noChangeArrowheads="1"/>
          </p:cNvSpPr>
          <p:nvPr/>
        </p:nvSpPr>
        <p:spPr bwMode="auto">
          <a:xfrm>
            <a:off x="9766300" y="6545263"/>
            <a:ext cx="28305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ＰＯＷＥＲＰＯＩＮＴ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十字箭头标注 8"/>
          <p:cNvSpPr/>
          <p:nvPr/>
        </p:nvSpPr>
        <p:spPr>
          <a:xfrm>
            <a:off x="9477375" y="6565900"/>
            <a:ext cx="288925" cy="292100"/>
          </a:xfrm>
          <a:prstGeom prst="quadArrowCallout">
            <a:avLst/>
          </a:prstGeom>
          <a:solidFill>
            <a:schemeClr val="bg1"/>
          </a:solidFill>
          <a:ln>
            <a:noFill/>
          </a:ln>
          <a:effectLst>
            <a:outerShdw blurRad="431800" dist="38100" dir="18900000" sx="60000" sy="6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anchor="ctr"/>
          <a:lstStyle/>
          <a:p>
            <a:pPr algn="ctr" fontAlgn="auto">
              <a:defRPr/>
            </a:pPr>
            <a:endParaRPr lang="zh-CN" altLang="en-US" noProof="1"/>
          </a:p>
        </p:txBody>
      </p:sp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3A332F-70CA-448A-B5AC-DB64FE832ED6}" type="datetimeFigureOut">
              <a:rPr lang="zh-CN" altLang="en-US"/>
            </a:fld>
            <a:endParaRPr lang="zh-CN" altLang="en-US"/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64F50D-5895-4211-8815-D3B48DB56F8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3A54C-C2BD-4836-8EC2-BC5AD00511A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9BFC36-9993-4272-AE53-97D9E354513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1CFF1-BC1C-4F63-8E00-C1A80E49718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0A6DE-2835-4F2A-8355-B2F8F97CA08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1DC2F-4FB1-451F-BBFD-3867EF43129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9224D-3DE8-478C-957D-BBD62D7318E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6EED3-E00F-42BD-AAA5-6542BAFB4D1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B6A00-4173-428C-ABEA-581246B705C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defRPr sz="120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061BC55-A508-41A1-9041-07646FD94C7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defRPr sz="1200" noProof="1">
                <a:solidFill>
                  <a:schemeClr val="tx1">
                    <a:tint val="75000"/>
                  </a:schemeClr>
                </a:solidFill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898989"/>
                </a:solidFill>
                <a:ea typeface="+mn-ea"/>
              </a:defRPr>
            </a:lvl1pPr>
          </a:lstStyle>
          <a:p>
            <a:pPr>
              <a:defRPr/>
            </a:pPr>
            <a:fld id="{B7654AF1-3553-4F71-B7E8-0F61CEC32EEB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275117"/>
            <a:ext cx="12195175" cy="1415414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135731" y="2429421"/>
            <a:ext cx="12192000" cy="98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中断系统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0" name="文本框 11"/>
          <p:cNvSpPr txBox="1">
            <a:spLocks noChangeArrowheads="1"/>
          </p:cNvSpPr>
          <p:nvPr/>
        </p:nvSpPr>
        <p:spPr bwMode="auto">
          <a:xfrm>
            <a:off x="4449111" y="5624294"/>
            <a:ext cx="3300134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ytqiqiang@163.com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  <p:sp>
        <p:nvSpPr>
          <p:cNvPr id="7" name="文本框 10"/>
          <p:cNvSpPr txBox="1">
            <a:spLocks noChangeArrowheads="1"/>
          </p:cNvSpPr>
          <p:nvPr/>
        </p:nvSpPr>
        <p:spPr bwMode="auto">
          <a:xfrm>
            <a:off x="4993558" y="4576460"/>
            <a:ext cx="20313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主讲人：漆强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03879" y="616695"/>
            <a:ext cx="10784494" cy="58256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58800" sx="103000" sy="103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" y="492503"/>
            <a:ext cx="2266380" cy="655320"/>
            <a:chOff x="-15876" y="995423"/>
            <a:chExt cx="4145115" cy="655320"/>
          </a:xfrm>
        </p:grpSpPr>
        <p:sp>
          <p:nvSpPr>
            <p:cNvPr id="37" name="五边形 36"/>
            <p:cNvSpPr/>
            <p:nvPr/>
          </p:nvSpPr>
          <p:spPr>
            <a:xfrm>
              <a:off x="-15876" y="995423"/>
              <a:ext cx="4145115" cy="655320"/>
            </a:xfrm>
            <a:prstGeom prst="homePlate">
              <a:avLst>
                <a:gd name="adj" fmla="val 38372"/>
              </a:avLst>
            </a:prstGeom>
            <a:solidFill>
              <a:srgbClr val="E44B4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578881" y="1092250"/>
              <a:ext cx="25893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本章内容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750819" y="1506159"/>
            <a:ext cx="7391400" cy="780395"/>
            <a:chOff x="3169920" y="1337965"/>
            <a:chExt cx="7391400" cy="780395"/>
          </a:xfrm>
        </p:grpSpPr>
        <p:sp>
          <p:nvSpPr>
            <p:cNvPr id="49" name="矩形 48"/>
            <p:cNvSpPr/>
            <p:nvPr/>
          </p:nvSpPr>
          <p:spPr>
            <a:xfrm>
              <a:off x="3413760" y="1337965"/>
              <a:ext cx="6857999" cy="780395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00">
                <a:solidFill>
                  <a:srgbClr val="E44B4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0" name="文本框 9"/>
            <p:cNvSpPr txBox="1">
              <a:spLocks noChangeArrowheads="1"/>
            </p:cNvSpPr>
            <p:nvPr/>
          </p:nvSpPr>
          <p:spPr bwMode="auto">
            <a:xfrm>
              <a:off x="3169920" y="1501381"/>
              <a:ext cx="7391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中断概述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750819" y="4092690"/>
            <a:ext cx="7391400" cy="780395"/>
            <a:chOff x="3154680" y="2877205"/>
            <a:chExt cx="7391400" cy="780395"/>
          </a:xfrm>
        </p:grpSpPr>
        <p:sp>
          <p:nvSpPr>
            <p:cNvPr id="52" name="矩形 51"/>
            <p:cNvSpPr/>
            <p:nvPr/>
          </p:nvSpPr>
          <p:spPr>
            <a:xfrm>
              <a:off x="3413760" y="2877205"/>
              <a:ext cx="6857999" cy="780395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00">
                <a:solidFill>
                  <a:srgbClr val="E44B4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3" name="文本框 9"/>
            <p:cNvSpPr txBox="1">
              <a:spLocks noChangeArrowheads="1"/>
            </p:cNvSpPr>
            <p:nvPr/>
          </p:nvSpPr>
          <p:spPr bwMode="auto">
            <a:xfrm>
              <a:off x="3154680" y="3040621"/>
              <a:ext cx="7391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外部中断的数据类型及接口函数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43198" y="2796492"/>
            <a:ext cx="7391400" cy="780395"/>
            <a:chOff x="3169920" y="1337965"/>
            <a:chExt cx="7391400" cy="780395"/>
          </a:xfrm>
        </p:grpSpPr>
        <p:sp>
          <p:nvSpPr>
            <p:cNvPr id="55" name="矩形 54"/>
            <p:cNvSpPr/>
            <p:nvPr/>
          </p:nvSpPr>
          <p:spPr>
            <a:xfrm>
              <a:off x="3413760" y="1337965"/>
              <a:ext cx="6857999" cy="780395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00">
                <a:solidFill>
                  <a:srgbClr val="E44B4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文本框 9"/>
            <p:cNvSpPr txBox="1">
              <a:spLocks noChangeArrowheads="1"/>
            </p:cNvSpPr>
            <p:nvPr/>
          </p:nvSpPr>
          <p:spPr bwMode="auto">
            <a:xfrm>
              <a:off x="3169920" y="1501381"/>
              <a:ext cx="7391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HAL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库的中断处理流程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endParaRPr>
            </a:p>
          </p:txBody>
        </p:sp>
      </p:grpSp>
      <p:sp>
        <p:nvSpPr>
          <p:cNvPr id="57" name="椭圆 56"/>
          <p:cNvSpPr/>
          <p:nvPr/>
        </p:nvSpPr>
        <p:spPr>
          <a:xfrm>
            <a:off x="2027029" y="1729003"/>
            <a:ext cx="364230" cy="334706"/>
          </a:xfrm>
          <a:prstGeom prst="ellipse">
            <a:avLst/>
          </a:prstGeom>
          <a:solidFill>
            <a:srgbClr val="ED6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zh-CN" altLang="en-US" sz="2400">
              <a:latin typeface="+mn-ea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2027029" y="3019336"/>
            <a:ext cx="364230" cy="334706"/>
          </a:xfrm>
          <a:prstGeom prst="ellipse">
            <a:avLst/>
          </a:prstGeom>
          <a:solidFill>
            <a:srgbClr val="ED6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zh-CN" altLang="en-US" sz="2400">
              <a:latin typeface="+mn-ea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2027029" y="4315534"/>
            <a:ext cx="364230" cy="334706"/>
          </a:xfrm>
          <a:prstGeom prst="ellipse">
            <a:avLst/>
          </a:prstGeom>
          <a:solidFill>
            <a:srgbClr val="ED6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zh-CN" altLang="en-US" sz="2400">
              <a:latin typeface="+mn-ea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2750819" y="5377157"/>
            <a:ext cx="7391400" cy="780395"/>
            <a:chOff x="3154680" y="2877205"/>
            <a:chExt cx="7391400" cy="780395"/>
          </a:xfrm>
        </p:grpSpPr>
        <p:sp>
          <p:nvSpPr>
            <p:cNvPr id="61" name="矩形 60"/>
            <p:cNvSpPr/>
            <p:nvPr/>
          </p:nvSpPr>
          <p:spPr>
            <a:xfrm>
              <a:off x="3413760" y="2877205"/>
              <a:ext cx="6857999" cy="780395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00">
                <a:solidFill>
                  <a:srgbClr val="E44B4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文本框 9"/>
            <p:cNvSpPr txBox="1">
              <a:spLocks noChangeArrowheads="1"/>
            </p:cNvSpPr>
            <p:nvPr/>
          </p:nvSpPr>
          <p:spPr bwMode="auto">
            <a:xfrm>
              <a:off x="3154680" y="3040621"/>
              <a:ext cx="7391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任务实践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endParaRPr>
            </a:p>
          </p:txBody>
        </p:sp>
      </p:grpSp>
      <p:sp>
        <p:nvSpPr>
          <p:cNvPr id="63" name="椭圆 62"/>
          <p:cNvSpPr/>
          <p:nvPr/>
        </p:nvSpPr>
        <p:spPr>
          <a:xfrm>
            <a:off x="2027029" y="5600001"/>
            <a:ext cx="364230" cy="334706"/>
          </a:xfrm>
          <a:prstGeom prst="ellipse">
            <a:avLst/>
          </a:prstGeom>
          <a:solidFill>
            <a:srgbClr val="ED6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zh-CN" altLang="en-US" sz="2400">
              <a:latin typeface="+mn-ea"/>
            </a:endParaRPr>
          </a:p>
        </p:txBody>
      </p:sp>
      <p:sp>
        <p:nvSpPr>
          <p:cNvPr id="23" name="燕尾形 33"/>
          <p:cNvSpPr/>
          <p:nvPr/>
        </p:nvSpPr>
        <p:spPr>
          <a:xfrm>
            <a:off x="2174792" y="49250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03879" y="616695"/>
            <a:ext cx="10784494" cy="58256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58800" sx="103000" sy="103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979266" y="1606446"/>
            <a:ext cx="4877657" cy="1132765"/>
            <a:chOff x="5067223" y="2708677"/>
            <a:chExt cx="4877657" cy="1132765"/>
          </a:xfrm>
        </p:grpSpPr>
        <p:sp>
          <p:nvSpPr>
            <p:cNvPr id="19" name="TextBox 119"/>
            <p:cNvSpPr txBox="1"/>
            <p:nvPr/>
          </p:nvSpPr>
          <p:spPr>
            <a:xfrm>
              <a:off x="5067223" y="3441332"/>
              <a:ext cx="48776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3765"/>
              <a:endParaRPr lang="zh-CN" altLang="en-US" sz="2000" b="1" dirty="0">
                <a:solidFill>
                  <a:srgbClr val="99191E"/>
                </a:solidFill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0" name="Rectangle 120"/>
            <p:cNvSpPr/>
            <p:nvPr/>
          </p:nvSpPr>
          <p:spPr>
            <a:xfrm>
              <a:off x="6169639" y="2708677"/>
              <a:ext cx="3593486" cy="3231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3765">
                <a:lnSpc>
                  <a:spcPct val="150000"/>
                </a:lnSpc>
              </a:pPr>
              <a:endParaRPr lang="id-ID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750819" y="1838663"/>
            <a:ext cx="7391400" cy="780395"/>
            <a:chOff x="3169920" y="1337965"/>
            <a:chExt cx="7391400" cy="780395"/>
          </a:xfrm>
        </p:grpSpPr>
        <p:sp>
          <p:nvSpPr>
            <p:cNvPr id="23" name="矩形 22"/>
            <p:cNvSpPr/>
            <p:nvPr/>
          </p:nvSpPr>
          <p:spPr>
            <a:xfrm>
              <a:off x="3413760" y="1337965"/>
              <a:ext cx="6857999" cy="780395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00">
                <a:solidFill>
                  <a:srgbClr val="E44B4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文本框 9"/>
            <p:cNvSpPr txBox="1">
              <a:spLocks noChangeArrowheads="1"/>
            </p:cNvSpPr>
            <p:nvPr/>
          </p:nvSpPr>
          <p:spPr bwMode="auto">
            <a:xfrm>
              <a:off x="3169920" y="1501381"/>
              <a:ext cx="7391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掌握中断的基本概念和作用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750819" y="4875577"/>
            <a:ext cx="7391400" cy="780395"/>
            <a:chOff x="3154680" y="2877205"/>
            <a:chExt cx="7391400" cy="780395"/>
          </a:xfrm>
        </p:grpSpPr>
        <p:sp>
          <p:nvSpPr>
            <p:cNvPr id="29" name="矩形 28"/>
            <p:cNvSpPr/>
            <p:nvPr/>
          </p:nvSpPr>
          <p:spPr>
            <a:xfrm>
              <a:off x="3413760" y="2877205"/>
              <a:ext cx="6857999" cy="780395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00">
                <a:solidFill>
                  <a:srgbClr val="E44B4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文本框 9"/>
            <p:cNvSpPr txBox="1">
              <a:spLocks noChangeArrowheads="1"/>
            </p:cNvSpPr>
            <p:nvPr/>
          </p:nvSpPr>
          <p:spPr bwMode="auto">
            <a:xfrm>
              <a:off x="3154680" y="3040621"/>
              <a:ext cx="7391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熟练运用外部中断进行程序设计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743198" y="3308807"/>
            <a:ext cx="7391400" cy="780395"/>
            <a:chOff x="3169920" y="1337965"/>
            <a:chExt cx="7391400" cy="780395"/>
          </a:xfrm>
        </p:grpSpPr>
        <p:sp>
          <p:nvSpPr>
            <p:cNvPr id="17" name="矩形 16"/>
            <p:cNvSpPr/>
            <p:nvPr/>
          </p:nvSpPr>
          <p:spPr>
            <a:xfrm>
              <a:off x="3413760" y="1337965"/>
              <a:ext cx="6857999" cy="780395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00">
                <a:solidFill>
                  <a:srgbClr val="E44B4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文本框 9"/>
            <p:cNvSpPr txBox="1">
              <a:spLocks noChangeArrowheads="1"/>
            </p:cNvSpPr>
            <p:nvPr/>
          </p:nvSpPr>
          <p:spPr bwMode="auto">
            <a:xfrm>
              <a:off x="3169920" y="1501381"/>
              <a:ext cx="7391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了解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HAL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库的中断处理流程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endParaRPr>
            </a:p>
          </p:txBody>
        </p:sp>
      </p:grpSp>
      <p:sp>
        <p:nvSpPr>
          <p:cNvPr id="22" name="椭圆 21"/>
          <p:cNvSpPr/>
          <p:nvPr/>
        </p:nvSpPr>
        <p:spPr>
          <a:xfrm>
            <a:off x="2027029" y="2055744"/>
            <a:ext cx="364230" cy="334706"/>
          </a:xfrm>
          <a:prstGeom prst="ellipse">
            <a:avLst/>
          </a:prstGeom>
          <a:solidFill>
            <a:srgbClr val="ED6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zh-CN" altLang="en-US" sz="2400">
              <a:latin typeface="+mn-ea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2027029" y="3531651"/>
            <a:ext cx="364230" cy="334706"/>
          </a:xfrm>
          <a:prstGeom prst="ellipse">
            <a:avLst/>
          </a:prstGeom>
          <a:solidFill>
            <a:srgbClr val="ED6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zh-CN" altLang="en-US" sz="2400">
              <a:latin typeface="+mn-ea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2027029" y="5098421"/>
            <a:ext cx="364230" cy="334706"/>
          </a:xfrm>
          <a:prstGeom prst="ellipse">
            <a:avLst/>
          </a:prstGeom>
          <a:solidFill>
            <a:srgbClr val="ED6B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zh-CN" altLang="en-US" sz="2400">
              <a:latin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" y="492503"/>
            <a:ext cx="2266380" cy="655320"/>
            <a:chOff x="-15876" y="995423"/>
            <a:chExt cx="4145115" cy="655320"/>
          </a:xfrm>
        </p:grpSpPr>
        <p:sp>
          <p:nvSpPr>
            <p:cNvPr id="28" name="五边形 27"/>
            <p:cNvSpPr/>
            <p:nvPr/>
          </p:nvSpPr>
          <p:spPr>
            <a:xfrm>
              <a:off x="-15876" y="995423"/>
              <a:ext cx="4145115" cy="655320"/>
            </a:xfrm>
            <a:prstGeom prst="homePlate">
              <a:avLst>
                <a:gd name="adj" fmla="val 38372"/>
              </a:avLst>
            </a:prstGeom>
            <a:solidFill>
              <a:srgbClr val="E44B4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798488" y="1092250"/>
              <a:ext cx="25893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教学目标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燕尾形 33"/>
          <p:cNvSpPr/>
          <p:nvPr/>
        </p:nvSpPr>
        <p:spPr>
          <a:xfrm>
            <a:off x="2174792" y="49250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179320"/>
            <a:ext cx="12195175" cy="1914525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0" y="2628088"/>
            <a:ext cx="12192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7.1  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中断概述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179320"/>
            <a:ext cx="12195175" cy="1914525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0" y="2628088"/>
            <a:ext cx="12192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1  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中断相关的基本概念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-22606" y="1068639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数据传输方式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2254001" y="2097372"/>
            <a:ext cx="7554314" cy="1442735"/>
            <a:chOff x="1419655" y="1993404"/>
            <a:chExt cx="6032665" cy="1152128"/>
          </a:xfrm>
        </p:grpSpPr>
        <p:cxnSp>
          <p:nvCxnSpPr>
            <p:cNvPr id="83" name="直接连接符 82"/>
            <p:cNvCxnSpPr/>
            <p:nvPr/>
          </p:nvCxnSpPr>
          <p:spPr>
            <a:xfrm>
              <a:off x="1419655" y="2497460"/>
              <a:ext cx="6032665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/>
            <p:nvPr/>
          </p:nvCxnSpPr>
          <p:spPr>
            <a:xfrm>
              <a:off x="1419655" y="2497460"/>
              <a:ext cx="0" cy="648072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>
              <a:off x="3451140" y="2497460"/>
              <a:ext cx="0" cy="648072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>
              <a:off x="5564105" y="2497460"/>
              <a:ext cx="0" cy="648072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/>
            <p:nvPr/>
          </p:nvCxnSpPr>
          <p:spPr>
            <a:xfrm>
              <a:off x="7450413" y="2497460"/>
              <a:ext cx="0" cy="648072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4499992" y="1993404"/>
              <a:ext cx="1" cy="504056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29"/>
          <p:cNvSpPr txBox="1"/>
          <p:nvPr/>
        </p:nvSpPr>
        <p:spPr>
          <a:xfrm>
            <a:off x="911172" y="4336942"/>
            <a:ext cx="25247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处理器不必了解外部设备状态，直接进行数据传输，用于指示灯和按键等简单设备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TextBox 30"/>
          <p:cNvSpPr txBox="1"/>
          <p:nvPr/>
        </p:nvSpPr>
        <p:spPr>
          <a:xfrm>
            <a:off x="3435958" y="4336942"/>
            <a:ext cx="2524786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传输前，一方先查询另一方的状态，若已经准备好就传输，否则就继续查询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Box 31"/>
          <p:cNvSpPr txBox="1"/>
          <p:nvPr/>
        </p:nvSpPr>
        <p:spPr>
          <a:xfrm>
            <a:off x="6050915" y="4336942"/>
            <a:ext cx="2524786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一方通过申请中断的方式与另一方进行数据传输，收发双方可以并行工作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Box 32"/>
          <p:cNvSpPr txBox="1"/>
          <p:nvPr/>
        </p:nvSpPr>
        <p:spPr>
          <a:xfrm>
            <a:off x="8756043" y="4336942"/>
            <a:ext cx="25247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处理器内部建立片内外设和内存之间的数据传输通道，传输过程不需要处理器参与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3009872" y="1376002"/>
            <a:ext cx="6147836" cy="831489"/>
            <a:chOff x="2081246" y="1289873"/>
            <a:chExt cx="4909494" cy="664004"/>
          </a:xfrm>
          <a:solidFill>
            <a:srgbClr val="09839B"/>
          </a:solidFill>
        </p:grpSpPr>
        <p:sp>
          <p:nvSpPr>
            <p:cNvPr id="100" name="矩形 99"/>
            <p:cNvSpPr/>
            <p:nvPr/>
          </p:nvSpPr>
          <p:spPr>
            <a:xfrm>
              <a:off x="2081246" y="1289873"/>
              <a:ext cx="4909494" cy="6640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TextBox 35"/>
            <p:cNvSpPr txBox="1"/>
            <p:nvPr/>
          </p:nvSpPr>
          <p:spPr>
            <a:xfrm>
              <a:off x="2081246" y="1418148"/>
              <a:ext cx="4909494" cy="417828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处理器和外部设备的数据传输方式</a:t>
              </a:r>
              <a:endParaRPr lang="zh-CN" altLang="en-US" sz="2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1001343" y="3540107"/>
            <a:ext cx="2384533" cy="721368"/>
            <a:chOff x="467544" y="3018066"/>
            <a:chExt cx="1904222" cy="576064"/>
          </a:xfrm>
          <a:solidFill>
            <a:srgbClr val="179A44"/>
          </a:solidFill>
        </p:grpSpPr>
        <p:sp>
          <p:nvSpPr>
            <p:cNvPr id="103" name="矩形 102"/>
            <p:cNvSpPr/>
            <p:nvPr/>
          </p:nvSpPr>
          <p:spPr>
            <a:xfrm>
              <a:off x="467544" y="3018066"/>
              <a:ext cx="1904222" cy="5760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TextBox 36"/>
            <p:cNvSpPr txBox="1"/>
            <p:nvPr/>
          </p:nvSpPr>
          <p:spPr>
            <a:xfrm>
              <a:off x="731465" y="3121752"/>
              <a:ext cx="1376378" cy="36867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无条件传输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3576211" y="3540107"/>
            <a:ext cx="2384533" cy="721368"/>
            <a:chOff x="2523762" y="3018066"/>
            <a:chExt cx="1904222" cy="576064"/>
          </a:xfrm>
          <a:solidFill>
            <a:srgbClr val="FAAF3B"/>
          </a:solidFill>
        </p:grpSpPr>
        <p:sp>
          <p:nvSpPr>
            <p:cNvPr id="106" name="矩形 105"/>
            <p:cNvSpPr/>
            <p:nvPr/>
          </p:nvSpPr>
          <p:spPr>
            <a:xfrm>
              <a:off x="2523762" y="3018066"/>
              <a:ext cx="1904222" cy="5760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TextBox 37"/>
            <p:cNvSpPr txBox="1"/>
            <p:nvPr/>
          </p:nvSpPr>
          <p:spPr>
            <a:xfrm>
              <a:off x="2910574" y="3129127"/>
              <a:ext cx="1130597" cy="36867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查询方式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6191168" y="3540107"/>
            <a:ext cx="2384533" cy="721368"/>
            <a:chOff x="4611994" y="3018066"/>
            <a:chExt cx="1904222" cy="576064"/>
          </a:xfrm>
          <a:solidFill>
            <a:srgbClr val="F05A24"/>
          </a:solidFill>
        </p:grpSpPr>
        <p:sp>
          <p:nvSpPr>
            <p:cNvPr id="109" name="矩形 108"/>
            <p:cNvSpPr/>
            <p:nvPr/>
          </p:nvSpPr>
          <p:spPr>
            <a:xfrm>
              <a:off x="4611994" y="3018066"/>
              <a:ext cx="1904222" cy="5760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TextBox 38"/>
            <p:cNvSpPr txBox="1"/>
            <p:nvPr/>
          </p:nvSpPr>
          <p:spPr>
            <a:xfrm>
              <a:off x="5035690" y="3121753"/>
              <a:ext cx="1130596" cy="36867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中断方式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8806125" y="3540107"/>
            <a:ext cx="2384533" cy="721368"/>
            <a:chOff x="6700226" y="3018066"/>
            <a:chExt cx="1904222" cy="576064"/>
          </a:xfrm>
          <a:solidFill>
            <a:srgbClr val="A362C4"/>
          </a:solidFill>
        </p:grpSpPr>
        <p:sp>
          <p:nvSpPr>
            <p:cNvPr id="112" name="矩形 111"/>
            <p:cNvSpPr/>
            <p:nvPr/>
          </p:nvSpPr>
          <p:spPr>
            <a:xfrm>
              <a:off x="6700226" y="3018066"/>
              <a:ext cx="1904222" cy="5760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TextBox 39"/>
            <p:cNvSpPr txBox="1"/>
            <p:nvPr/>
          </p:nvSpPr>
          <p:spPr>
            <a:xfrm>
              <a:off x="6718366" y="3121751"/>
              <a:ext cx="1867943" cy="36867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直接存储器访问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  <p:bldP spid="97" grpId="0"/>
      <p:bldP spid="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272955" y="10686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中断概念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45" name="Freeform 7"/>
          <p:cNvSpPr/>
          <p:nvPr/>
        </p:nvSpPr>
        <p:spPr bwMode="auto">
          <a:xfrm>
            <a:off x="717341" y="2108991"/>
            <a:ext cx="10504841" cy="685800"/>
          </a:xfrm>
          <a:custGeom>
            <a:avLst/>
            <a:gdLst>
              <a:gd name="T0" fmla="*/ 60069 w 12630"/>
              <a:gd name="T1" fmla="*/ 0 h 856"/>
              <a:gd name="T2" fmla="*/ 10055481 w 12630"/>
              <a:gd name="T3" fmla="*/ 0 h 856"/>
              <a:gd name="T4" fmla="*/ 10115550 w 12630"/>
              <a:gd name="T5" fmla="*/ 75310 h 856"/>
              <a:gd name="T6" fmla="*/ 10115550 w 12630"/>
              <a:gd name="T7" fmla="*/ 611291 h 856"/>
              <a:gd name="T8" fmla="*/ 10055481 w 12630"/>
              <a:gd name="T9" fmla="*/ 685800 h 856"/>
              <a:gd name="T10" fmla="*/ 60069 w 12630"/>
              <a:gd name="T11" fmla="*/ 685800 h 856"/>
              <a:gd name="T12" fmla="*/ 0 w 12630"/>
              <a:gd name="T13" fmla="*/ 611291 h 856"/>
              <a:gd name="T14" fmla="*/ 0 w 12630"/>
              <a:gd name="T15" fmla="*/ 75310 h 856"/>
              <a:gd name="T16" fmla="*/ 60069 w 12630"/>
              <a:gd name="T17" fmla="*/ 0 h 85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630" h="856">
                <a:moveTo>
                  <a:pt x="75" y="0"/>
                </a:moveTo>
                <a:lnTo>
                  <a:pt x="12555" y="0"/>
                </a:lnTo>
                <a:cubicBezTo>
                  <a:pt x="12597" y="0"/>
                  <a:pt x="12630" y="42"/>
                  <a:pt x="12630" y="94"/>
                </a:cubicBezTo>
                <a:lnTo>
                  <a:pt x="12630" y="763"/>
                </a:lnTo>
                <a:cubicBezTo>
                  <a:pt x="12630" y="814"/>
                  <a:pt x="12597" y="856"/>
                  <a:pt x="12555" y="856"/>
                </a:cubicBezTo>
                <a:lnTo>
                  <a:pt x="75" y="856"/>
                </a:lnTo>
                <a:cubicBezTo>
                  <a:pt x="34" y="856"/>
                  <a:pt x="0" y="814"/>
                  <a:pt x="0" y="763"/>
                </a:cubicBezTo>
                <a:lnTo>
                  <a:pt x="0" y="94"/>
                </a:lnTo>
                <a:cubicBezTo>
                  <a:pt x="0" y="42"/>
                  <a:pt x="34" y="0"/>
                  <a:pt x="75" y="0"/>
                </a:cubicBezTo>
                <a:close/>
              </a:path>
            </a:pathLst>
          </a:custGeom>
          <a:solidFill>
            <a:srgbClr val="DADADB"/>
          </a:solidFill>
          <a:ln w="10" cap="flat" cmpd="sng">
            <a:solidFill>
              <a:srgbClr val="B5B5B7"/>
            </a:solidFill>
            <a:round/>
          </a:ln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294A5A"/>
              </a:solidFill>
              <a:latin typeface="+mn-ea"/>
              <a:ea typeface="+mn-ea"/>
            </a:endParaRPr>
          </a:p>
        </p:txBody>
      </p:sp>
      <p:sp>
        <p:nvSpPr>
          <p:cNvPr id="46" name="Freeform 8"/>
          <p:cNvSpPr/>
          <p:nvPr/>
        </p:nvSpPr>
        <p:spPr bwMode="auto">
          <a:xfrm>
            <a:off x="717342" y="3361528"/>
            <a:ext cx="10504840" cy="685800"/>
          </a:xfrm>
          <a:custGeom>
            <a:avLst/>
            <a:gdLst>
              <a:gd name="T0" fmla="*/ 60069 w 12630"/>
              <a:gd name="T1" fmla="*/ 0 h 856"/>
              <a:gd name="T2" fmla="*/ 10055481 w 12630"/>
              <a:gd name="T3" fmla="*/ 0 h 856"/>
              <a:gd name="T4" fmla="*/ 10115550 w 12630"/>
              <a:gd name="T5" fmla="*/ 74509 h 856"/>
              <a:gd name="T6" fmla="*/ 10115550 w 12630"/>
              <a:gd name="T7" fmla="*/ 610490 h 856"/>
              <a:gd name="T8" fmla="*/ 10055481 w 12630"/>
              <a:gd name="T9" fmla="*/ 685800 h 856"/>
              <a:gd name="T10" fmla="*/ 60069 w 12630"/>
              <a:gd name="T11" fmla="*/ 685800 h 856"/>
              <a:gd name="T12" fmla="*/ 0 w 12630"/>
              <a:gd name="T13" fmla="*/ 610490 h 856"/>
              <a:gd name="T14" fmla="*/ 0 w 12630"/>
              <a:gd name="T15" fmla="*/ 74509 h 856"/>
              <a:gd name="T16" fmla="*/ 60069 w 12630"/>
              <a:gd name="T17" fmla="*/ 0 h 85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630" h="856">
                <a:moveTo>
                  <a:pt x="75" y="0"/>
                </a:moveTo>
                <a:lnTo>
                  <a:pt x="12555" y="0"/>
                </a:lnTo>
                <a:cubicBezTo>
                  <a:pt x="12597" y="0"/>
                  <a:pt x="12630" y="42"/>
                  <a:pt x="12630" y="93"/>
                </a:cubicBezTo>
                <a:lnTo>
                  <a:pt x="12630" y="762"/>
                </a:lnTo>
                <a:cubicBezTo>
                  <a:pt x="12630" y="814"/>
                  <a:pt x="12597" y="856"/>
                  <a:pt x="12555" y="856"/>
                </a:cubicBezTo>
                <a:lnTo>
                  <a:pt x="75" y="856"/>
                </a:lnTo>
                <a:cubicBezTo>
                  <a:pt x="34" y="856"/>
                  <a:pt x="0" y="814"/>
                  <a:pt x="0" y="762"/>
                </a:cubicBezTo>
                <a:lnTo>
                  <a:pt x="0" y="93"/>
                </a:lnTo>
                <a:cubicBezTo>
                  <a:pt x="0" y="42"/>
                  <a:pt x="34" y="0"/>
                  <a:pt x="75" y="0"/>
                </a:cubicBezTo>
                <a:close/>
              </a:path>
            </a:pathLst>
          </a:custGeom>
          <a:solidFill>
            <a:srgbClr val="DADADB"/>
          </a:solidFill>
          <a:ln w="10" cap="flat" cmpd="sng">
            <a:solidFill>
              <a:srgbClr val="B5B5B7"/>
            </a:solidFill>
            <a:round/>
          </a:ln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294A5A"/>
              </a:solidFill>
              <a:latin typeface="+mn-ea"/>
              <a:ea typeface="+mn-ea"/>
            </a:endParaRPr>
          </a:p>
        </p:txBody>
      </p:sp>
      <p:sp>
        <p:nvSpPr>
          <p:cNvPr id="47" name="Freeform 9"/>
          <p:cNvSpPr/>
          <p:nvPr/>
        </p:nvSpPr>
        <p:spPr bwMode="auto">
          <a:xfrm>
            <a:off x="717342" y="4583903"/>
            <a:ext cx="10504840" cy="685800"/>
          </a:xfrm>
          <a:custGeom>
            <a:avLst/>
            <a:gdLst>
              <a:gd name="T0" fmla="*/ 60069 w 12630"/>
              <a:gd name="T1" fmla="*/ 0 h 856"/>
              <a:gd name="T2" fmla="*/ 10055481 w 12630"/>
              <a:gd name="T3" fmla="*/ 0 h 856"/>
              <a:gd name="T4" fmla="*/ 10115550 w 12630"/>
              <a:gd name="T5" fmla="*/ 74509 h 856"/>
              <a:gd name="T6" fmla="*/ 10115550 w 12630"/>
              <a:gd name="T7" fmla="*/ 610490 h 856"/>
              <a:gd name="T8" fmla="*/ 10055481 w 12630"/>
              <a:gd name="T9" fmla="*/ 685800 h 856"/>
              <a:gd name="T10" fmla="*/ 60069 w 12630"/>
              <a:gd name="T11" fmla="*/ 685800 h 856"/>
              <a:gd name="T12" fmla="*/ 0 w 12630"/>
              <a:gd name="T13" fmla="*/ 610490 h 856"/>
              <a:gd name="T14" fmla="*/ 0 w 12630"/>
              <a:gd name="T15" fmla="*/ 74509 h 856"/>
              <a:gd name="T16" fmla="*/ 60069 w 12630"/>
              <a:gd name="T17" fmla="*/ 0 h 85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630" h="856">
                <a:moveTo>
                  <a:pt x="75" y="0"/>
                </a:moveTo>
                <a:lnTo>
                  <a:pt x="12555" y="0"/>
                </a:lnTo>
                <a:cubicBezTo>
                  <a:pt x="12597" y="0"/>
                  <a:pt x="12630" y="42"/>
                  <a:pt x="12630" y="93"/>
                </a:cubicBezTo>
                <a:lnTo>
                  <a:pt x="12630" y="762"/>
                </a:lnTo>
                <a:cubicBezTo>
                  <a:pt x="12630" y="814"/>
                  <a:pt x="12597" y="856"/>
                  <a:pt x="12555" y="856"/>
                </a:cubicBezTo>
                <a:lnTo>
                  <a:pt x="75" y="856"/>
                </a:lnTo>
                <a:cubicBezTo>
                  <a:pt x="34" y="856"/>
                  <a:pt x="0" y="814"/>
                  <a:pt x="0" y="762"/>
                </a:cubicBezTo>
                <a:lnTo>
                  <a:pt x="0" y="93"/>
                </a:lnTo>
                <a:cubicBezTo>
                  <a:pt x="0" y="42"/>
                  <a:pt x="34" y="0"/>
                  <a:pt x="75" y="0"/>
                </a:cubicBezTo>
                <a:close/>
              </a:path>
            </a:pathLst>
          </a:custGeom>
          <a:solidFill>
            <a:srgbClr val="DADADB"/>
          </a:solidFill>
          <a:ln w="10" cap="flat" cmpd="sng">
            <a:solidFill>
              <a:srgbClr val="B5B5B7"/>
            </a:solidFill>
            <a:round/>
          </a:ln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294A5A"/>
              </a:solidFill>
              <a:latin typeface="+mn-ea"/>
              <a:ea typeface="+mn-ea"/>
            </a:endParaRPr>
          </a:p>
        </p:txBody>
      </p:sp>
      <p:sp>
        <p:nvSpPr>
          <p:cNvPr id="48" name="Freeform 11"/>
          <p:cNvSpPr>
            <a:spLocks noEditPoints="1"/>
          </p:cNvSpPr>
          <p:nvPr/>
        </p:nvSpPr>
        <p:spPr bwMode="auto">
          <a:xfrm>
            <a:off x="1428542" y="1742278"/>
            <a:ext cx="1868487" cy="1420813"/>
          </a:xfrm>
          <a:custGeom>
            <a:avLst/>
            <a:gdLst>
              <a:gd name="T0" fmla="*/ 1868487 w 2333"/>
              <a:gd name="T1" fmla="*/ 0 h 1775"/>
              <a:gd name="T2" fmla="*/ 1868487 w 2333"/>
              <a:gd name="T3" fmla="*/ 1065410 h 1775"/>
              <a:gd name="T4" fmla="*/ 933843 w 2333"/>
              <a:gd name="T5" fmla="*/ 1420813 h 1775"/>
              <a:gd name="T6" fmla="*/ 0 w 2333"/>
              <a:gd name="T7" fmla="*/ 1065410 h 1775"/>
              <a:gd name="T8" fmla="*/ 0 w 2333"/>
              <a:gd name="T9" fmla="*/ 0 h 1775"/>
              <a:gd name="T10" fmla="*/ 933843 w 2333"/>
              <a:gd name="T11" fmla="*/ 355403 h 1775"/>
              <a:gd name="T12" fmla="*/ 1868487 w 2333"/>
              <a:gd name="T13" fmla="*/ 0 h 1775"/>
              <a:gd name="T14" fmla="*/ 1401565 w 2333"/>
              <a:gd name="T15" fmla="*/ 177702 h 177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333" h="1775">
                <a:moveTo>
                  <a:pt x="2333" y="0"/>
                </a:moveTo>
                <a:lnTo>
                  <a:pt x="2333" y="1331"/>
                </a:lnTo>
                <a:lnTo>
                  <a:pt x="1166" y="1775"/>
                </a:lnTo>
                <a:lnTo>
                  <a:pt x="0" y="1331"/>
                </a:lnTo>
                <a:lnTo>
                  <a:pt x="0" y="0"/>
                </a:lnTo>
                <a:lnTo>
                  <a:pt x="1166" y="444"/>
                </a:lnTo>
                <a:lnTo>
                  <a:pt x="2333" y="0"/>
                </a:lnTo>
                <a:close/>
                <a:moveTo>
                  <a:pt x="1750" y="222"/>
                </a:moveTo>
              </a:path>
            </a:pathLst>
          </a:custGeom>
          <a:solidFill>
            <a:srgbClr val="00AA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294A5A"/>
              </a:solidFill>
              <a:latin typeface="+mn-ea"/>
              <a:ea typeface="+mn-ea"/>
            </a:endParaRPr>
          </a:p>
        </p:txBody>
      </p:sp>
      <p:sp>
        <p:nvSpPr>
          <p:cNvPr id="49" name="Freeform 12"/>
          <p:cNvSpPr>
            <a:spLocks noEditPoints="1"/>
          </p:cNvSpPr>
          <p:nvPr/>
        </p:nvSpPr>
        <p:spPr bwMode="auto">
          <a:xfrm>
            <a:off x="1427748" y="2983703"/>
            <a:ext cx="1868487" cy="1420813"/>
          </a:xfrm>
          <a:custGeom>
            <a:avLst/>
            <a:gdLst>
              <a:gd name="T0" fmla="*/ 1868487 w 2333"/>
              <a:gd name="T1" fmla="*/ 0 h 1775"/>
              <a:gd name="T2" fmla="*/ 1868487 w 2333"/>
              <a:gd name="T3" fmla="*/ 1065410 h 1775"/>
              <a:gd name="T4" fmla="*/ 933843 w 2333"/>
              <a:gd name="T5" fmla="*/ 1420813 h 1775"/>
              <a:gd name="T6" fmla="*/ 0 w 2333"/>
              <a:gd name="T7" fmla="*/ 1065410 h 1775"/>
              <a:gd name="T8" fmla="*/ 0 w 2333"/>
              <a:gd name="T9" fmla="*/ 0 h 1775"/>
              <a:gd name="T10" fmla="*/ 933843 w 2333"/>
              <a:gd name="T11" fmla="*/ 355403 h 1775"/>
              <a:gd name="T12" fmla="*/ 1868487 w 2333"/>
              <a:gd name="T13" fmla="*/ 0 h 1775"/>
              <a:gd name="T14" fmla="*/ 1401565 w 2333"/>
              <a:gd name="T15" fmla="*/ 177702 h 177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333" h="1775">
                <a:moveTo>
                  <a:pt x="2333" y="0"/>
                </a:moveTo>
                <a:lnTo>
                  <a:pt x="2333" y="1331"/>
                </a:lnTo>
                <a:lnTo>
                  <a:pt x="1166" y="1775"/>
                </a:lnTo>
                <a:lnTo>
                  <a:pt x="0" y="1331"/>
                </a:lnTo>
                <a:lnTo>
                  <a:pt x="0" y="0"/>
                </a:lnTo>
                <a:lnTo>
                  <a:pt x="1166" y="444"/>
                </a:lnTo>
                <a:lnTo>
                  <a:pt x="2333" y="0"/>
                </a:lnTo>
                <a:close/>
                <a:moveTo>
                  <a:pt x="1750" y="222"/>
                </a:moveTo>
              </a:path>
            </a:pathLst>
          </a:custGeom>
          <a:solidFill>
            <a:srgbClr val="99CC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294A5A"/>
              </a:solidFill>
              <a:latin typeface="+mn-ea"/>
              <a:ea typeface="+mn-ea"/>
            </a:endParaRPr>
          </a:p>
        </p:txBody>
      </p:sp>
      <p:sp>
        <p:nvSpPr>
          <p:cNvPr id="50" name="Freeform 13"/>
          <p:cNvSpPr>
            <a:spLocks noEditPoints="1"/>
          </p:cNvSpPr>
          <p:nvPr/>
        </p:nvSpPr>
        <p:spPr bwMode="auto">
          <a:xfrm>
            <a:off x="1428542" y="4209253"/>
            <a:ext cx="1868487" cy="1394011"/>
          </a:xfrm>
          <a:custGeom>
            <a:avLst/>
            <a:gdLst>
              <a:gd name="T0" fmla="*/ 1868487 w 2333"/>
              <a:gd name="T1" fmla="*/ 0 h 1774"/>
              <a:gd name="T2" fmla="*/ 1868487 w 2333"/>
              <a:gd name="T3" fmla="*/ 1064819 h 1774"/>
              <a:gd name="T4" fmla="*/ 933843 w 2333"/>
              <a:gd name="T5" fmla="*/ 1419225 h 1774"/>
              <a:gd name="T6" fmla="*/ 0 w 2333"/>
              <a:gd name="T7" fmla="*/ 1064819 h 1774"/>
              <a:gd name="T8" fmla="*/ 0 w 2333"/>
              <a:gd name="T9" fmla="*/ 0 h 1774"/>
              <a:gd name="T10" fmla="*/ 933843 w 2333"/>
              <a:gd name="T11" fmla="*/ 354406 h 1774"/>
              <a:gd name="T12" fmla="*/ 1868487 w 2333"/>
              <a:gd name="T13" fmla="*/ 0 h 1774"/>
              <a:gd name="T14" fmla="*/ 1401565 w 2333"/>
              <a:gd name="T15" fmla="*/ 176803 h 177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333" h="1774">
                <a:moveTo>
                  <a:pt x="2333" y="0"/>
                </a:moveTo>
                <a:lnTo>
                  <a:pt x="2333" y="1331"/>
                </a:lnTo>
                <a:lnTo>
                  <a:pt x="1166" y="1774"/>
                </a:lnTo>
                <a:lnTo>
                  <a:pt x="0" y="1331"/>
                </a:lnTo>
                <a:lnTo>
                  <a:pt x="0" y="0"/>
                </a:lnTo>
                <a:lnTo>
                  <a:pt x="1166" y="443"/>
                </a:lnTo>
                <a:lnTo>
                  <a:pt x="2333" y="0"/>
                </a:lnTo>
                <a:close/>
                <a:moveTo>
                  <a:pt x="1750" y="221"/>
                </a:moveTo>
              </a:path>
            </a:pathLst>
          </a:custGeom>
          <a:solidFill>
            <a:srgbClr val="ED5A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294A5A"/>
              </a:solidFill>
              <a:latin typeface="+mn-ea"/>
              <a:ea typeface="+mn-ea"/>
            </a:endParaRPr>
          </a:p>
        </p:txBody>
      </p:sp>
      <p:sp>
        <p:nvSpPr>
          <p:cNvPr id="51" name="TextBox 17"/>
          <p:cNvSpPr txBox="1">
            <a:spLocks noChangeArrowheads="1"/>
          </p:cNvSpPr>
          <p:nvPr/>
        </p:nvSpPr>
        <p:spPr bwMode="auto">
          <a:xfrm>
            <a:off x="1579354" y="2221059"/>
            <a:ext cx="1566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</a:rPr>
              <a:t>中断发生</a:t>
            </a:r>
            <a:endParaRPr lang="en-US" altLang="zh-CN" sz="24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52" name="TextBox 18"/>
          <p:cNvSpPr txBox="1">
            <a:spLocks noChangeArrowheads="1"/>
          </p:cNvSpPr>
          <p:nvPr/>
        </p:nvSpPr>
        <p:spPr bwMode="auto">
          <a:xfrm>
            <a:off x="1502360" y="3473596"/>
            <a:ext cx="1719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</a:rPr>
              <a:t>中断处理</a:t>
            </a:r>
            <a:endParaRPr lang="en-US" altLang="zh-CN" sz="24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53" name="TextBox 19"/>
          <p:cNvSpPr txBox="1">
            <a:spLocks noChangeArrowheads="1"/>
          </p:cNvSpPr>
          <p:nvPr/>
        </p:nvSpPr>
        <p:spPr bwMode="auto">
          <a:xfrm>
            <a:off x="1579354" y="4695971"/>
            <a:ext cx="1566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</a:rPr>
              <a:t>中断返回</a:t>
            </a:r>
            <a:endParaRPr lang="en-US" altLang="zh-CN" sz="24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54" name="TextBox 20"/>
          <p:cNvSpPr txBox="1">
            <a:spLocks noChangeArrowheads="1"/>
          </p:cNvSpPr>
          <p:nvPr/>
        </p:nvSpPr>
        <p:spPr bwMode="auto">
          <a:xfrm>
            <a:off x="3720891" y="2052705"/>
            <a:ext cx="757193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484849"/>
                </a:solidFill>
                <a:latin typeface="+mn-ea"/>
                <a:ea typeface="+mn-ea"/>
              </a:rPr>
              <a:t>当</a:t>
            </a:r>
            <a:r>
              <a:rPr lang="en-US" altLang="zh-CN" sz="2400" b="1" dirty="0">
                <a:solidFill>
                  <a:srgbClr val="484849"/>
                </a:solidFill>
                <a:latin typeface="+mn-ea"/>
                <a:ea typeface="+mn-ea"/>
              </a:rPr>
              <a:t>CPU</a:t>
            </a:r>
            <a:r>
              <a:rPr lang="zh-CN" altLang="en-US" sz="2400" b="1" dirty="0">
                <a:solidFill>
                  <a:srgbClr val="484849"/>
                </a:solidFill>
                <a:latin typeface="+mn-ea"/>
                <a:ea typeface="+mn-ea"/>
              </a:rPr>
              <a:t>在处理某一事件</a:t>
            </a:r>
            <a:r>
              <a:rPr lang="en-US" altLang="zh-CN" sz="2400" b="1" dirty="0">
                <a:solidFill>
                  <a:srgbClr val="484849"/>
                </a:solidFill>
                <a:latin typeface="+mn-ea"/>
                <a:ea typeface="+mn-ea"/>
              </a:rPr>
              <a:t>A</a:t>
            </a:r>
            <a:r>
              <a:rPr lang="zh-CN" altLang="en-US" sz="2400" b="1" dirty="0">
                <a:solidFill>
                  <a:srgbClr val="484849"/>
                </a:solidFill>
                <a:latin typeface="+mn-ea"/>
                <a:ea typeface="+mn-ea"/>
              </a:rPr>
              <a:t>时，发生了另一事件</a:t>
            </a:r>
            <a:r>
              <a:rPr lang="en-US" altLang="zh-CN" sz="2400" b="1" dirty="0">
                <a:solidFill>
                  <a:srgbClr val="484849"/>
                </a:solidFill>
                <a:latin typeface="+mn-ea"/>
                <a:ea typeface="+mn-ea"/>
              </a:rPr>
              <a:t>B</a:t>
            </a:r>
            <a:r>
              <a:rPr lang="zh-CN" altLang="en-US" sz="2400" b="1" dirty="0">
                <a:solidFill>
                  <a:srgbClr val="484849"/>
                </a:solidFill>
                <a:latin typeface="+mn-ea"/>
                <a:ea typeface="+mn-ea"/>
              </a:rPr>
              <a:t>，请求</a:t>
            </a:r>
            <a:r>
              <a:rPr lang="en-US" altLang="zh-CN" sz="2400" b="1" dirty="0">
                <a:solidFill>
                  <a:srgbClr val="484849"/>
                </a:solidFill>
                <a:latin typeface="+mn-ea"/>
                <a:ea typeface="+mn-ea"/>
              </a:rPr>
              <a:t>CPU</a:t>
            </a:r>
            <a:r>
              <a:rPr lang="zh-CN" altLang="en-US" sz="2400" b="1" dirty="0">
                <a:solidFill>
                  <a:srgbClr val="484849"/>
                </a:solidFill>
                <a:latin typeface="+mn-ea"/>
                <a:ea typeface="+mn-ea"/>
              </a:rPr>
              <a:t>迅速去处理</a:t>
            </a:r>
            <a:endParaRPr lang="zh-CN" altLang="en-US" sz="2400" b="1" dirty="0">
              <a:solidFill>
                <a:srgbClr val="484849"/>
              </a:solidFill>
              <a:latin typeface="+mn-ea"/>
              <a:ea typeface="+mn-ea"/>
            </a:endParaRPr>
          </a:p>
        </p:txBody>
      </p:sp>
      <p:sp>
        <p:nvSpPr>
          <p:cNvPr id="55" name="TextBox 21"/>
          <p:cNvSpPr txBox="1">
            <a:spLocks noChangeArrowheads="1"/>
          </p:cNvSpPr>
          <p:nvPr/>
        </p:nvSpPr>
        <p:spPr bwMode="auto">
          <a:xfrm>
            <a:off x="3720891" y="3493576"/>
            <a:ext cx="7553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484849"/>
                </a:solidFill>
                <a:latin typeface="+mn-ea"/>
                <a:ea typeface="+mn-ea"/>
              </a:rPr>
              <a:t>CPU</a:t>
            </a:r>
            <a:r>
              <a:rPr lang="zh-CN" altLang="en-US" sz="2400" b="1" dirty="0">
                <a:solidFill>
                  <a:srgbClr val="484849"/>
                </a:solidFill>
                <a:latin typeface="+mn-ea"/>
                <a:ea typeface="+mn-ea"/>
              </a:rPr>
              <a:t>暂停当前的工作，转去处理事件</a:t>
            </a:r>
            <a:r>
              <a:rPr lang="en-US" altLang="zh-CN" sz="2400" b="1" dirty="0">
                <a:solidFill>
                  <a:srgbClr val="484849"/>
                </a:solidFill>
                <a:latin typeface="+mn-ea"/>
                <a:ea typeface="+mn-ea"/>
              </a:rPr>
              <a:t>B</a:t>
            </a:r>
            <a:endParaRPr lang="zh-CN" altLang="en-US" sz="2400" b="1" dirty="0">
              <a:solidFill>
                <a:srgbClr val="484849"/>
              </a:solidFill>
              <a:latin typeface="+mn-ea"/>
              <a:ea typeface="+mn-ea"/>
            </a:endParaRPr>
          </a:p>
        </p:txBody>
      </p:sp>
      <p:sp>
        <p:nvSpPr>
          <p:cNvPr id="56" name="TextBox 22"/>
          <p:cNvSpPr txBox="1">
            <a:spLocks noChangeArrowheads="1"/>
          </p:cNvSpPr>
          <p:nvPr/>
        </p:nvSpPr>
        <p:spPr bwMode="auto">
          <a:xfrm>
            <a:off x="3720891" y="4509006"/>
            <a:ext cx="750129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484849"/>
                </a:solidFill>
                <a:latin typeface="+mn-ea"/>
                <a:ea typeface="+mn-ea"/>
              </a:rPr>
              <a:t>当</a:t>
            </a:r>
            <a:r>
              <a:rPr lang="en-US" altLang="zh-CN" sz="2400" b="1" dirty="0">
                <a:solidFill>
                  <a:srgbClr val="484849"/>
                </a:solidFill>
                <a:latin typeface="+mn-ea"/>
                <a:ea typeface="+mn-ea"/>
              </a:rPr>
              <a:t>CPU</a:t>
            </a:r>
            <a:r>
              <a:rPr lang="zh-CN" altLang="en-US" sz="2400" b="1" dirty="0">
                <a:solidFill>
                  <a:srgbClr val="484849"/>
                </a:solidFill>
                <a:latin typeface="+mn-ea"/>
                <a:ea typeface="+mn-ea"/>
              </a:rPr>
              <a:t>将事件</a:t>
            </a:r>
            <a:r>
              <a:rPr lang="en-US" altLang="zh-CN" sz="2400" b="1" dirty="0">
                <a:solidFill>
                  <a:srgbClr val="484849"/>
                </a:solidFill>
                <a:latin typeface="+mn-ea"/>
                <a:ea typeface="+mn-ea"/>
              </a:rPr>
              <a:t>B</a:t>
            </a:r>
            <a:r>
              <a:rPr lang="zh-CN" altLang="en-US" sz="2400" b="1" dirty="0">
                <a:solidFill>
                  <a:srgbClr val="484849"/>
                </a:solidFill>
                <a:latin typeface="+mn-ea"/>
                <a:ea typeface="+mn-ea"/>
              </a:rPr>
              <a:t>处理完毕后，再回到事件</a:t>
            </a:r>
            <a:r>
              <a:rPr lang="en-US" altLang="zh-CN" sz="2400" b="1" dirty="0">
                <a:solidFill>
                  <a:srgbClr val="484849"/>
                </a:solidFill>
                <a:latin typeface="+mn-ea"/>
                <a:ea typeface="+mn-ea"/>
              </a:rPr>
              <a:t>A</a:t>
            </a:r>
            <a:r>
              <a:rPr lang="zh-CN" altLang="en-US" sz="2400" b="1" dirty="0">
                <a:solidFill>
                  <a:srgbClr val="484849"/>
                </a:solidFill>
                <a:latin typeface="+mn-ea"/>
                <a:ea typeface="+mn-ea"/>
              </a:rPr>
              <a:t>中被暂停的地方继续处理事件</a:t>
            </a:r>
            <a:r>
              <a:rPr lang="en-US" altLang="zh-CN" sz="2400" b="1" dirty="0">
                <a:solidFill>
                  <a:srgbClr val="484849"/>
                </a:solidFill>
                <a:latin typeface="+mn-ea"/>
                <a:ea typeface="+mn-ea"/>
              </a:rPr>
              <a:t>A</a:t>
            </a:r>
            <a:endParaRPr lang="zh-CN" altLang="en-US" sz="2400" b="1" dirty="0">
              <a:solidFill>
                <a:srgbClr val="484849"/>
              </a:solidFill>
              <a:latin typeface="+mn-ea"/>
              <a:ea typeface="+mn-ea"/>
            </a:endParaRPr>
          </a:p>
        </p:txBody>
      </p:sp>
      <p:sp>
        <p:nvSpPr>
          <p:cNvPr id="57" name="TextBox 24"/>
          <p:cNvSpPr txBox="1">
            <a:spLocks noChangeArrowheads="1"/>
          </p:cNvSpPr>
          <p:nvPr/>
        </p:nvSpPr>
        <p:spPr bwMode="auto">
          <a:xfrm>
            <a:off x="769729" y="2129628"/>
            <a:ext cx="6048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484849"/>
                </a:solidFill>
                <a:latin typeface="+mn-ea"/>
                <a:ea typeface="+mn-ea"/>
              </a:rPr>
              <a:t>1</a:t>
            </a:r>
            <a:endParaRPr lang="en-US" altLang="zh-CN" sz="4000" b="1" dirty="0">
              <a:solidFill>
                <a:srgbClr val="484849"/>
              </a:solidFill>
              <a:latin typeface="+mn-ea"/>
              <a:ea typeface="+mn-ea"/>
            </a:endParaRPr>
          </a:p>
        </p:txBody>
      </p:sp>
      <p:sp>
        <p:nvSpPr>
          <p:cNvPr id="58" name="TextBox 25"/>
          <p:cNvSpPr txBox="1">
            <a:spLocks noChangeArrowheads="1"/>
          </p:cNvSpPr>
          <p:nvPr/>
        </p:nvSpPr>
        <p:spPr bwMode="auto">
          <a:xfrm>
            <a:off x="769729" y="3385341"/>
            <a:ext cx="6048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484849"/>
                </a:solidFill>
                <a:latin typeface="+mn-ea"/>
                <a:ea typeface="+mn-ea"/>
              </a:rPr>
              <a:t>2</a:t>
            </a:r>
            <a:endParaRPr lang="en-US" altLang="zh-CN" sz="4000" b="1" dirty="0">
              <a:solidFill>
                <a:srgbClr val="484849"/>
              </a:solidFill>
              <a:latin typeface="+mn-ea"/>
              <a:ea typeface="+mn-ea"/>
            </a:endParaRPr>
          </a:p>
        </p:txBody>
      </p:sp>
      <p:sp>
        <p:nvSpPr>
          <p:cNvPr id="59" name="TextBox 26"/>
          <p:cNvSpPr txBox="1">
            <a:spLocks noChangeArrowheads="1"/>
          </p:cNvSpPr>
          <p:nvPr/>
        </p:nvSpPr>
        <p:spPr bwMode="auto">
          <a:xfrm>
            <a:off x="769729" y="4572791"/>
            <a:ext cx="6048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484849"/>
                </a:solidFill>
                <a:latin typeface="+mn-ea"/>
                <a:ea typeface="+mn-ea"/>
              </a:rPr>
              <a:t>3</a:t>
            </a:r>
            <a:endParaRPr lang="en-US" altLang="zh-CN" sz="4000" b="1" dirty="0">
              <a:solidFill>
                <a:srgbClr val="484849"/>
              </a:solidFill>
              <a:latin typeface="+mn-ea"/>
              <a:ea typeface="+mn-ea"/>
            </a:endParaRPr>
          </a:p>
        </p:txBody>
      </p:sp>
      <p:sp>
        <p:nvSpPr>
          <p:cNvPr id="60" name="Rectangle 52"/>
          <p:cNvSpPr/>
          <p:nvPr/>
        </p:nvSpPr>
        <p:spPr>
          <a:xfrm>
            <a:off x="5083827" y="1071641"/>
            <a:ext cx="202434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中断全过程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sp>
        <p:nvSpPr>
          <p:cNvPr id="2" name="下箭头 1"/>
          <p:cNvSpPr/>
          <p:nvPr/>
        </p:nvSpPr>
        <p:spPr>
          <a:xfrm>
            <a:off x="5920509" y="5340003"/>
            <a:ext cx="350982" cy="525088"/>
          </a:xfrm>
          <a:prstGeom prst="downArrow">
            <a:avLst/>
          </a:prstGeom>
          <a:solidFill>
            <a:srgbClr val="FF22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7"/>
          <p:cNvSpPr>
            <a:spLocks noChangeArrowheads="1"/>
          </p:cNvSpPr>
          <p:nvPr/>
        </p:nvSpPr>
        <p:spPr bwMode="auto">
          <a:xfrm>
            <a:off x="4783663" y="5916898"/>
            <a:ext cx="2624675" cy="46166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Century Gothic" panose="020B0502020202020204"/>
                <a:ea typeface="微软雅黑" panose="020B0503020204020204" pitchFamily="34" charset="-122"/>
                <a:cs typeface="+mn-ea"/>
                <a:sym typeface="+mn-lt"/>
              </a:rPr>
              <a:t>整个过程称为中断</a:t>
            </a:r>
            <a:endParaRPr lang="zh-CN" altLang="en-US" sz="2400" b="1" kern="0" dirty="0">
              <a:solidFill>
                <a:prstClr val="white"/>
              </a:solidFill>
              <a:latin typeface="Century Gothic" panose="020B0502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2" grpId="0" animBg="1"/>
      <p:bldP spid="6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87255" y="1078164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示意图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60" name="Rectangle 52"/>
          <p:cNvSpPr/>
          <p:nvPr/>
        </p:nvSpPr>
        <p:spPr>
          <a:xfrm>
            <a:off x="3989363" y="1071641"/>
            <a:ext cx="421327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中断程序执行过程示意图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6056313" y="2521744"/>
            <a:ext cx="0" cy="1741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" name="Line 5"/>
          <p:cNvSpPr>
            <a:spLocks noChangeShapeType="1"/>
          </p:cNvSpPr>
          <p:nvPr/>
        </p:nvSpPr>
        <p:spPr bwMode="auto">
          <a:xfrm>
            <a:off x="7927975" y="3480594"/>
            <a:ext cx="0" cy="1652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>
            <a:off x="6056313" y="4525169"/>
            <a:ext cx="0" cy="1741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" name="Line 7"/>
          <p:cNvSpPr>
            <a:spLocks noChangeShapeType="1"/>
          </p:cNvSpPr>
          <p:nvPr/>
        </p:nvSpPr>
        <p:spPr bwMode="auto">
          <a:xfrm flipV="1">
            <a:off x="6056313" y="3480594"/>
            <a:ext cx="1871662" cy="6969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" name="Line 8"/>
          <p:cNvSpPr>
            <a:spLocks noChangeShapeType="1"/>
          </p:cNvSpPr>
          <p:nvPr/>
        </p:nvSpPr>
        <p:spPr bwMode="auto">
          <a:xfrm flipH="1" flipV="1">
            <a:off x="6056313" y="4525169"/>
            <a:ext cx="1871662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4616450" y="2770187"/>
            <a:ext cx="14996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执行主程序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5487458" y="1954253"/>
            <a:ext cx="1151467" cy="461665"/>
          </a:xfrm>
          <a:prstGeom prst="rect">
            <a:avLst/>
          </a:prstGeom>
          <a:solidFill>
            <a:srgbClr val="E44B46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主程序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4729314" y="5067242"/>
            <a:ext cx="124036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继续执行主程序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44" name="Text Box 12"/>
          <p:cNvSpPr txBox="1">
            <a:spLocks noChangeArrowheads="1"/>
          </p:cNvSpPr>
          <p:nvPr/>
        </p:nvSpPr>
        <p:spPr bwMode="auto">
          <a:xfrm>
            <a:off x="5151173" y="4066352"/>
            <a:ext cx="9350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断点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61" name="AutoShape 13"/>
          <p:cNvSpPr>
            <a:spLocks noChangeArrowheads="1"/>
          </p:cNvSpPr>
          <p:nvPr/>
        </p:nvSpPr>
        <p:spPr bwMode="auto">
          <a:xfrm>
            <a:off x="3599591" y="3225197"/>
            <a:ext cx="2019101" cy="712427"/>
          </a:xfrm>
          <a:prstGeom prst="wedgeEllipseCallout">
            <a:avLst>
              <a:gd name="adj1" fmla="val 67792"/>
              <a:gd name="adj2" fmla="val 79946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中断请求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auto">
          <a:xfrm>
            <a:off x="6142946" y="2927737"/>
            <a:ext cx="2054225" cy="584611"/>
          </a:xfrm>
          <a:prstGeom prst="wedgeEllipseCallout">
            <a:avLst>
              <a:gd name="adj1" fmla="val -26225"/>
              <a:gd name="adj2" fmla="val 12563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中断响应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4" name="Text Box 15"/>
          <p:cNvSpPr txBox="1">
            <a:spLocks noChangeArrowheads="1"/>
          </p:cNvSpPr>
          <p:nvPr/>
        </p:nvSpPr>
        <p:spPr bwMode="auto">
          <a:xfrm>
            <a:off x="7964225" y="3765951"/>
            <a:ext cx="74771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执行</a:t>
            </a:r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具体任务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65" name="AutoShape 16"/>
          <p:cNvSpPr>
            <a:spLocks noChangeArrowheads="1"/>
          </p:cNvSpPr>
          <p:nvPr/>
        </p:nvSpPr>
        <p:spPr bwMode="auto">
          <a:xfrm>
            <a:off x="6255281" y="5339105"/>
            <a:ext cx="2082800" cy="644877"/>
          </a:xfrm>
          <a:prstGeom prst="wedgeEllipseCallout">
            <a:avLst>
              <a:gd name="adj1" fmla="val -24397"/>
              <a:gd name="adj2" fmla="val -137337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中断返回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9" name="圆角矩形标注 38"/>
          <p:cNvSpPr/>
          <p:nvPr/>
        </p:nvSpPr>
        <p:spPr>
          <a:xfrm>
            <a:off x="2549769" y="4273783"/>
            <a:ext cx="2179544" cy="1268794"/>
          </a:xfrm>
          <a:prstGeom prst="wedgeRoundRectCallout">
            <a:avLst>
              <a:gd name="adj1" fmla="val 69610"/>
              <a:gd name="adj2" fmla="val -47980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当前指令执行完后下一条指令所在的地址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7035461" y="2361054"/>
            <a:ext cx="2054218" cy="461665"/>
          </a:xfrm>
          <a:prstGeom prst="rect">
            <a:avLst/>
          </a:prstGeom>
          <a:solidFill>
            <a:srgbClr val="E44B46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中断服务程序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1" name="圆角矩形标注 38"/>
          <p:cNvSpPr/>
          <p:nvPr/>
        </p:nvSpPr>
        <p:spPr>
          <a:xfrm>
            <a:off x="4226139" y="1906293"/>
            <a:ext cx="857835" cy="633621"/>
          </a:xfrm>
          <a:prstGeom prst="wedgeRoundRectCallout">
            <a:avLst>
              <a:gd name="adj1" fmla="val 89390"/>
              <a:gd name="adj2" fmla="val -21200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后台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2" name="圆角矩形标注 38"/>
          <p:cNvSpPr/>
          <p:nvPr/>
        </p:nvSpPr>
        <p:spPr>
          <a:xfrm>
            <a:off x="9263670" y="1868274"/>
            <a:ext cx="857835" cy="633621"/>
          </a:xfrm>
          <a:prstGeom prst="wedgeRoundRectCallout">
            <a:avLst>
              <a:gd name="adj1" fmla="val -69951"/>
              <a:gd name="adj2" fmla="val 47237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前台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0" grpId="0" animBg="1"/>
      <p:bldP spid="41" grpId="0" autoUpdateAnimBg="0"/>
      <p:bldP spid="43" grpId="0"/>
      <p:bldP spid="44" grpId="0" autoUpdateAnimBg="0"/>
      <p:bldP spid="61" grpId="0" animBg="1"/>
      <p:bldP spid="63" grpId="0" animBg="1" autoUpdateAnimBg="0"/>
      <p:bldP spid="64" grpId="0"/>
      <p:bldP spid="65" grpId="0" animBg="1"/>
      <p:bldP spid="29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30080" y="1078164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中断的作用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63" name="组 17"/>
          <p:cNvGrpSpPr/>
          <p:nvPr/>
        </p:nvGrpSpPr>
        <p:grpSpPr>
          <a:xfrm>
            <a:off x="7923134" y="2084130"/>
            <a:ext cx="3530283" cy="1219835"/>
            <a:chOff x="5768587" y="2422529"/>
            <a:chExt cx="3365499" cy="1096739"/>
          </a:xfrm>
        </p:grpSpPr>
        <p:grpSp>
          <p:nvGrpSpPr>
            <p:cNvPr id="64" name="组 61"/>
            <p:cNvGrpSpPr/>
            <p:nvPr/>
          </p:nvGrpSpPr>
          <p:grpSpPr>
            <a:xfrm>
              <a:off x="5768587" y="2422529"/>
              <a:ext cx="3365499" cy="1096739"/>
              <a:chOff x="769918" y="2422529"/>
              <a:chExt cx="3365499" cy="1096739"/>
            </a:xfrm>
          </p:grpSpPr>
          <p:grpSp>
            <p:nvGrpSpPr>
              <p:cNvPr id="102" name="组 62"/>
              <p:cNvGrpSpPr/>
              <p:nvPr/>
            </p:nvGrpSpPr>
            <p:grpSpPr>
              <a:xfrm>
                <a:off x="769918" y="2422529"/>
                <a:ext cx="3365499" cy="1096739"/>
                <a:chOff x="-512538" y="2714625"/>
                <a:chExt cx="4515861" cy="1471612"/>
              </a:xfrm>
            </p:grpSpPr>
            <p:grpSp>
              <p:nvGrpSpPr>
                <p:cNvPr id="104" name="组 64"/>
                <p:cNvGrpSpPr/>
                <p:nvPr/>
              </p:nvGrpSpPr>
              <p:grpSpPr>
                <a:xfrm>
                  <a:off x="1128412" y="2714626"/>
                  <a:ext cx="2874911" cy="1471611"/>
                  <a:chOff x="1000930" y="2714626"/>
                  <a:chExt cx="2874911" cy="1471611"/>
                </a:xfrm>
                <a:solidFill>
                  <a:schemeClr val="accent4"/>
                </a:solidFill>
              </p:grpSpPr>
              <p:sp>
                <p:nvSpPr>
                  <p:cNvPr id="109" name="矩形 108"/>
                  <p:cNvSpPr/>
                  <p:nvPr/>
                </p:nvSpPr>
                <p:spPr>
                  <a:xfrm>
                    <a:off x="1000930" y="2714626"/>
                    <a:ext cx="2354618" cy="147161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  <p:sp>
                <p:nvSpPr>
                  <p:cNvPr id="110" name="矩形 109"/>
                  <p:cNvSpPr/>
                  <p:nvPr/>
                </p:nvSpPr>
                <p:spPr>
                  <a:xfrm rot="18900000">
                    <a:off x="2835254" y="2930137"/>
                    <a:ext cx="1040587" cy="1040587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</p:grpSp>
            <p:grpSp>
              <p:nvGrpSpPr>
                <p:cNvPr id="105" name="组 65"/>
                <p:cNvGrpSpPr/>
                <p:nvPr/>
              </p:nvGrpSpPr>
              <p:grpSpPr>
                <a:xfrm>
                  <a:off x="-512538" y="2714625"/>
                  <a:ext cx="4388380" cy="1471612"/>
                  <a:chOff x="-512538" y="2714625"/>
                  <a:chExt cx="4388380" cy="1471612"/>
                </a:xfrm>
              </p:grpSpPr>
              <p:sp>
                <p:nvSpPr>
                  <p:cNvPr id="107" name="矩形 106"/>
                  <p:cNvSpPr/>
                  <p:nvPr/>
                </p:nvSpPr>
                <p:spPr>
                  <a:xfrm>
                    <a:off x="-512538" y="2714625"/>
                    <a:ext cx="3868087" cy="1471612"/>
                  </a:xfrm>
                  <a:prstGeom prst="rect">
                    <a:avLst/>
                  </a:prstGeom>
                  <a:solidFill>
                    <a:srgbClr val="7F6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  <p:sp>
                <p:nvSpPr>
                  <p:cNvPr id="108" name="矩形 107"/>
                  <p:cNvSpPr/>
                  <p:nvPr/>
                </p:nvSpPr>
                <p:spPr>
                  <a:xfrm rot="18900000">
                    <a:off x="2835255" y="2930136"/>
                    <a:ext cx="1040587" cy="1040587"/>
                  </a:xfrm>
                  <a:prstGeom prst="rect">
                    <a:avLst/>
                  </a:prstGeom>
                  <a:solidFill>
                    <a:srgbClr val="7F6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</p:grpSp>
            <p:sp>
              <p:nvSpPr>
                <p:cNvPr id="106" name="矩形 105"/>
                <p:cNvSpPr/>
                <p:nvPr/>
              </p:nvSpPr>
              <p:spPr>
                <a:xfrm rot="18900000">
                  <a:off x="2897794" y="2992678"/>
                  <a:ext cx="915504" cy="915504"/>
                </a:xfrm>
                <a:prstGeom prst="rect">
                  <a:avLst/>
                </a:prstGeom>
                <a:noFill/>
                <a:ln w="50800" cmpd="thinThick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015"/>
                </a:p>
              </p:txBody>
            </p:sp>
          </p:grpSp>
          <p:sp>
            <p:nvSpPr>
              <p:cNvPr id="103" name="矩形 102"/>
              <p:cNvSpPr/>
              <p:nvPr/>
            </p:nvSpPr>
            <p:spPr>
              <a:xfrm>
                <a:off x="3375137" y="2740059"/>
                <a:ext cx="555036" cy="4704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2800" b="1" dirty="0">
                    <a:solidFill>
                      <a:srgbClr val="FFFFFF"/>
                    </a:solidFill>
                  </a:rPr>
                  <a:t>04</a:t>
                </a:r>
                <a:endParaRPr lang="zh-CN" altLang="en-US" sz="1200" dirty="0"/>
              </a:p>
            </p:txBody>
          </p:sp>
        </p:grpSp>
        <p:sp>
          <p:nvSpPr>
            <p:cNvPr id="65" name="矩形 64"/>
            <p:cNvSpPr/>
            <p:nvPr/>
          </p:nvSpPr>
          <p:spPr>
            <a:xfrm>
              <a:off x="6823700" y="2728622"/>
              <a:ext cx="1349688" cy="4726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r"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可靠性高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endParaRPr>
            </a:p>
          </p:txBody>
        </p:sp>
      </p:grpSp>
      <p:grpSp>
        <p:nvGrpSpPr>
          <p:cNvPr id="111" name="组 17"/>
          <p:cNvGrpSpPr/>
          <p:nvPr/>
        </p:nvGrpSpPr>
        <p:grpSpPr>
          <a:xfrm>
            <a:off x="5332803" y="2067421"/>
            <a:ext cx="3530283" cy="1219835"/>
            <a:chOff x="5768587" y="2422529"/>
            <a:chExt cx="3365499" cy="1096739"/>
          </a:xfrm>
        </p:grpSpPr>
        <p:grpSp>
          <p:nvGrpSpPr>
            <p:cNvPr id="112" name="组 61"/>
            <p:cNvGrpSpPr/>
            <p:nvPr/>
          </p:nvGrpSpPr>
          <p:grpSpPr>
            <a:xfrm>
              <a:off x="5768587" y="2422529"/>
              <a:ext cx="3365499" cy="1096739"/>
              <a:chOff x="769918" y="2422529"/>
              <a:chExt cx="3365499" cy="1096739"/>
            </a:xfrm>
          </p:grpSpPr>
          <p:grpSp>
            <p:nvGrpSpPr>
              <p:cNvPr id="114" name="组 62"/>
              <p:cNvGrpSpPr/>
              <p:nvPr/>
            </p:nvGrpSpPr>
            <p:grpSpPr>
              <a:xfrm>
                <a:off x="769918" y="2422529"/>
                <a:ext cx="3365499" cy="1096739"/>
                <a:chOff x="-512538" y="2714625"/>
                <a:chExt cx="4515861" cy="1471612"/>
              </a:xfrm>
            </p:grpSpPr>
            <p:grpSp>
              <p:nvGrpSpPr>
                <p:cNvPr id="116" name="组 64"/>
                <p:cNvGrpSpPr/>
                <p:nvPr/>
              </p:nvGrpSpPr>
              <p:grpSpPr>
                <a:xfrm>
                  <a:off x="1128412" y="2714626"/>
                  <a:ext cx="2874911" cy="1471611"/>
                  <a:chOff x="1000930" y="2714626"/>
                  <a:chExt cx="2874911" cy="1471611"/>
                </a:xfrm>
                <a:solidFill>
                  <a:schemeClr val="accent4"/>
                </a:solidFill>
              </p:grpSpPr>
              <p:sp>
                <p:nvSpPr>
                  <p:cNvPr id="121" name="矩形 120"/>
                  <p:cNvSpPr/>
                  <p:nvPr/>
                </p:nvSpPr>
                <p:spPr>
                  <a:xfrm>
                    <a:off x="1000930" y="2714626"/>
                    <a:ext cx="2354618" cy="147161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>
                  <a:xfrm rot="18900000">
                    <a:off x="2835254" y="2930137"/>
                    <a:ext cx="1040587" cy="1040587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</p:grpSp>
            <p:grpSp>
              <p:nvGrpSpPr>
                <p:cNvPr id="117" name="组 65"/>
                <p:cNvGrpSpPr/>
                <p:nvPr/>
              </p:nvGrpSpPr>
              <p:grpSpPr>
                <a:xfrm>
                  <a:off x="-512538" y="2714625"/>
                  <a:ext cx="4388380" cy="1471612"/>
                  <a:chOff x="-512538" y="2714625"/>
                  <a:chExt cx="4388380" cy="1471612"/>
                </a:xfrm>
              </p:grpSpPr>
              <p:sp>
                <p:nvSpPr>
                  <p:cNvPr id="119" name="矩形 118"/>
                  <p:cNvSpPr/>
                  <p:nvPr/>
                </p:nvSpPr>
                <p:spPr>
                  <a:xfrm>
                    <a:off x="-512538" y="2714625"/>
                    <a:ext cx="3868087" cy="1471612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  <p:sp>
                <p:nvSpPr>
                  <p:cNvPr id="120" name="矩形 119"/>
                  <p:cNvSpPr/>
                  <p:nvPr/>
                </p:nvSpPr>
                <p:spPr>
                  <a:xfrm rot="18900000">
                    <a:off x="2835255" y="2930136"/>
                    <a:ext cx="1040587" cy="1040587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</p:grpSp>
            <p:sp>
              <p:nvSpPr>
                <p:cNvPr id="118" name="矩形 117"/>
                <p:cNvSpPr/>
                <p:nvPr/>
              </p:nvSpPr>
              <p:spPr>
                <a:xfrm rot="18900000">
                  <a:off x="2897794" y="2992678"/>
                  <a:ext cx="915504" cy="915504"/>
                </a:xfrm>
                <a:prstGeom prst="rect">
                  <a:avLst/>
                </a:prstGeom>
                <a:noFill/>
                <a:ln w="50800" cmpd="thinThick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015"/>
                </a:p>
              </p:txBody>
            </p:sp>
          </p:grpSp>
          <p:sp>
            <p:nvSpPr>
              <p:cNvPr id="115" name="矩形 114"/>
              <p:cNvSpPr/>
              <p:nvPr/>
            </p:nvSpPr>
            <p:spPr>
              <a:xfrm>
                <a:off x="3375138" y="2740059"/>
                <a:ext cx="555035" cy="4703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2800" b="1" dirty="0">
                    <a:solidFill>
                      <a:srgbClr val="FFFFFF"/>
                    </a:solidFill>
                  </a:rPr>
                  <a:t>03</a:t>
                </a:r>
                <a:endParaRPr lang="zh-CN" altLang="en-US" sz="1200" dirty="0"/>
              </a:p>
            </p:txBody>
          </p:sp>
        </p:grpSp>
        <p:sp>
          <p:nvSpPr>
            <p:cNvPr id="113" name="矩形 112"/>
            <p:cNvSpPr/>
            <p:nvPr/>
          </p:nvSpPr>
          <p:spPr>
            <a:xfrm>
              <a:off x="6823700" y="2728622"/>
              <a:ext cx="1349688" cy="4726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r"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实时响应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endParaRPr>
            </a:p>
          </p:txBody>
        </p:sp>
      </p:grpSp>
      <p:grpSp>
        <p:nvGrpSpPr>
          <p:cNvPr id="123" name="组 26"/>
          <p:cNvGrpSpPr/>
          <p:nvPr/>
        </p:nvGrpSpPr>
        <p:grpSpPr>
          <a:xfrm>
            <a:off x="2783278" y="2067421"/>
            <a:ext cx="3530600" cy="1219835"/>
            <a:chOff x="3337757" y="2422522"/>
            <a:chExt cx="3365500" cy="1096737"/>
          </a:xfrm>
        </p:grpSpPr>
        <p:grpSp>
          <p:nvGrpSpPr>
            <p:cNvPr id="124" name="组 71"/>
            <p:cNvGrpSpPr/>
            <p:nvPr/>
          </p:nvGrpSpPr>
          <p:grpSpPr>
            <a:xfrm>
              <a:off x="3337757" y="2422522"/>
              <a:ext cx="3365500" cy="1096737"/>
              <a:chOff x="769918" y="2422525"/>
              <a:chExt cx="3365500" cy="1096737"/>
            </a:xfrm>
          </p:grpSpPr>
          <p:grpSp>
            <p:nvGrpSpPr>
              <p:cNvPr id="126" name="组 72"/>
              <p:cNvGrpSpPr/>
              <p:nvPr/>
            </p:nvGrpSpPr>
            <p:grpSpPr>
              <a:xfrm>
                <a:off x="769918" y="2422525"/>
                <a:ext cx="3365500" cy="1096737"/>
                <a:chOff x="-512538" y="2714625"/>
                <a:chExt cx="4515861" cy="1471612"/>
              </a:xfrm>
            </p:grpSpPr>
            <p:grpSp>
              <p:nvGrpSpPr>
                <p:cNvPr id="128" name="组 74"/>
                <p:cNvGrpSpPr/>
                <p:nvPr/>
              </p:nvGrpSpPr>
              <p:grpSpPr>
                <a:xfrm>
                  <a:off x="1128412" y="2714625"/>
                  <a:ext cx="2874911" cy="1471612"/>
                  <a:chOff x="1000930" y="2714625"/>
                  <a:chExt cx="2874911" cy="1471612"/>
                </a:xfrm>
                <a:solidFill>
                  <a:schemeClr val="accent4"/>
                </a:solidFill>
              </p:grpSpPr>
              <p:sp>
                <p:nvSpPr>
                  <p:cNvPr id="133" name="矩形 132"/>
                  <p:cNvSpPr/>
                  <p:nvPr/>
                </p:nvSpPr>
                <p:spPr>
                  <a:xfrm>
                    <a:off x="1000930" y="2714625"/>
                    <a:ext cx="2354618" cy="147161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  <p:sp>
                <p:nvSpPr>
                  <p:cNvPr id="134" name="矩形 133"/>
                  <p:cNvSpPr/>
                  <p:nvPr/>
                </p:nvSpPr>
                <p:spPr>
                  <a:xfrm rot="18900000">
                    <a:off x="2835254" y="2930137"/>
                    <a:ext cx="1040587" cy="1040587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</p:grpSp>
            <p:grpSp>
              <p:nvGrpSpPr>
                <p:cNvPr id="129" name="组 75"/>
                <p:cNvGrpSpPr/>
                <p:nvPr/>
              </p:nvGrpSpPr>
              <p:grpSpPr>
                <a:xfrm>
                  <a:off x="-512538" y="2714625"/>
                  <a:ext cx="4388379" cy="1471612"/>
                  <a:chOff x="-512538" y="2714625"/>
                  <a:chExt cx="4388379" cy="1471612"/>
                </a:xfrm>
              </p:grpSpPr>
              <p:sp>
                <p:nvSpPr>
                  <p:cNvPr id="131" name="矩形 130"/>
                  <p:cNvSpPr/>
                  <p:nvPr/>
                </p:nvSpPr>
                <p:spPr>
                  <a:xfrm>
                    <a:off x="-512538" y="2714625"/>
                    <a:ext cx="3868087" cy="147161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>
                  <a:xfrm rot="18900000">
                    <a:off x="2835254" y="2930137"/>
                    <a:ext cx="1040587" cy="1040587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15"/>
                  </a:p>
                </p:txBody>
              </p:sp>
            </p:grpSp>
            <p:sp>
              <p:nvSpPr>
                <p:cNvPr id="130" name="矩形 129"/>
                <p:cNvSpPr/>
                <p:nvPr/>
              </p:nvSpPr>
              <p:spPr>
                <a:xfrm rot="18900000">
                  <a:off x="2897795" y="2992678"/>
                  <a:ext cx="915504" cy="915504"/>
                </a:xfrm>
                <a:prstGeom prst="rect">
                  <a:avLst/>
                </a:prstGeom>
                <a:noFill/>
                <a:ln w="50800" cmpd="thinThick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015"/>
                </a:p>
              </p:txBody>
            </p:sp>
          </p:grpSp>
          <p:sp>
            <p:nvSpPr>
              <p:cNvPr id="127" name="矩形 126"/>
              <p:cNvSpPr/>
              <p:nvPr/>
            </p:nvSpPr>
            <p:spPr>
              <a:xfrm>
                <a:off x="3375138" y="2740059"/>
                <a:ext cx="555035" cy="4703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28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200" dirty="0"/>
              </a:p>
            </p:txBody>
          </p:sp>
        </p:grpSp>
        <p:sp>
          <p:nvSpPr>
            <p:cNvPr id="125" name="矩形 124"/>
            <p:cNvSpPr/>
            <p:nvPr/>
          </p:nvSpPr>
          <p:spPr>
            <a:xfrm>
              <a:off x="4371019" y="2728621"/>
              <a:ext cx="1349567" cy="4726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r"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黑体" panose="02010609060101010101" pitchFamily="49" charset="-122"/>
                </a:rPr>
                <a:t>分时操作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endParaRPr>
            </a:p>
          </p:txBody>
        </p:sp>
      </p:grpSp>
      <p:grpSp>
        <p:nvGrpSpPr>
          <p:cNvPr id="135" name="组 81"/>
          <p:cNvGrpSpPr/>
          <p:nvPr/>
        </p:nvGrpSpPr>
        <p:grpSpPr>
          <a:xfrm>
            <a:off x="807158" y="2066786"/>
            <a:ext cx="2956637" cy="1219835"/>
            <a:chOff x="1316832" y="2422525"/>
            <a:chExt cx="2818586" cy="1096737"/>
          </a:xfrm>
        </p:grpSpPr>
        <p:grpSp>
          <p:nvGrpSpPr>
            <p:cNvPr id="136" name="组 82"/>
            <p:cNvGrpSpPr/>
            <p:nvPr/>
          </p:nvGrpSpPr>
          <p:grpSpPr>
            <a:xfrm>
              <a:off x="1316832" y="2422525"/>
              <a:ext cx="2818586" cy="1096737"/>
              <a:chOff x="221317" y="2714625"/>
              <a:chExt cx="3782006" cy="1471612"/>
            </a:xfrm>
          </p:grpSpPr>
          <p:grpSp>
            <p:nvGrpSpPr>
              <p:cNvPr id="138" name="组 84"/>
              <p:cNvGrpSpPr/>
              <p:nvPr/>
            </p:nvGrpSpPr>
            <p:grpSpPr>
              <a:xfrm>
                <a:off x="1128412" y="2714625"/>
                <a:ext cx="2874911" cy="1471612"/>
                <a:chOff x="1000930" y="2714625"/>
                <a:chExt cx="2874911" cy="1471612"/>
              </a:xfrm>
              <a:solidFill>
                <a:schemeClr val="accent4"/>
              </a:solidFill>
            </p:grpSpPr>
            <p:sp>
              <p:nvSpPr>
                <p:cNvPr id="143" name="矩形 142"/>
                <p:cNvSpPr/>
                <p:nvPr/>
              </p:nvSpPr>
              <p:spPr>
                <a:xfrm>
                  <a:off x="1000930" y="2714625"/>
                  <a:ext cx="2354618" cy="147161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015"/>
                </a:p>
              </p:txBody>
            </p:sp>
            <p:sp>
              <p:nvSpPr>
                <p:cNvPr id="144" name="矩形 143"/>
                <p:cNvSpPr/>
                <p:nvPr/>
              </p:nvSpPr>
              <p:spPr>
                <a:xfrm rot="18900000">
                  <a:off x="2835254" y="2930137"/>
                  <a:ext cx="1040587" cy="104058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015"/>
                </a:p>
              </p:txBody>
            </p:sp>
          </p:grpSp>
          <p:grpSp>
            <p:nvGrpSpPr>
              <p:cNvPr id="139" name="组 85"/>
              <p:cNvGrpSpPr/>
              <p:nvPr/>
            </p:nvGrpSpPr>
            <p:grpSpPr>
              <a:xfrm>
                <a:off x="221317" y="2714625"/>
                <a:ext cx="3654524" cy="1471612"/>
                <a:chOff x="221317" y="2714625"/>
                <a:chExt cx="3654524" cy="1471612"/>
              </a:xfrm>
            </p:grpSpPr>
            <p:sp>
              <p:nvSpPr>
                <p:cNvPr id="141" name="矩形 140"/>
                <p:cNvSpPr/>
                <p:nvPr/>
              </p:nvSpPr>
              <p:spPr>
                <a:xfrm>
                  <a:off x="221317" y="2714625"/>
                  <a:ext cx="3134231" cy="1471612"/>
                </a:xfrm>
                <a:prstGeom prst="rect">
                  <a:avLst/>
                </a:prstGeom>
                <a:solidFill>
                  <a:srgbClr val="E44B4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015"/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 rot="18900000">
                  <a:off x="2835254" y="2930137"/>
                  <a:ext cx="1040587" cy="1040587"/>
                </a:xfrm>
                <a:prstGeom prst="rect">
                  <a:avLst/>
                </a:prstGeom>
                <a:solidFill>
                  <a:srgbClr val="E44B4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015"/>
                </a:p>
              </p:txBody>
            </p:sp>
          </p:grpSp>
          <p:sp>
            <p:nvSpPr>
              <p:cNvPr id="140" name="矩形 139"/>
              <p:cNvSpPr/>
              <p:nvPr/>
            </p:nvSpPr>
            <p:spPr>
              <a:xfrm rot="18900000">
                <a:off x="2897794" y="2992679"/>
                <a:ext cx="915504" cy="915504"/>
              </a:xfrm>
              <a:prstGeom prst="rect">
                <a:avLst/>
              </a:prstGeom>
              <a:noFill/>
              <a:ln w="50800" cmpd="thinThick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15"/>
              </a:p>
            </p:txBody>
          </p:sp>
        </p:grpSp>
        <p:sp>
          <p:nvSpPr>
            <p:cNvPr id="137" name="矩形 136"/>
            <p:cNvSpPr/>
            <p:nvPr/>
          </p:nvSpPr>
          <p:spPr>
            <a:xfrm>
              <a:off x="3375136" y="2740059"/>
              <a:ext cx="555035" cy="4703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800" b="1" dirty="0">
                  <a:solidFill>
                    <a:srgbClr val="FFFFFF"/>
                  </a:solidFill>
                </a:rPr>
                <a:t>01</a:t>
              </a:r>
              <a:endParaRPr lang="zh-CN" altLang="en-US" sz="1200" dirty="0"/>
            </a:p>
          </p:txBody>
        </p:sp>
      </p:grpSp>
      <p:sp>
        <p:nvSpPr>
          <p:cNvPr id="145" name="矩形 144"/>
          <p:cNvSpPr/>
          <p:nvPr/>
        </p:nvSpPr>
        <p:spPr>
          <a:xfrm>
            <a:off x="1165437" y="2423881"/>
            <a:ext cx="1415792" cy="5256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速度匹配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146" name="文本框 146"/>
          <p:cNvSpPr txBox="1"/>
          <p:nvPr/>
        </p:nvSpPr>
        <p:spPr>
          <a:xfrm>
            <a:off x="813435" y="3638201"/>
            <a:ext cx="2364105" cy="2243050"/>
          </a:xfrm>
          <a:prstGeom prst="rect">
            <a:avLst/>
          </a:prstGeom>
          <a:noFill/>
          <a:ln w="38100">
            <a:solidFill>
              <a:srgbClr val="C81F1F"/>
            </a:solidFill>
            <a:prstDash val="sysDot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可以解决快速的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与慢速的外部设备之间传送数据的矛盾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7" name="文本框 148"/>
          <p:cNvSpPr txBox="1"/>
          <p:nvPr/>
        </p:nvSpPr>
        <p:spPr>
          <a:xfrm>
            <a:off x="3424555" y="3638201"/>
            <a:ext cx="2488565" cy="2243050"/>
          </a:xfrm>
          <a:prstGeom prst="rect">
            <a:avLst/>
          </a:prstGeom>
          <a:noFill/>
          <a:ln w="38100">
            <a:solidFill>
              <a:srgbClr val="ED7D31"/>
            </a:solidFill>
            <a:prstDash val="sysDot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可以分时为多个外部设备服务，提高计算机的利用率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8" name="文本框 150"/>
          <p:cNvSpPr txBox="1"/>
          <p:nvPr/>
        </p:nvSpPr>
        <p:spPr>
          <a:xfrm>
            <a:off x="6159500" y="3639471"/>
            <a:ext cx="2507615" cy="2243050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CPU</a:t>
            </a:r>
            <a:r>
              <a:rPr lang="zh-CN" altLang="zh-CN" sz="2400" b="1" dirty="0">
                <a:latin typeface="+mn-ea"/>
              </a:rPr>
              <a:t>能够及时处理应用系统的随机事件，</a:t>
            </a:r>
            <a:r>
              <a:rPr lang="zh-CN" altLang="en-US" sz="2400" b="1" dirty="0">
                <a:latin typeface="+mn-ea"/>
              </a:rPr>
              <a:t>增强</a:t>
            </a:r>
            <a:r>
              <a:rPr lang="zh-CN" altLang="zh-CN" sz="2400" b="1" dirty="0">
                <a:latin typeface="+mn-ea"/>
              </a:rPr>
              <a:t>系统的实时性</a:t>
            </a:r>
            <a:endParaRPr lang="zh-CN" altLang="en-US" sz="2400" b="1" dirty="0">
              <a:latin typeface="+mn-ea"/>
              <a:cs typeface="微软雅黑" panose="020B0503020204020204" pitchFamily="34" charset="-122"/>
            </a:endParaRPr>
          </a:p>
        </p:txBody>
      </p:sp>
      <p:sp>
        <p:nvSpPr>
          <p:cNvPr id="149" name="文本框 150"/>
          <p:cNvSpPr txBox="1"/>
          <p:nvPr/>
        </p:nvSpPr>
        <p:spPr>
          <a:xfrm>
            <a:off x="8914130" y="3630581"/>
            <a:ext cx="2500291" cy="2308324"/>
          </a:xfrm>
          <a:prstGeom prst="rect">
            <a:avLst/>
          </a:prstGeom>
          <a:noFill/>
          <a:ln w="38100">
            <a:solidFill>
              <a:schemeClr val="accent4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/>
              <a:t>CPU</a:t>
            </a:r>
            <a:r>
              <a:rPr lang="zh-CN" altLang="en-US" sz="2400" b="1" dirty="0"/>
              <a:t>可以</a:t>
            </a:r>
            <a:r>
              <a:rPr lang="zh-CN" altLang="zh-CN" sz="2400" b="1" dirty="0"/>
              <a:t>处理设备故障及掉电等突发事件，</a:t>
            </a:r>
            <a:r>
              <a:rPr lang="zh-CN" altLang="en-US" sz="2400" b="1" dirty="0"/>
              <a:t>提高</a:t>
            </a:r>
            <a:r>
              <a:rPr lang="zh-CN" altLang="zh-CN" sz="2400" b="1" dirty="0"/>
              <a:t>系统可靠性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47" grpId="0" animBg="1"/>
      <p:bldP spid="148" grpId="0" animBg="1"/>
      <p:bldP spid="1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50796" y="1078164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中断优先级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9118" y="880921"/>
            <a:ext cx="7084633" cy="5532468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64" name="Right Arrow 16"/>
          <p:cNvSpPr/>
          <p:nvPr/>
        </p:nvSpPr>
        <p:spPr>
          <a:xfrm>
            <a:off x="3294139" y="3634950"/>
            <a:ext cx="1221300" cy="45485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7079" y="1784248"/>
            <a:ext cx="2867910" cy="4540836"/>
            <a:chOff x="215195" y="2112191"/>
            <a:chExt cx="2867910" cy="4540836"/>
          </a:xfrm>
        </p:grpSpPr>
        <p:sp>
          <p:nvSpPr>
            <p:cNvPr id="18" name="矩形 17"/>
            <p:cNvSpPr/>
            <p:nvPr/>
          </p:nvSpPr>
          <p:spPr>
            <a:xfrm>
              <a:off x="215195" y="2139885"/>
              <a:ext cx="2838870" cy="4513142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26365" y="2112191"/>
              <a:ext cx="2756740" cy="4459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处理器根据不同中断的重要程度设置不同的优先等级。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不同优先级中断的处理原则是：高级中断可以打断低级中断；低级中断不能打断</a:t>
              </a:r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高级中断。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3186159" y="3149055"/>
            <a:ext cx="146009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中断嵌套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234071" y="10781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中断向量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62863" y="1438406"/>
            <a:ext cx="10437495" cy="2033078"/>
            <a:chOff x="762863" y="1697022"/>
            <a:chExt cx="10437495" cy="2033078"/>
          </a:xfrm>
        </p:grpSpPr>
        <p:sp>
          <p:nvSpPr>
            <p:cNvPr id="23" name="矩形 22"/>
            <p:cNvSpPr/>
            <p:nvPr/>
          </p:nvSpPr>
          <p:spPr>
            <a:xfrm>
              <a:off x="762863" y="2077623"/>
              <a:ext cx="10437495" cy="1652477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3828885" y="1697022"/>
              <a:ext cx="4534230" cy="639247"/>
            </a:xfrm>
            <a:prstGeom prst="rect">
              <a:avLst/>
            </a:prstGeom>
            <a:solidFill>
              <a:srgbClr val="E44B46"/>
            </a:solidFill>
            <a:ln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中断服务程序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101687" y="2474939"/>
              <a:ext cx="97598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在响应一个特定中断的时候，处理器会执行一个函数，该函数一般称为中断处理程序或者中断服务程序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62863" y="3663980"/>
            <a:ext cx="10437495" cy="2532243"/>
            <a:chOff x="762863" y="1697022"/>
            <a:chExt cx="10437495" cy="2532243"/>
          </a:xfrm>
        </p:grpSpPr>
        <p:sp>
          <p:nvSpPr>
            <p:cNvPr id="27" name="矩形 26"/>
            <p:cNvSpPr/>
            <p:nvPr/>
          </p:nvSpPr>
          <p:spPr>
            <a:xfrm>
              <a:off x="762863" y="2077624"/>
              <a:ext cx="10437495" cy="2151641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828885" y="1697022"/>
              <a:ext cx="4534230" cy="639247"/>
            </a:xfrm>
            <a:prstGeom prst="rect">
              <a:avLst/>
            </a:prstGeom>
            <a:solidFill>
              <a:srgbClr val="E44B46"/>
            </a:solidFill>
            <a:ln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中断向量和中断向量表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101687" y="2474939"/>
              <a:ext cx="975984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中断向量   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：中断服务程序在内存中的入口地址称为中断向量。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中断向量表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：把系统中所有的中断向量集中起来放到存储器的某一区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                        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域内，这个存放中断向量的存储区就叫中断向量表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30" name="矩形 29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30374" y="1078164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中断向量表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91066" y="2044482"/>
            <a:ext cx="7927070" cy="4061203"/>
            <a:chOff x="762863" y="2077624"/>
            <a:chExt cx="10897470" cy="2237416"/>
          </a:xfrm>
        </p:grpSpPr>
        <p:sp>
          <p:nvSpPr>
            <p:cNvPr id="27" name="矩形 26"/>
            <p:cNvSpPr/>
            <p:nvPr/>
          </p:nvSpPr>
          <p:spPr>
            <a:xfrm>
              <a:off x="762863" y="2077624"/>
              <a:ext cx="10897470" cy="2237416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77886" y="2083503"/>
              <a:ext cx="10267424" cy="215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中断向量表可以类比为存放在代码区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0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地址开始的一个数组，每个数组元素占用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4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个字节。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中断服务函数的地址作为数组元素的内容，数组元素的下标相当于每一个中断的编号。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发生中断时，根据中断编号查询中断向量表，根据表里面的地址找到中断服务函数，从而实现整个中断的响应过程。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21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30" name="矩形 29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0988" y="212677"/>
            <a:ext cx="2729926" cy="6196013"/>
          </a:xfrm>
          <a:prstGeom prst="rect">
            <a:avLst/>
          </a:prstGeom>
        </p:spPr>
      </p:pic>
      <p:sp>
        <p:nvSpPr>
          <p:cNvPr id="34" name="Rectangle 52"/>
          <p:cNvSpPr/>
          <p:nvPr/>
        </p:nvSpPr>
        <p:spPr>
          <a:xfrm>
            <a:off x="4264354" y="1071641"/>
            <a:ext cx="366329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STM32</a:t>
            </a:r>
            <a:r>
              <a:rPr lang="zh-CN" altLang="en-US" sz="2800" b="1" dirty="0">
                <a:latin typeface="+mn-ea"/>
                <a:ea typeface="+mn-ea"/>
              </a:rPr>
              <a:t>的中断向量表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264530" y="10781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启动文件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34" name="Rectangle 52"/>
          <p:cNvSpPr/>
          <p:nvPr/>
        </p:nvSpPr>
        <p:spPr>
          <a:xfrm>
            <a:off x="3939310" y="1071641"/>
            <a:ext cx="431338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startup_stm32f411xe.s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5637" y="1862765"/>
            <a:ext cx="11100845" cy="4832092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Consolas" panose="020B0609020204030204" pitchFamily="49" charset="0"/>
              </a:rPr>
              <a:t>__Vectors       DCD     __initial_sp        ; Top of Stack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            DCD     Reset_Handler       ; Reset Handler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            DCD     NMI_Handler         ; NMI Handler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            DCD     HardFault_Handler   ; Hard Fault Handler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            DCD     MemManage_Handler   ; MPU Fault Handler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            DCD     BusFault_Handler    ; Bus Fault Handler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            DCD     UsageFault_Handler  ; Usage Fault Handler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         . . .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                ; External Interrupts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                </a:t>
            </a:r>
            <a:r>
              <a:rPr lang="en-US" altLang="zh-CN" sz="2400" b="1" dirty="0">
                <a:latin typeface="Consolas" panose="020B0609020204030204" pitchFamily="49" charset="0"/>
              </a:rPr>
              <a:t>. . .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                DCD     EXTI0_IRQHandler    ; EXTI Line0                                             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                DCD     EXTI1_IRQHandler    ; EXTI Line1                                             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                DCD     EXTI2_IRQHandler    ; EXTI Line2                                             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                DCD     EXTI3_IRQHandler    ; EXTI Line3                                             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                DCD     EXTI4_IRQHandler    ; EXTI Line4 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36" name="圆角矩形标注 35"/>
          <p:cNvSpPr/>
          <p:nvPr/>
        </p:nvSpPr>
        <p:spPr>
          <a:xfrm>
            <a:off x="463433" y="4128976"/>
            <a:ext cx="2587742" cy="859808"/>
          </a:xfrm>
          <a:prstGeom prst="wedgeRoundRectCallout">
            <a:avLst>
              <a:gd name="adj1" fmla="val 81406"/>
              <a:gd name="adj2" fmla="val 49286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各个中断源对应的中断服务程序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939309" y="1936727"/>
            <a:ext cx="2738933" cy="46854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2820201" y="1936728"/>
            <a:ext cx="760397" cy="2674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圆角矩形标注 38"/>
          <p:cNvSpPr/>
          <p:nvPr/>
        </p:nvSpPr>
        <p:spPr>
          <a:xfrm>
            <a:off x="1115029" y="2526028"/>
            <a:ext cx="1701117" cy="859808"/>
          </a:xfrm>
          <a:prstGeom prst="wedgeRoundRectCallout">
            <a:avLst>
              <a:gd name="adj1" fmla="val 47998"/>
              <a:gd name="adj2" fmla="val -95125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类似于数组的定义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-7596" y="107816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查找中断向量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22" name="组合 21"/>
          <p:cNvGrpSpPr/>
          <p:nvPr/>
        </p:nvGrpSpPr>
        <p:grpSpPr bwMode="auto">
          <a:xfrm>
            <a:off x="1677697" y="2302880"/>
            <a:ext cx="2587625" cy="3347243"/>
            <a:chOff x="550289" y="2132744"/>
            <a:chExt cx="2588059" cy="3346555"/>
          </a:xfrm>
        </p:grpSpPr>
        <p:sp>
          <p:nvSpPr>
            <p:cNvPr id="23" name="Freeform 50"/>
            <p:cNvSpPr/>
            <p:nvPr/>
          </p:nvSpPr>
          <p:spPr>
            <a:xfrm>
              <a:off x="1064725" y="2132744"/>
              <a:ext cx="2073623" cy="1814139"/>
            </a:xfrm>
            <a:custGeom>
              <a:avLst/>
              <a:gdLst>
                <a:gd name="connsiteX0" fmla="*/ 0 w 1571625"/>
                <a:gd name="connsiteY0" fmla="*/ 206070 h 1373798"/>
                <a:gd name="connsiteX1" fmla="*/ 884726 w 1571625"/>
                <a:gd name="connsiteY1" fmla="*/ 206070 h 1373798"/>
                <a:gd name="connsiteX2" fmla="*/ 884726 w 1571625"/>
                <a:gd name="connsiteY2" fmla="*/ 0 h 1373798"/>
                <a:gd name="connsiteX3" fmla="*/ 1571625 w 1571625"/>
                <a:gd name="connsiteY3" fmla="*/ 686899 h 1373798"/>
                <a:gd name="connsiteX4" fmla="*/ 884726 w 1571625"/>
                <a:gd name="connsiteY4" fmla="*/ 1373798 h 1373798"/>
                <a:gd name="connsiteX5" fmla="*/ 884726 w 1571625"/>
                <a:gd name="connsiteY5" fmla="*/ 1167728 h 1373798"/>
                <a:gd name="connsiteX6" fmla="*/ 0 w 1571625"/>
                <a:gd name="connsiteY6" fmla="*/ 1167728 h 1373798"/>
                <a:gd name="connsiteX7" fmla="*/ 0 w 1571625"/>
                <a:gd name="connsiteY7" fmla="*/ 206070 h 137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1625" h="1373798">
                  <a:moveTo>
                    <a:pt x="0" y="206070"/>
                  </a:moveTo>
                  <a:lnTo>
                    <a:pt x="884726" y="206070"/>
                  </a:lnTo>
                  <a:lnTo>
                    <a:pt x="884726" y="0"/>
                  </a:lnTo>
                  <a:lnTo>
                    <a:pt x="1571625" y="686899"/>
                  </a:lnTo>
                  <a:lnTo>
                    <a:pt x="884726" y="1373798"/>
                  </a:lnTo>
                  <a:lnTo>
                    <a:pt x="884726" y="1167728"/>
                  </a:lnTo>
                  <a:lnTo>
                    <a:pt x="0" y="1167728"/>
                  </a:lnTo>
                  <a:lnTo>
                    <a:pt x="0" y="206070"/>
                  </a:lnTo>
                  <a:close/>
                </a:path>
              </a:pathLst>
            </a:custGeom>
            <a:solidFill>
              <a:srgbClr val="5AAB31"/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84836" tIns="290000" rIns="580548" bIns="290000" spcCol="127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lvl="1" indent="-228600" defTabSz="1066800" fontAlgn="auto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sz="6400" dirty="0">
                  <a:solidFill>
                    <a:prstClr val="white"/>
                  </a:solidFill>
                  <a:cs typeface="+mn-ea"/>
                  <a:sym typeface="Arial" panose="020B0604020202020204" pitchFamily="34" charset="0"/>
                </a:rPr>
                <a:t> </a:t>
              </a:r>
              <a:endParaRPr lang="en-US" sz="6400" dirty="0">
                <a:solidFill>
                  <a:srgbClr val="023759">
                    <a:lumMod val="75000"/>
                  </a:srgbClr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Oval 32"/>
            <p:cNvSpPr>
              <a:spLocks noChangeAspect="1"/>
            </p:cNvSpPr>
            <p:nvPr/>
          </p:nvSpPr>
          <p:spPr>
            <a:xfrm>
              <a:off x="550289" y="2524775"/>
              <a:ext cx="1027284" cy="1028489"/>
            </a:xfrm>
            <a:prstGeom prst="ellipse">
              <a:avLst/>
            </a:prstGeom>
            <a:solidFill>
              <a:srgbClr val="315B2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541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b="1" dirty="0">
                <a:solidFill>
                  <a:prstClr val="white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Oval 33"/>
            <p:cNvSpPr>
              <a:spLocks noChangeAspect="1"/>
            </p:cNvSpPr>
            <p:nvPr/>
          </p:nvSpPr>
          <p:spPr>
            <a:xfrm>
              <a:off x="669371" y="2643814"/>
              <a:ext cx="789120" cy="791999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541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315B2F"/>
                  </a:solidFill>
                  <a:cs typeface="+mn-ea"/>
                  <a:sym typeface="Arial" panose="020B0604020202020204" pitchFamily="34" charset="0"/>
                </a:rPr>
                <a:t>01</a:t>
              </a:r>
              <a:endParaRPr lang="en-US" sz="2400" b="1" dirty="0">
                <a:solidFill>
                  <a:srgbClr val="315B2F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TextBox 13"/>
            <p:cNvSpPr txBox="1"/>
            <p:nvPr/>
          </p:nvSpPr>
          <p:spPr>
            <a:xfrm>
              <a:off x="1710946" y="2872367"/>
              <a:ext cx="1365479" cy="36925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6660"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Arial" panose="020B0604020202020204" pitchFamily="34" charset="0"/>
                </a:rPr>
                <a:t>编号</a:t>
              </a:r>
              <a:endParaRPr lang="en-US" sz="2400" b="1" dirty="0">
                <a:solidFill>
                  <a:schemeClr val="bg1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TextBox 13"/>
            <p:cNvSpPr txBox="1"/>
            <p:nvPr/>
          </p:nvSpPr>
          <p:spPr>
            <a:xfrm>
              <a:off x="936616" y="4248446"/>
              <a:ext cx="2065626" cy="123085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6660"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rgbClr val="445469"/>
                  </a:solidFill>
                  <a:cs typeface="+mn-ea"/>
                  <a:sym typeface="Arial" panose="020B0604020202020204" pitchFamily="34" charset="0"/>
                </a:rPr>
                <a:t>计算机系统对每一个中断源进行编号，这个号码称为中断类型号</a:t>
              </a:r>
              <a:endParaRPr lang="en-US" sz="2000" b="1" dirty="0">
                <a:solidFill>
                  <a:srgbClr val="445469"/>
                </a:solidFill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 bwMode="auto">
          <a:xfrm>
            <a:off x="4509797" y="2302880"/>
            <a:ext cx="2589212" cy="3039468"/>
            <a:chOff x="3383713" y="2132744"/>
            <a:chExt cx="2588184" cy="3038726"/>
          </a:xfrm>
        </p:grpSpPr>
        <p:sp>
          <p:nvSpPr>
            <p:cNvPr id="29" name="Freeform 50"/>
            <p:cNvSpPr/>
            <p:nvPr/>
          </p:nvSpPr>
          <p:spPr>
            <a:xfrm>
              <a:off x="3897859" y="2132744"/>
              <a:ext cx="2074038" cy="1814069"/>
            </a:xfrm>
            <a:custGeom>
              <a:avLst/>
              <a:gdLst>
                <a:gd name="connsiteX0" fmla="*/ 0 w 1571625"/>
                <a:gd name="connsiteY0" fmla="*/ 206070 h 1373798"/>
                <a:gd name="connsiteX1" fmla="*/ 884726 w 1571625"/>
                <a:gd name="connsiteY1" fmla="*/ 206070 h 1373798"/>
                <a:gd name="connsiteX2" fmla="*/ 884726 w 1571625"/>
                <a:gd name="connsiteY2" fmla="*/ 0 h 1373798"/>
                <a:gd name="connsiteX3" fmla="*/ 1571625 w 1571625"/>
                <a:gd name="connsiteY3" fmla="*/ 686899 h 1373798"/>
                <a:gd name="connsiteX4" fmla="*/ 884726 w 1571625"/>
                <a:gd name="connsiteY4" fmla="*/ 1373798 h 1373798"/>
                <a:gd name="connsiteX5" fmla="*/ 884726 w 1571625"/>
                <a:gd name="connsiteY5" fmla="*/ 1167728 h 1373798"/>
                <a:gd name="connsiteX6" fmla="*/ 0 w 1571625"/>
                <a:gd name="connsiteY6" fmla="*/ 1167728 h 1373798"/>
                <a:gd name="connsiteX7" fmla="*/ 0 w 1571625"/>
                <a:gd name="connsiteY7" fmla="*/ 206070 h 137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1625" h="1373798">
                  <a:moveTo>
                    <a:pt x="0" y="206070"/>
                  </a:moveTo>
                  <a:lnTo>
                    <a:pt x="884726" y="206070"/>
                  </a:lnTo>
                  <a:lnTo>
                    <a:pt x="884726" y="0"/>
                  </a:lnTo>
                  <a:lnTo>
                    <a:pt x="1571625" y="686899"/>
                  </a:lnTo>
                  <a:lnTo>
                    <a:pt x="884726" y="1373798"/>
                  </a:lnTo>
                  <a:lnTo>
                    <a:pt x="884726" y="1167728"/>
                  </a:lnTo>
                  <a:lnTo>
                    <a:pt x="0" y="1167728"/>
                  </a:lnTo>
                  <a:lnTo>
                    <a:pt x="0" y="206070"/>
                  </a:lnTo>
                  <a:close/>
                </a:path>
              </a:pathLst>
            </a:custGeom>
            <a:solidFill>
              <a:srgbClr val="5AAB31"/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84836" tIns="290000" rIns="580548" bIns="290000" spcCol="127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lvl="1" indent="-228600" defTabSz="1066800" fontAlgn="auto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sz="6400" dirty="0">
                  <a:solidFill>
                    <a:prstClr val="white"/>
                  </a:solidFill>
                  <a:cs typeface="+mn-ea"/>
                  <a:sym typeface="Arial" panose="020B0604020202020204" pitchFamily="34" charset="0"/>
                </a:rPr>
                <a:t> </a:t>
              </a:r>
              <a:endParaRPr lang="en-US" sz="6400" dirty="0">
                <a:solidFill>
                  <a:srgbClr val="023759">
                    <a:lumMod val="75000"/>
                  </a:srgbClr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Oval 32"/>
            <p:cNvSpPr>
              <a:spLocks noChangeAspect="1"/>
            </p:cNvSpPr>
            <p:nvPr/>
          </p:nvSpPr>
          <p:spPr>
            <a:xfrm>
              <a:off x="3383713" y="2524760"/>
              <a:ext cx="1026704" cy="1028449"/>
            </a:xfrm>
            <a:prstGeom prst="ellipse">
              <a:avLst/>
            </a:prstGeom>
            <a:solidFill>
              <a:srgbClr val="315B2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541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b="1" dirty="0">
                <a:solidFill>
                  <a:prstClr val="white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Oval 33"/>
            <p:cNvSpPr>
              <a:spLocks noChangeAspect="1"/>
            </p:cNvSpPr>
            <p:nvPr/>
          </p:nvSpPr>
          <p:spPr>
            <a:xfrm>
              <a:off x="3502728" y="2643794"/>
              <a:ext cx="790261" cy="791969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541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315B2F"/>
                  </a:solidFill>
                  <a:cs typeface="+mn-ea"/>
                  <a:sym typeface="Arial" panose="020B0604020202020204" pitchFamily="34" charset="0"/>
                </a:rPr>
                <a:t>02</a:t>
              </a:r>
              <a:endParaRPr lang="en-US" sz="2400" b="1" dirty="0">
                <a:solidFill>
                  <a:srgbClr val="315B2F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TextBox 13"/>
            <p:cNvSpPr txBox="1"/>
            <p:nvPr/>
          </p:nvSpPr>
          <p:spPr>
            <a:xfrm>
              <a:off x="3842318" y="4248365"/>
              <a:ext cx="2129579" cy="92310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6660"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rgbClr val="445469"/>
                  </a:solidFill>
                  <a:cs typeface="+mn-ea"/>
                  <a:sym typeface="Arial" panose="020B0604020202020204" pitchFamily="34" charset="0"/>
                </a:rPr>
                <a:t>根据中断类型号，到中断向量表中找到对应的表项</a:t>
              </a:r>
              <a:endParaRPr lang="en-US" sz="2000" b="1" dirty="0">
                <a:solidFill>
                  <a:srgbClr val="445469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4" name="TextBox 13"/>
            <p:cNvSpPr txBox="1"/>
            <p:nvPr/>
          </p:nvSpPr>
          <p:spPr>
            <a:xfrm>
              <a:off x="4583386" y="2872338"/>
              <a:ext cx="1388510" cy="36924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6660"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Arial" panose="020B0604020202020204" pitchFamily="34" charset="0"/>
                </a:rPr>
                <a:t>查表</a:t>
              </a:r>
              <a:endParaRPr lang="en-US" sz="2400" b="1" dirty="0">
                <a:solidFill>
                  <a:schemeClr val="bg1"/>
                </a:solidFill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 bwMode="auto">
          <a:xfrm>
            <a:off x="7405396" y="2302880"/>
            <a:ext cx="2810021" cy="3347242"/>
            <a:chOff x="6277804" y="2132744"/>
            <a:chExt cx="2810492" cy="3346555"/>
          </a:xfrm>
        </p:grpSpPr>
        <p:sp>
          <p:nvSpPr>
            <p:cNvPr id="37" name="Freeform 50"/>
            <p:cNvSpPr/>
            <p:nvPr/>
          </p:nvSpPr>
          <p:spPr>
            <a:xfrm>
              <a:off x="6792240" y="2132744"/>
              <a:ext cx="2073622" cy="1814139"/>
            </a:xfrm>
            <a:custGeom>
              <a:avLst/>
              <a:gdLst>
                <a:gd name="connsiteX0" fmla="*/ 0 w 1571625"/>
                <a:gd name="connsiteY0" fmla="*/ 206070 h 1373798"/>
                <a:gd name="connsiteX1" fmla="*/ 884726 w 1571625"/>
                <a:gd name="connsiteY1" fmla="*/ 206070 h 1373798"/>
                <a:gd name="connsiteX2" fmla="*/ 884726 w 1571625"/>
                <a:gd name="connsiteY2" fmla="*/ 0 h 1373798"/>
                <a:gd name="connsiteX3" fmla="*/ 1571625 w 1571625"/>
                <a:gd name="connsiteY3" fmla="*/ 686899 h 1373798"/>
                <a:gd name="connsiteX4" fmla="*/ 884726 w 1571625"/>
                <a:gd name="connsiteY4" fmla="*/ 1373798 h 1373798"/>
                <a:gd name="connsiteX5" fmla="*/ 884726 w 1571625"/>
                <a:gd name="connsiteY5" fmla="*/ 1167728 h 1373798"/>
                <a:gd name="connsiteX6" fmla="*/ 0 w 1571625"/>
                <a:gd name="connsiteY6" fmla="*/ 1167728 h 1373798"/>
                <a:gd name="connsiteX7" fmla="*/ 0 w 1571625"/>
                <a:gd name="connsiteY7" fmla="*/ 206070 h 137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1625" h="1373798">
                  <a:moveTo>
                    <a:pt x="0" y="206070"/>
                  </a:moveTo>
                  <a:lnTo>
                    <a:pt x="884726" y="206070"/>
                  </a:lnTo>
                  <a:lnTo>
                    <a:pt x="884726" y="0"/>
                  </a:lnTo>
                  <a:lnTo>
                    <a:pt x="1571625" y="686899"/>
                  </a:lnTo>
                  <a:lnTo>
                    <a:pt x="884726" y="1373798"/>
                  </a:lnTo>
                  <a:lnTo>
                    <a:pt x="884726" y="1167728"/>
                  </a:lnTo>
                  <a:lnTo>
                    <a:pt x="0" y="1167728"/>
                  </a:lnTo>
                  <a:lnTo>
                    <a:pt x="0" y="206070"/>
                  </a:lnTo>
                  <a:close/>
                </a:path>
              </a:pathLst>
            </a:custGeom>
            <a:solidFill>
              <a:srgbClr val="5AAB31"/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84836" tIns="290000" rIns="580548" bIns="290000" spcCol="127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lvl="1" indent="-228600" defTabSz="1066800" fontAlgn="auto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sz="6400" dirty="0">
                  <a:solidFill>
                    <a:prstClr val="white"/>
                  </a:solidFill>
                  <a:cs typeface="+mn-ea"/>
                  <a:sym typeface="Arial" panose="020B0604020202020204" pitchFamily="34" charset="0"/>
                </a:rPr>
                <a:t> </a:t>
              </a:r>
              <a:endParaRPr lang="en-US" sz="6400" dirty="0">
                <a:solidFill>
                  <a:srgbClr val="023759">
                    <a:lumMod val="75000"/>
                  </a:srgbClr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Oval 32"/>
            <p:cNvSpPr>
              <a:spLocks noChangeAspect="1"/>
            </p:cNvSpPr>
            <p:nvPr/>
          </p:nvSpPr>
          <p:spPr>
            <a:xfrm>
              <a:off x="6277804" y="2524775"/>
              <a:ext cx="1027284" cy="1028489"/>
            </a:xfrm>
            <a:prstGeom prst="ellipse">
              <a:avLst/>
            </a:prstGeom>
            <a:solidFill>
              <a:srgbClr val="315B2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541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b="1" dirty="0">
                <a:solidFill>
                  <a:prstClr val="white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9" name="Oval 33"/>
            <p:cNvSpPr>
              <a:spLocks noChangeAspect="1"/>
            </p:cNvSpPr>
            <p:nvPr/>
          </p:nvSpPr>
          <p:spPr>
            <a:xfrm>
              <a:off x="6396886" y="2643814"/>
              <a:ext cx="789120" cy="791999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541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315B2F"/>
                  </a:solidFill>
                  <a:cs typeface="+mn-ea"/>
                  <a:sym typeface="Arial" panose="020B0604020202020204" pitchFamily="34" charset="0"/>
                </a:rPr>
                <a:t>03</a:t>
              </a:r>
              <a:endParaRPr lang="en-US" sz="2400" b="1" dirty="0">
                <a:solidFill>
                  <a:srgbClr val="315B2F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TextBox 13"/>
            <p:cNvSpPr txBox="1"/>
            <p:nvPr/>
          </p:nvSpPr>
          <p:spPr>
            <a:xfrm>
              <a:off x="6792240" y="4248446"/>
              <a:ext cx="2296056" cy="123085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6660"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rgbClr val="445469"/>
                  </a:solidFill>
                  <a:cs typeface="+mn-ea"/>
                  <a:sym typeface="Arial" panose="020B0604020202020204" pitchFamily="34" charset="0"/>
                </a:rPr>
                <a:t>取出表项内容，即该中断源对应的中断服务程序地址，进入该程序执行相应操作</a:t>
              </a:r>
              <a:endParaRPr lang="en-US" sz="2000" b="1" dirty="0">
                <a:solidFill>
                  <a:srgbClr val="445469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1" name="TextBox 13"/>
            <p:cNvSpPr txBox="1"/>
            <p:nvPr/>
          </p:nvSpPr>
          <p:spPr>
            <a:xfrm>
              <a:off x="7438460" y="2872367"/>
              <a:ext cx="1317269" cy="36925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6660"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Arial" panose="020B0604020202020204" pitchFamily="34" charset="0"/>
                </a:rPr>
                <a:t>执行</a:t>
              </a:r>
              <a:endParaRPr lang="en-US" sz="2400" b="1" dirty="0">
                <a:solidFill>
                  <a:schemeClr val="bg1"/>
                </a:solidFill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2" name="Rectangle 52"/>
          <p:cNvSpPr/>
          <p:nvPr/>
        </p:nvSpPr>
        <p:spPr>
          <a:xfrm>
            <a:off x="4310372" y="1071641"/>
            <a:ext cx="357125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查找中断向量的过程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2833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-7596" y="107816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中断响应过程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42" name="空心弧 1"/>
          <p:cNvSpPr>
            <a:spLocks noChangeArrowheads="1"/>
          </p:cNvSpPr>
          <p:nvPr/>
        </p:nvSpPr>
        <p:spPr bwMode="auto">
          <a:xfrm rot="5400000">
            <a:off x="8259622" y="1224624"/>
            <a:ext cx="2995084" cy="2995084"/>
          </a:xfrm>
          <a:custGeom>
            <a:avLst/>
            <a:gdLst>
              <a:gd name="T0" fmla="*/ 116803804 w 21600"/>
              <a:gd name="T1" fmla="*/ 0 h 21600"/>
              <a:gd name="T2" fmla="*/ 3655562 w 21600"/>
              <a:gd name="T3" fmla="*/ 114002673 h 21600"/>
              <a:gd name="T4" fmla="*/ 116803804 w 21600"/>
              <a:gd name="T5" fmla="*/ 7256943 h 21600"/>
              <a:gd name="T6" fmla="*/ 229951942 w 21600"/>
              <a:gd name="T7" fmla="*/ 114002673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4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674" y="10550"/>
                </a:moveTo>
                <a:cubicBezTo>
                  <a:pt x="809" y="5055"/>
                  <a:pt x="5303" y="671"/>
                  <a:pt x="10799" y="671"/>
                </a:cubicBezTo>
                <a:cubicBezTo>
                  <a:pt x="16296" y="670"/>
                  <a:pt x="20790" y="5055"/>
                  <a:pt x="20925" y="10550"/>
                </a:cubicBezTo>
                <a:lnTo>
                  <a:pt x="21596" y="10533"/>
                </a:lnTo>
                <a:cubicBezTo>
                  <a:pt x="21452" y="4674"/>
                  <a:pt x="16660" y="0"/>
                  <a:pt x="10800" y="0"/>
                </a:cubicBezTo>
                <a:cubicBezTo>
                  <a:pt x="4939" y="-1"/>
                  <a:pt x="147" y="4674"/>
                  <a:pt x="3" y="10533"/>
                </a:cubicBezTo>
                <a:lnTo>
                  <a:pt x="674" y="10550"/>
                </a:lnTo>
                <a:close/>
              </a:path>
            </a:pathLst>
          </a:custGeom>
          <a:solidFill>
            <a:srgbClr val="414455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lIns="91440" tIns="45720" rIns="91440" bIns="45720" anchor="ctr"/>
          <a:lstStyle/>
          <a:p>
            <a:endParaRPr lang="zh-CN" altLang="en-US"/>
          </a:p>
        </p:txBody>
      </p:sp>
      <p:sp>
        <p:nvSpPr>
          <p:cNvPr id="43" name="右箭头 2"/>
          <p:cNvSpPr>
            <a:spLocks noChangeArrowheads="1"/>
          </p:cNvSpPr>
          <p:nvPr/>
        </p:nvSpPr>
        <p:spPr bwMode="auto">
          <a:xfrm flipH="1">
            <a:off x="6998089" y="4054608"/>
            <a:ext cx="1883833" cy="148167"/>
          </a:xfrm>
          <a:prstGeom prst="rightArrow">
            <a:avLst>
              <a:gd name="adj1" fmla="val 50000"/>
              <a:gd name="adj2" fmla="val 72224"/>
            </a:avLst>
          </a:prstGeom>
          <a:solidFill>
            <a:srgbClr val="414455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4" name="右箭头 3"/>
          <p:cNvSpPr>
            <a:spLocks noChangeArrowheads="1"/>
          </p:cNvSpPr>
          <p:nvPr/>
        </p:nvSpPr>
        <p:spPr bwMode="auto">
          <a:xfrm>
            <a:off x="6913422" y="1273308"/>
            <a:ext cx="1883833" cy="148167"/>
          </a:xfrm>
          <a:prstGeom prst="rightArrow">
            <a:avLst>
              <a:gd name="adj1" fmla="val 50000"/>
              <a:gd name="adj2" fmla="val 72224"/>
            </a:avLst>
          </a:prstGeom>
          <a:solidFill>
            <a:srgbClr val="414455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右箭头 4"/>
          <p:cNvSpPr>
            <a:spLocks noChangeArrowheads="1"/>
          </p:cNvSpPr>
          <p:nvPr/>
        </p:nvSpPr>
        <p:spPr bwMode="auto">
          <a:xfrm flipH="1">
            <a:off x="4038989" y="4065191"/>
            <a:ext cx="1883833" cy="148167"/>
          </a:xfrm>
          <a:prstGeom prst="rightArrow">
            <a:avLst>
              <a:gd name="adj1" fmla="val 50000"/>
              <a:gd name="adj2" fmla="val 72224"/>
            </a:avLst>
          </a:prstGeom>
          <a:solidFill>
            <a:srgbClr val="414455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右箭头 5"/>
          <p:cNvSpPr>
            <a:spLocks noChangeArrowheads="1"/>
          </p:cNvSpPr>
          <p:nvPr/>
        </p:nvSpPr>
        <p:spPr bwMode="auto">
          <a:xfrm>
            <a:off x="3911989" y="1262724"/>
            <a:ext cx="1883833" cy="148167"/>
          </a:xfrm>
          <a:prstGeom prst="rightArrow">
            <a:avLst>
              <a:gd name="adj1" fmla="val 50000"/>
              <a:gd name="adj2" fmla="val 72224"/>
            </a:avLst>
          </a:prstGeom>
          <a:solidFill>
            <a:srgbClr val="414455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7" name="组合 6"/>
          <p:cNvGrpSpPr/>
          <p:nvPr/>
        </p:nvGrpSpPr>
        <p:grpSpPr bwMode="auto">
          <a:xfrm>
            <a:off x="2834606" y="809757"/>
            <a:ext cx="1119716" cy="1119717"/>
            <a:chOff x="0" y="0"/>
            <a:chExt cx="1119836" cy="1119836"/>
          </a:xfrm>
        </p:grpSpPr>
        <p:sp>
          <p:nvSpPr>
            <p:cNvPr id="48" name="椭圆 7"/>
            <p:cNvSpPr>
              <a:spLocks noChangeArrowheads="1"/>
            </p:cNvSpPr>
            <p:nvPr/>
          </p:nvSpPr>
          <p:spPr bwMode="auto">
            <a:xfrm>
              <a:off x="0" y="0"/>
              <a:ext cx="1119836" cy="1119836"/>
            </a:xfrm>
            <a:prstGeom prst="ellipse">
              <a:avLst/>
            </a:prstGeom>
            <a:solidFill>
              <a:srgbClr val="E44B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Freeform 13"/>
            <p:cNvSpPr>
              <a:spLocks noEditPoints="1" noChangeArrowheads="1"/>
            </p:cNvSpPr>
            <p:nvPr/>
          </p:nvSpPr>
          <p:spPr bwMode="auto">
            <a:xfrm>
              <a:off x="242838" y="174772"/>
              <a:ext cx="634159" cy="728727"/>
            </a:xfrm>
            <a:custGeom>
              <a:avLst/>
              <a:gdLst>
                <a:gd name="T0" fmla="*/ 1228865215 w 94"/>
                <a:gd name="T1" fmla="*/ 1775604063 h 108"/>
                <a:gd name="T2" fmla="*/ 2147483646 w 94"/>
                <a:gd name="T3" fmla="*/ 1684546925 h 108"/>
                <a:gd name="T4" fmla="*/ 2147483646 w 94"/>
                <a:gd name="T5" fmla="*/ 2147483646 h 108"/>
                <a:gd name="T6" fmla="*/ 2147483646 w 94"/>
                <a:gd name="T7" fmla="*/ 2147483646 h 108"/>
                <a:gd name="T8" fmla="*/ 2147483646 w 94"/>
                <a:gd name="T9" fmla="*/ 1957718338 h 108"/>
                <a:gd name="T10" fmla="*/ 2147483646 w 94"/>
                <a:gd name="T11" fmla="*/ 1775604063 h 108"/>
                <a:gd name="T12" fmla="*/ 2147483646 w 94"/>
                <a:gd name="T13" fmla="*/ 1456907455 h 108"/>
                <a:gd name="T14" fmla="*/ 2147483646 w 94"/>
                <a:gd name="T15" fmla="*/ 1138210847 h 108"/>
                <a:gd name="T16" fmla="*/ 2147483646 w 94"/>
                <a:gd name="T17" fmla="*/ 865039434 h 108"/>
                <a:gd name="T18" fmla="*/ 2147483646 w 94"/>
                <a:gd name="T19" fmla="*/ 637399963 h 108"/>
                <a:gd name="T20" fmla="*/ 2147483646 w 94"/>
                <a:gd name="T21" fmla="*/ 455285688 h 108"/>
                <a:gd name="T22" fmla="*/ 2147483646 w 94"/>
                <a:gd name="T23" fmla="*/ 318696608 h 108"/>
                <a:gd name="T24" fmla="*/ 2147483646 w 94"/>
                <a:gd name="T25" fmla="*/ 182114275 h 108"/>
                <a:gd name="T26" fmla="*/ 2147483646 w 94"/>
                <a:gd name="T27" fmla="*/ 91057138 h 108"/>
                <a:gd name="T28" fmla="*/ 2147483646 w 94"/>
                <a:gd name="T29" fmla="*/ 45525195 h 108"/>
                <a:gd name="T30" fmla="*/ 2147483646 w 94"/>
                <a:gd name="T31" fmla="*/ 0 h 108"/>
                <a:gd name="T32" fmla="*/ 2048110940 w 94"/>
                <a:gd name="T33" fmla="*/ 0 h 108"/>
                <a:gd name="T34" fmla="*/ 1729513506 w 94"/>
                <a:gd name="T35" fmla="*/ 45525195 h 108"/>
                <a:gd name="T36" fmla="*/ 1410922819 w 94"/>
                <a:gd name="T37" fmla="*/ 91057138 h 108"/>
                <a:gd name="T38" fmla="*/ 1092325385 w 94"/>
                <a:gd name="T39" fmla="*/ 182114275 h 108"/>
                <a:gd name="T40" fmla="*/ 819245725 w 94"/>
                <a:gd name="T41" fmla="*/ 364228551 h 108"/>
                <a:gd name="T42" fmla="*/ 591677093 w 94"/>
                <a:gd name="T43" fmla="*/ 546342826 h 108"/>
                <a:gd name="T44" fmla="*/ 364108462 w 94"/>
                <a:gd name="T45" fmla="*/ 773982296 h 108"/>
                <a:gd name="T46" fmla="*/ 227568632 w 94"/>
                <a:gd name="T47" fmla="*/ 1001621767 h 108"/>
                <a:gd name="T48" fmla="*/ 91028802 w 94"/>
                <a:gd name="T49" fmla="*/ 1274793179 h 108"/>
                <a:gd name="T50" fmla="*/ 0 w 94"/>
                <a:gd name="T51" fmla="*/ 1639021730 h 108"/>
                <a:gd name="T52" fmla="*/ 45511028 w 94"/>
                <a:gd name="T53" fmla="*/ 2147483646 h 108"/>
                <a:gd name="T54" fmla="*/ 1092325385 w 94"/>
                <a:gd name="T55" fmla="*/ 2147483646 h 108"/>
                <a:gd name="T56" fmla="*/ 2147483646 w 94"/>
                <a:gd name="T57" fmla="*/ 2147483646 h 108"/>
                <a:gd name="T58" fmla="*/ 2147483646 w 94"/>
                <a:gd name="T59" fmla="*/ 2147483646 h 108"/>
                <a:gd name="T60" fmla="*/ 2147483646 w 94"/>
                <a:gd name="T61" fmla="*/ 2147483646 h 108"/>
                <a:gd name="T62" fmla="*/ 2147483646 w 94"/>
                <a:gd name="T63" fmla="*/ 2147483646 h 108"/>
                <a:gd name="T64" fmla="*/ 2147483646 w 94"/>
                <a:gd name="T65" fmla="*/ 2147483646 h 108"/>
                <a:gd name="T66" fmla="*/ 2147483646 w 94"/>
                <a:gd name="T67" fmla="*/ 2147483646 h 108"/>
                <a:gd name="T68" fmla="*/ 2147483646 w 94"/>
                <a:gd name="T69" fmla="*/ 2147483646 h 108"/>
                <a:gd name="T70" fmla="*/ 2147483646 w 94"/>
                <a:gd name="T71" fmla="*/ 2147483646 h 108"/>
                <a:gd name="T72" fmla="*/ 2147483646 w 94"/>
                <a:gd name="T73" fmla="*/ 2147483646 h 108"/>
                <a:gd name="T74" fmla="*/ 2147483646 w 94"/>
                <a:gd name="T75" fmla="*/ 2147483646 h 108"/>
                <a:gd name="T76" fmla="*/ 2147483646 w 94"/>
                <a:gd name="T77" fmla="*/ 2147483646 h 108"/>
                <a:gd name="T78" fmla="*/ 2147483646 w 94"/>
                <a:gd name="T79" fmla="*/ 2147483646 h 108"/>
                <a:gd name="T80" fmla="*/ 2147483646 w 94"/>
                <a:gd name="T81" fmla="*/ 2147483646 h 108"/>
                <a:gd name="T82" fmla="*/ 2147483646 w 94"/>
                <a:gd name="T83" fmla="*/ 2147483646 h 108"/>
                <a:gd name="T84" fmla="*/ 2147483646 w 94"/>
                <a:gd name="T85" fmla="*/ 2147483646 h 108"/>
                <a:gd name="T86" fmla="*/ 2147483646 w 94"/>
                <a:gd name="T87" fmla="*/ 2147483646 h 108"/>
                <a:gd name="T88" fmla="*/ 2147483646 w 94"/>
                <a:gd name="T89" fmla="*/ 2147483646 h 108"/>
                <a:gd name="T90" fmla="*/ 2147483646 w 94"/>
                <a:gd name="T91" fmla="*/ 2147483646 h 108"/>
                <a:gd name="T92" fmla="*/ 2147483646 w 94"/>
                <a:gd name="T93" fmla="*/ 2147483646 h 108"/>
                <a:gd name="T94" fmla="*/ 1274376242 w 94"/>
                <a:gd name="T95" fmla="*/ 2094307418 h 108"/>
                <a:gd name="T96" fmla="*/ 1001296583 w 94"/>
                <a:gd name="T97" fmla="*/ 2139832613 h 108"/>
                <a:gd name="T98" fmla="*/ 819245725 w 94"/>
                <a:gd name="T99" fmla="*/ 2003250281 h 108"/>
                <a:gd name="T100" fmla="*/ 773727951 w 94"/>
                <a:gd name="T101" fmla="*/ 1730078868 h 108"/>
                <a:gd name="T102" fmla="*/ 910267781 w 94"/>
                <a:gd name="T103" fmla="*/ 1502439397 h 108"/>
                <a:gd name="T104" fmla="*/ 1183354187 w 94"/>
                <a:gd name="T105" fmla="*/ 1502439397 h 108"/>
                <a:gd name="T106" fmla="*/ 1365405044 w 94"/>
                <a:gd name="T107" fmla="*/ 1639021730 h 108"/>
                <a:gd name="T108" fmla="*/ 1410922819 w 94"/>
                <a:gd name="T109" fmla="*/ 1912193143 h 108"/>
                <a:gd name="T110" fmla="*/ 2147483646 w 94"/>
                <a:gd name="T111" fmla="*/ 1593496535 h 108"/>
                <a:gd name="T112" fmla="*/ 2147483646 w 94"/>
                <a:gd name="T113" fmla="*/ 2003250281 h 108"/>
                <a:gd name="T114" fmla="*/ 2139139742 w 94"/>
                <a:gd name="T115" fmla="*/ 2048775476 h 108"/>
                <a:gd name="T116" fmla="*/ 1729513506 w 94"/>
                <a:gd name="T117" fmla="*/ 1684546925 h 108"/>
                <a:gd name="T118" fmla="*/ 1684002478 w 94"/>
                <a:gd name="T119" fmla="*/ 1138210847 h 108"/>
                <a:gd name="T120" fmla="*/ 2048110940 w 94"/>
                <a:gd name="T121" fmla="*/ 728457101 h 108"/>
                <a:gd name="T122" fmla="*/ 2147483646 w 94"/>
                <a:gd name="T123" fmla="*/ 682925159 h 108"/>
                <a:gd name="T124" fmla="*/ 2147483646 w 94"/>
                <a:gd name="T125" fmla="*/ 1047153709 h 10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94"/>
                <a:gd name="T190" fmla="*/ 0 h 108"/>
                <a:gd name="T191" fmla="*/ 94 w 94"/>
                <a:gd name="T192" fmla="*/ 108 h 10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94" h="108">
                  <a:moveTo>
                    <a:pt x="25" y="43"/>
                  </a:moveTo>
                  <a:cubicBezTo>
                    <a:pt x="23" y="43"/>
                    <a:pt x="22" y="42"/>
                    <a:pt x="21" y="41"/>
                  </a:cubicBezTo>
                  <a:cubicBezTo>
                    <a:pt x="21" y="39"/>
                    <a:pt x="22" y="37"/>
                    <a:pt x="23" y="37"/>
                  </a:cubicBezTo>
                  <a:cubicBezTo>
                    <a:pt x="25" y="36"/>
                    <a:pt x="27" y="37"/>
                    <a:pt x="27" y="39"/>
                  </a:cubicBezTo>
                  <a:cubicBezTo>
                    <a:pt x="28" y="41"/>
                    <a:pt x="27" y="43"/>
                    <a:pt x="25" y="43"/>
                  </a:cubicBezTo>
                  <a:close/>
                  <a:moveTo>
                    <a:pt x="52" y="24"/>
                  </a:moveTo>
                  <a:cubicBezTo>
                    <a:pt x="48" y="24"/>
                    <a:pt x="45" y="26"/>
                    <a:pt x="45" y="30"/>
                  </a:cubicBezTo>
                  <a:cubicBezTo>
                    <a:pt x="45" y="34"/>
                    <a:pt x="48" y="37"/>
                    <a:pt x="52" y="37"/>
                  </a:cubicBezTo>
                  <a:cubicBezTo>
                    <a:pt x="56" y="37"/>
                    <a:pt x="59" y="34"/>
                    <a:pt x="59" y="30"/>
                  </a:cubicBezTo>
                  <a:cubicBezTo>
                    <a:pt x="59" y="26"/>
                    <a:pt x="56" y="24"/>
                    <a:pt x="52" y="24"/>
                  </a:cubicBezTo>
                  <a:close/>
                  <a:moveTo>
                    <a:pt x="94" y="61"/>
                  </a:moveTo>
                  <a:cubicBezTo>
                    <a:pt x="93" y="58"/>
                    <a:pt x="93" y="58"/>
                    <a:pt x="93" y="58"/>
                  </a:cubicBezTo>
                  <a:cubicBezTo>
                    <a:pt x="92" y="56"/>
                    <a:pt x="92" y="56"/>
                    <a:pt x="92" y="56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1" y="52"/>
                    <a:pt x="91" y="52"/>
                    <a:pt x="91" y="52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9" y="43"/>
                    <a:pt x="89" y="43"/>
                    <a:pt x="89" y="43"/>
                  </a:cubicBezTo>
                  <a:cubicBezTo>
                    <a:pt x="89" y="42"/>
                    <a:pt x="89" y="42"/>
                    <a:pt x="89" y="42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7" y="34"/>
                    <a:pt x="87" y="34"/>
                    <a:pt x="87" y="34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4" y="19"/>
                    <a:pt x="84" y="19"/>
                    <a:pt x="84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1" y="15"/>
                    <a:pt x="81" y="15"/>
                    <a:pt x="81" y="15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10"/>
                    <a:pt x="76" y="10"/>
                    <a:pt x="76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1" y="1"/>
                    <a:pt x="61" y="1"/>
                    <a:pt x="61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25" y="83"/>
                    <a:pt x="24" y="97"/>
                    <a:pt x="24" y="97"/>
                  </a:cubicBezTo>
                  <a:cubicBezTo>
                    <a:pt x="24" y="100"/>
                    <a:pt x="24" y="100"/>
                    <a:pt x="24" y="100"/>
                  </a:cubicBezTo>
                  <a:cubicBezTo>
                    <a:pt x="24" y="108"/>
                    <a:pt x="24" y="108"/>
                    <a:pt x="24" y="108"/>
                  </a:cubicBezTo>
                  <a:cubicBezTo>
                    <a:pt x="71" y="108"/>
                    <a:pt x="71" y="108"/>
                    <a:pt x="71" y="108"/>
                  </a:cubicBezTo>
                  <a:cubicBezTo>
                    <a:pt x="71" y="107"/>
                    <a:pt x="71" y="107"/>
                    <a:pt x="71" y="107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102"/>
                    <a:pt x="71" y="102"/>
                    <a:pt x="71" y="102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3" y="91"/>
                    <a:pt x="73" y="91"/>
                    <a:pt x="73" y="91"/>
                  </a:cubicBezTo>
                  <a:cubicBezTo>
                    <a:pt x="73" y="90"/>
                    <a:pt x="73" y="90"/>
                    <a:pt x="73" y="90"/>
                  </a:cubicBezTo>
                  <a:cubicBezTo>
                    <a:pt x="74" y="90"/>
                    <a:pt x="74" y="90"/>
                    <a:pt x="74" y="90"/>
                  </a:cubicBezTo>
                  <a:cubicBezTo>
                    <a:pt x="74" y="90"/>
                    <a:pt x="74" y="90"/>
                    <a:pt x="74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6" y="89"/>
                    <a:pt x="76" y="89"/>
                    <a:pt x="76" y="89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8" y="89"/>
                    <a:pt x="78" y="89"/>
                    <a:pt x="78" y="89"/>
                  </a:cubicBezTo>
                  <a:cubicBezTo>
                    <a:pt x="78" y="89"/>
                    <a:pt x="78" y="89"/>
                    <a:pt x="78" y="89"/>
                  </a:cubicBezTo>
                  <a:cubicBezTo>
                    <a:pt x="79" y="89"/>
                    <a:pt x="79" y="89"/>
                    <a:pt x="79" y="89"/>
                  </a:cubicBezTo>
                  <a:cubicBezTo>
                    <a:pt x="80" y="89"/>
                    <a:pt x="80" y="89"/>
                    <a:pt x="80" y="89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3" y="90"/>
                    <a:pt x="83" y="90"/>
                    <a:pt x="83" y="90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3" y="90"/>
                    <a:pt x="83" y="90"/>
                    <a:pt x="83" y="90"/>
                  </a:cubicBezTo>
                  <a:cubicBezTo>
                    <a:pt x="84" y="90"/>
                    <a:pt x="84" y="90"/>
                    <a:pt x="84" y="90"/>
                  </a:cubicBezTo>
                  <a:cubicBezTo>
                    <a:pt x="85" y="90"/>
                    <a:pt x="85" y="90"/>
                    <a:pt x="85" y="90"/>
                  </a:cubicBezTo>
                  <a:cubicBezTo>
                    <a:pt x="86" y="90"/>
                    <a:pt x="86" y="90"/>
                    <a:pt x="86" y="90"/>
                  </a:cubicBezTo>
                  <a:cubicBezTo>
                    <a:pt x="86" y="90"/>
                    <a:pt x="86" y="90"/>
                    <a:pt x="86" y="90"/>
                  </a:cubicBezTo>
                  <a:cubicBezTo>
                    <a:pt x="87" y="89"/>
                    <a:pt x="87" y="89"/>
                    <a:pt x="87" y="89"/>
                  </a:cubicBezTo>
                  <a:cubicBezTo>
                    <a:pt x="88" y="89"/>
                    <a:pt x="88" y="89"/>
                    <a:pt x="88" y="89"/>
                  </a:cubicBezTo>
                  <a:cubicBezTo>
                    <a:pt x="88" y="88"/>
                    <a:pt x="88" y="88"/>
                    <a:pt x="88" y="88"/>
                  </a:cubicBezTo>
                  <a:cubicBezTo>
                    <a:pt x="89" y="88"/>
                    <a:pt x="89" y="88"/>
                    <a:pt x="89" y="88"/>
                  </a:cubicBezTo>
                  <a:cubicBezTo>
                    <a:pt x="89" y="87"/>
                    <a:pt x="89" y="87"/>
                    <a:pt x="89" y="87"/>
                  </a:cubicBezTo>
                  <a:cubicBezTo>
                    <a:pt x="89" y="86"/>
                    <a:pt x="89" y="86"/>
                    <a:pt x="89" y="86"/>
                  </a:cubicBezTo>
                  <a:cubicBezTo>
                    <a:pt x="89" y="85"/>
                    <a:pt x="89" y="85"/>
                    <a:pt x="89" y="85"/>
                  </a:cubicBezTo>
                  <a:cubicBezTo>
                    <a:pt x="89" y="84"/>
                    <a:pt x="89" y="84"/>
                    <a:pt x="89" y="84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90" y="81"/>
                    <a:pt x="90" y="81"/>
                    <a:pt x="90" y="81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90" y="79"/>
                    <a:pt x="90" y="79"/>
                    <a:pt x="90" y="79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1" y="78"/>
                    <a:pt x="91" y="78"/>
                    <a:pt x="91" y="78"/>
                  </a:cubicBezTo>
                  <a:cubicBezTo>
                    <a:pt x="91" y="78"/>
                    <a:pt x="91" y="78"/>
                    <a:pt x="91" y="78"/>
                  </a:cubicBezTo>
                  <a:cubicBezTo>
                    <a:pt x="91" y="77"/>
                    <a:pt x="91" y="77"/>
                    <a:pt x="91" y="77"/>
                  </a:cubicBezTo>
                  <a:cubicBezTo>
                    <a:pt x="90" y="77"/>
                    <a:pt x="90" y="77"/>
                    <a:pt x="90" y="77"/>
                  </a:cubicBezTo>
                  <a:cubicBezTo>
                    <a:pt x="90" y="76"/>
                    <a:pt x="90" y="76"/>
                    <a:pt x="90" y="76"/>
                  </a:cubicBezTo>
                  <a:cubicBezTo>
                    <a:pt x="90" y="76"/>
                    <a:pt x="90" y="76"/>
                    <a:pt x="90" y="76"/>
                  </a:cubicBezTo>
                  <a:cubicBezTo>
                    <a:pt x="89" y="75"/>
                    <a:pt x="89" y="75"/>
                    <a:pt x="89" y="75"/>
                  </a:cubicBezTo>
                  <a:cubicBezTo>
                    <a:pt x="89" y="75"/>
                    <a:pt x="89" y="75"/>
                    <a:pt x="89" y="75"/>
                  </a:cubicBezTo>
                  <a:cubicBezTo>
                    <a:pt x="88" y="75"/>
                    <a:pt x="88" y="75"/>
                    <a:pt x="88" y="75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90" y="73"/>
                    <a:pt x="90" y="73"/>
                    <a:pt x="90" y="73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0" y="69"/>
                    <a:pt x="90" y="69"/>
                    <a:pt x="90" y="69"/>
                  </a:cubicBezTo>
                  <a:cubicBezTo>
                    <a:pt x="90" y="67"/>
                    <a:pt x="90" y="67"/>
                    <a:pt x="90" y="67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90" y="64"/>
                    <a:pt x="90" y="64"/>
                    <a:pt x="90" y="64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1"/>
                    <a:pt x="94" y="61"/>
                    <a:pt x="94" y="61"/>
                  </a:cubicBezTo>
                  <a:close/>
                  <a:moveTo>
                    <a:pt x="33" y="44"/>
                  </a:move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29" y="46"/>
                    <a:pt x="29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8" y="46"/>
                    <a:pt x="28" y="49"/>
                    <a:pt x="28" y="49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4" y="47"/>
                    <a:pt x="24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20" y="49"/>
                    <a:pt x="20" y="49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8" y="48"/>
                    <a:pt x="19" y="45"/>
                    <a:pt x="19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5" y="43"/>
                    <a:pt x="15" y="43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7" y="39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8"/>
                    <a:pt x="15" y="36"/>
                    <a:pt x="15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9" y="34"/>
                    <a:pt x="19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1" y="31"/>
                    <a:pt x="21" y="31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5" y="32"/>
                    <a:pt x="25" y="32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33"/>
                    <a:pt x="28" y="31"/>
                    <a:pt x="28" y="31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5"/>
                    <a:pt x="30" y="35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3" y="36"/>
                    <a:pt x="33" y="37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2" y="40"/>
                    <a:pt x="32" y="40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3" y="44"/>
                    <a:pt x="33" y="44"/>
                  </a:cubicBezTo>
                  <a:close/>
                  <a:moveTo>
                    <a:pt x="73" y="32"/>
                  </a:moveTo>
                  <a:cubicBezTo>
                    <a:pt x="73" y="32"/>
                    <a:pt x="73" y="32"/>
                    <a:pt x="73" y="32"/>
                  </a:cubicBezTo>
                  <a:cubicBezTo>
                    <a:pt x="73" y="33"/>
                    <a:pt x="67" y="35"/>
                    <a:pt x="67" y="35"/>
                  </a:cubicBezTo>
                  <a:cubicBezTo>
                    <a:pt x="66" y="37"/>
                    <a:pt x="66" y="37"/>
                    <a:pt x="66" y="37"/>
                  </a:cubicBezTo>
                  <a:cubicBezTo>
                    <a:pt x="66" y="37"/>
                    <a:pt x="69" y="43"/>
                    <a:pt x="68" y="43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46"/>
                    <a:pt x="59" y="44"/>
                    <a:pt x="59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5" y="50"/>
                    <a:pt x="54" y="5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49" y="50"/>
                    <a:pt x="47" y="45"/>
                    <a:pt x="47" y="45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5" y="44"/>
                    <a:pt x="39" y="46"/>
                    <a:pt x="39" y="4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38" y="37"/>
                    <a:pt x="38" y="3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1" y="32"/>
                    <a:pt x="31" y="32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7"/>
                    <a:pt x="37" y="25"/>
                    <a:pt x="37" y="25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23"/>
                    <a:pt x="36" y="17"/>
                    <a:pt x="36" y="17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9" y="14"/>
                    <a:pt x="45" y="16"/>
                    <a:pt x="45" y="16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50" y="10"/>
                    <a:pt x="50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5" y="10"/>
                    <a:pt x="57" y="15"/>
                    <a:pt x="57" y="15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6"/>
                    <a:pt x="65" y="14"/>
                    <a:pt x="65" y="14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18"/>
                    <a:pt x="66" y="23"/>
                    <a:pt x="66" y="23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7" y="25"/>
                    <a:pt x="73" y="28"/>
                    <a:pt x="73" y="28"/>
                  </a:cubicBezTo>
                  <a:cubicBezTo>
                    <a:pt x="73" y="32"/>
                    <a:pt x="73" y="32"/>
                    <a:pt x="73" y="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" name="组合 9"/>
          <p:cNvGrpSpPr/>
          <p:nvPr/>
        </p:nvGrpSpPr>
        <p:grpSpPr bwMode="auto">
          <a:xfrm>
            <a:off x="2853655" y="3504275"/>
            <a:ext cx="1119717" cy="1119716"/>
            <a:chOff x="0" y="0"/>
            <a:chExt cx="1119836" cy="1119836"/>
          </a:xfrm>
        </p:grpSpPr>
        <p:sp>
          <p:nvSpPr>
            <p:cNvPr id="51" name="椭圆 10"/>
            <p:cNvSpPr>
              <a:spLocks noChangeArrowheads="1"/>
            </p:cNvSpPr>
            <p:nvPr/>
          </p:nvSpPr>
          <p:spPr bwMode="auto">
            <a:xfrm>
              <a:off x="0" y="0"/>
              <a:ext cx="1119836" cy="1119836"/>
            </a:xfrm>
            <a:prstGeom prst="ellipse">
              <a:avLst/>
            </a:prstGeom>
            <a:solidFill>
              <a:srgbClr val="E44B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Freeform 5"/>
            <p:cNvSpPr>
              <a:spLocks noEditPoints="1" noChangeArrowheads="1"/>
            </p:cNvSpPr>
            <p:nvPr/>
          </p:nvSpPr>
          <p:spPr bwMode="auto">
            <a:xfrm>
              <a:off x="230774" y="261916"/>
              <a:ext cx="658288" cy="596004"/>
            </a:xfrm>
            <a:custGeom>
              <a:avLst/>
              <a:gdLst>
                <a:gd name="T0" fmla="*/ 365717841 w 288"/>
                <a:gd name="T1" fmla="*/ 504455493 h 260"/>
                <a:gd name="T2" fmla="*/ 365717841 w 288"/>
                <a:gd name="T3" fmla="*/ 399361649 h 260"/>
                <a:gd name="T4" fmla="*/ 365717841 w 288"/>
                <a:gd name="T5" fmla="*/ 378341047 h 260"/>
                <a:gd name="T6" fmla="*/ 726208236 w 288"/>
                <a:gd name="T7" fmla="*/ 278501208 h 260"/>
                <a:gd name="T8" fmla="*/ 208981297 w 288"/>
                <a:gd name="T9" fmla="*/ 273247203 h 260"/>
                <a:gd name="T10" fmla="*/ 245552853 w 288"/>
                <a:gd name="T11" fmla="*/ 304775815 h 260"/>
                <a:gd name="T12" fmla="*/ 308247927 w 288"/>
                <a:gd name="T13" fmla="*/ 283755212 h 260"/>
                <a:gd name="T14" fmla="*/ 365717841 w 288"/>
                <a:gd name="T15" fmla="*/ 530730100 h 260"/>
                <a:gd name="T16" fmla="*/ 365717841 w 288"/>
                <a:gd name="T17" fmla="*/ 641077949 h 260"/>
                <a:gd name="T18" fmla="*/ 365717841 w 288"/>
                <a:gd name="T19" fmla="*/ 530730100 h 260"/>
                <a:gd name="T20" fmla="*/ 0 w 288"/>
                <a:gd name="T21" fmla="*/ 672606560 h 260"/>
                <a:gd name="T22" fmla="*/ 726208236 w 288"/>
                <a:gd name="T23" fmla="*/ 567512716 h 260"/>
                <a:gd name="T24" fmla="*/ 0 w 288"/>
                <a:gd name="T25" fmla="*/ 698881167 h 260"/>
                <a:gd name="T26" fmla="*/ 726208236 w 288"/>
                <a:gd name="T27" fmla="*/ 809231308 h 260"/>
                <a:gd name="T28" fmla="*/ 365717841 w 288"/>
                <a:gd name="T29" fmla="*/ 930089458 h 260"/>
                <a:gd name="T30" fmla="*/ 365717841 w 288"/>
                <a:gd name="T31" fmla="*/ 1035185594 h 260"/>
                <a:gd name="T32" fmla="*/ 365717841 w 288"/>
                <a:gd name="T33" fmla="*/ 930089458 h 260"/>
                <a:gd name="T34" fmla="*/ 0 w 288"/>
                <a:gd name="T35" fmla="*/ 1066714205 h 260"/>
                <a:gd name="T36" fmla="*/ 726208236 w 288"/>
                <a:gd name="T37" fmla="*/ 961618069 h 260"/>
                <a:gd name="T38" fmla="*/ 783678150 w 288"/>
                <a:gd name="T39" fmla="*/ 304775815 h 260"/>
                <a:gd name="T40" fmla="*/ 1347926966 w 288"/>
                <a:gd name="T41" fmla="*/ 225954286 h 260"/>
                <a:gd name="T42" fmla="*/ 616493569 w 288"/>
                <a:gd name="T43" fmla="*/ 120858150 h 260"/>
                <a:gd name="T44" fmla="*/ 778455274 w 288"/>
                <a:gd name="T45" fmla="*/ 304775815 h 260"/>
                <a:gd name="T46" fmla="*/ 1347926966 w 288"/>
                <a:gd name="T47" fmla="*/ 99839839 h 260"/>
                <a:gd name="T48" fmla="*/ 809801669 w 288"/>
                <a:gd name="T49" fmla="*/ 105093844 h 260"/>
                <a:gd name="T50" fmla="*/ 1128497633 w 288"/>
                <a:gd name="T51" fmla="*/ 105093844 h 260"/>
                <a:gd name="T52" fmla="*/ 1044904200 w 288"/>
                <a:gd name="T53" fmla="*/ 68311228 h 260"/>
                <a:gd name="T54" fmla="*/ 820249705 w 288"/>
                <a:gd name="T55" fmla="*/ 78821529 h 260"/>
                <a:gd name="T56" fmla="*/ 1347926966 w 288"/>
                <a:gd name="T57" fmla="*/ 357322737 h 260"/>
                <a:gd name="T58" fmla="*/ 783678150 w 288"/>
                <a:gd name="T59" fmla="*/ 336304426 h 260"/>
                <a:gd name="T60" fmla="*/ 783678150 w 288"/>
                <a:gd name="T61" fmla="*/ 441398270 h 260"/>
                <a:gd name="T62" fmla="*/ 783678150 w 288"/>
                <a:gd name="T63" fmla="*/ 572766721 h 260"/>
                <a:gd name="T64" fmla="*/ 1347926966 w 288"/>
                <a:gd name="T65" fmla="*/ 493945192 h 260"/>
                <a:gd name="T66" fmla="*/ 783678150 w 288"/>
                <a:gd name="T67" fmla="*/ 472926882 h 260"/>
                <a:gd name="T68" fmla="*/ 783678150 w 288"/>
                <a:gd name="T69" fmla="*/ 572766721 h 260"/>
                <a:gd name="T70" fmla="*/ 1196415583 w 288"/>
                <a:gd name="T71" fmla="*/ 599041328 h 260"/>
                <a:gd name="T72" fmla="*/ 924741497 w 288"/>
                <a:gd name="T73" fmla="*/ 620059638 h 260"/>
                <a:gd name="T74" fmla="*/ 1138945669 w 288"/>
                <a:gd name="T75" fmla="*/ 861778230 h 260"/>
                <a:gd name="T76" fmla="*/ 1138945669 w 288"/>
                <a:gd name="T77" fmla="*/ 966872074 h 260"/>
                <a:gd name="T78" fmla="*/ 1138945669 w 288"/>
                <a:gd name="T79" fmla="*/ 861778230 h 260"/>
                <a:gd name="T80" fmla="*/ 1138945669 w 288"/>
                <a:gd name="T81" fmla="*/ 840759920 h 260"/>
                <a:gd name="T82" fmla="*/ 1196415583 w 288"/>
                <a:gd name="T83" fmla="*/ 735663783 h 260"/>
                <a:gd name="T84" fmla="*/ 1285234177 w 288"/>
                <a:gd name="T85" fmla="*/ 767192395 h 260"/>
                <a:gd name="T86" fmla="*/ 1259110658 w 288"/>
                <a:gd name="T87" fmla="*/ 719899478 h 260"/>
                <a:gd name="T88" fmla="*/ 1196415583 w 288"/>
                <a:gd name="T89" fmla="*/ 719899478 h 260"/>
                <a:gd name="T90" fmla="*/ 778455274 w 288"/>
                <a:gd name="T91" fmla="*/ 893306841 h 260"/>
                <a:gd name="T92" fmla="*/ 1504663510 w 288"/>
                <a:gd name="T93" fmla="*/ 998400685 h 260"/>
                <a:gd name="T94" fmla="*/ 1138945669 w 288"/>
                <a:gd name="T95" fmla="*/ 1129769136 h 260"/>
                <a:gd name="T96" fmla="*/ 1138945669 w 288"/>
                <a:gd name="T97" fmla="*/ 1234865272 h 260"/>
                <a:gd name="T98" fmla="*/ 1138945669 w 288"/>
                <a:gd name="T99" fmla="*/ 1129769136 h 260"/>
                <a:gd name="T100" fmla="*/ 778455274 w 288"/>
                <a:gd name="T101" fmla="*/ 1266393884 h 260"/>
                <a:gd name="T102" fmla="*/ 1504663510 w 288"/>
                <a:gd name="T103" fmla="*/ 1161297748 h 26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88"/>
                <a:gd name="T157" fmla="*/ 0 h 260"/>
                <a:gd name="T158" fmla="*/ 288 w 288"/>
                <a:gd name="T159" fmla="*/ 260 h 260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88" h="260">
                  <a:moveTo>
                    <a:pt x="139" y="57"/>
                  </a:moveTo>
                  <a:cubicBezTo>
                    <a:pt x="139" y="77"/>
                    <a:pt x="139" y="77"/>
                    <a:pt x="139" y="77"/>
                  </a:cubicBezTo>
                  <a:cubicBezTo>
                    <a:pt x="139" y="88"/>
                    <a:pt x="108" y="96"/>
                    <a:pt x="70" y="96"/>
                  </a:cubicBezTo>
                  <a:cubicBezTo>
                    <a:pt x="31" y="96"/>
                    <a:pt x="0" y="88"/>
                    <a:pt x="0" y="7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7"/>
                    <a:pt x="31" y="76"/>
                    <a:pt x="70" y="76"/>
                  </a:cubicBezTo>
                  <a:cubicBezTo>
                    <a:pt x="108" y="76"/>
                    <a:pt x="139" y="67"/>
                    <a:pt x="139" y="57"/>
                  </a:cubicBezTo>
                  <a:close/>
                  <a:moveTo>
                    <a:pt x="139" y="53"/>
                  </a:moveTo>
                  <a:cubicBezTo>
                    <a:pt x="139" y="64"/>
                    <a:pt x="108" y="72"/>
                    <a:pt x="70" y="72"/>
                  </a:cubicBezTo>
                  <a:cubicBezTo>
                    <a:pt x="31" y="72"/>
                    <a:pt x="0" y="64"/>
                    <a:pt x="0" y="53"/>
                  </a:cubicBezTo>
                  <a:cubicBezTo>
                    <a:pt x="0" y="43"/>
                    <a:pt x="31" y="34"/>
                    <a:pt x="70" y="34"/>
                  </a:cubicBezTo>
                  <a:cubicBezTo>
                    <a:pt x="108" y="34"/>
                    <a:pt x="139" y="43"/>
                    <a:pt x="139" y="53"/>
                  </a:cubicBezTo>
                  <a:close/>
                  <a:moveTo>
                    <a:pt x="103" y="52"/>
                  </a:moveTo>
                  <a:cubicBezTo>
                    <a:pt x="42" y="48"/>
                    <a:pt x="42" y="48"/>
                    <a:pt x="42" y="48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5" y="52"/>
                    <a:pt x="49" y="53"/>
                    <a:pt x="47" y="57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9" y="57"/>
                    <a:pt x="59" y="57"/>
                    <a:pt x="59" y="57"/>
                  </a:cubicBezTo>
                  <a:cubicBezTo>
                    <a:pt x="60" y="56"/>
                    <a:pt x="60" y="55"/>
                    <a:pt x="59" y="54"/>
                  </a:cubicBezTo>
                  <a:cubicBezTo>
                    <a:pt x="101" y="56"/>
                    <a:pt x="101" y="56"/>
                    <a:pt x="101" y="56"/>
                  </a:cubicBezTo>
                  <a:lnTo>
                    <a:pt x="103" y="52"/>
                  </a:lnTo>
                  <a:close/>
                  <a:moveTo>
                    <a:pt x="70" y="101"/>
                  </a:moveTo>
                  <a:cubicBezTo>
                    <a:pt x="31" y="101"/>
                    <a:pt x="0" y="93"/>
                    <a:pt x="0" y="82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13"/>
                    <a:pt x="31" y="122"/>
                    <a:pt x="70" y="122"/>
                  </a:cubicBezTo>
                  <a:cubicBezTo>
                    <a:pt x="108" y="122"/>
                    <a:pt x="139" y="113"/>
                    <a:pt x="139" y="103"/>
                  </a:cubicBezTo>
                  <a:cubicBezTo>
                    <a:pt x="139" y="82"/>
                    <a:pt x="139" y="82"/>
                    <a:pt x="139" y="82"/>
                  </a:cubicBezTo>
                  <a:cubicBezTo>
                    <a:pt x="139" y="93"/>
                    <a:pt x="108" y="101"/>
                    <a:pt x="70" y="101"/>
                  </a:cubicBezTo>
                  <a:close/>
                  <a:moveTo>
                    <a:pt x="70" y="127"/>
                  </a:moveTo>
                  <a:cubicBezTo>
                    <a:pt x="31" y="127"/>
                    <a:pt x="0" y="119"/>
                    <a:pt x="0" y="10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9"/>
                    <a:pt x="31" y="147"/>
                    <a:pt x="70" y="147"/>
                  </a:cubicBezTo>
                  <a:cubicBezTo>
                    <a:pt x="108" y="147"/>
                    <a:pt x="139" y="139"/>
                    <a:pt x="139" y="128"/>
                  </a:cubicBezTo>
                  <a:cubicBezTo>
                    <a:pt x="139" y="108"/>
                    <a:pt x="139" y="108"/>
                    <a:pt x="139" y="108"/>
                  </a:cubicBezTo>
                  <a:cubicBezTo>
                    <a:pt x="139" y="119"/>
                    <a:pt x="108" y="127"/>
                    <a:pt x="70" y="127"/>
                  </a:cubicBezTo>
                  <a:close/>
                  <a:moveTo>
                    <a:pt x="70" y="152"/>
                  </a:moveTo>
                  <a:cubicBezTo>
                    <a:pt x="31" y="152"/>
                    <a:pt x="0" y="144"/>
                    <a:pt x="0" y="133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64"/>
                    <a:pt x="31" y="173"/>
                    <a:pt x="70" y="173"/>
                  </a:cubicBezTo>
                  <a:cubicBezTo>
                    <a:pt x="108" y="173"/>
                    <a:pt x="139" y="164"/>
                    <a:pt x="139" y="154"/>
                  </a:cubicBezTo>
                  <a:cubicBezTo>
                    <a:pt x="139" y="133"/>
                    <a:pt x="139" y="133"/>
                    <a:pt x="139" y="133"/>
                  </a:cubicBezTo>
                  <a:cubicBezTo>
                    <a:pt x="139" y="144"/>
                    <a:pt x="108" y="152"/>
                    <a:pt x="70" y="152"/>
                  </a:cubicBezTo>
                  <a:close/>
                  <a:moveTo>
                    <a:pt x="70" y="177"/>
                  </a:moveTo>
                  <a:cubicBezTo>
                    <a:pt x="31" y="177"/>
                    <a:pt x="0" y="169"/>
                    <a:pt x="0" y="15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9"/>
                    <a:pt x="31" y="197"/>
                    <a:pt x="70" y="197"/>
                  </a:cubicBezTo>
                  <a:cubicBezTo>
                    <a:pt x="108" y="197"/>
                    <a:pt x="139" y="189"/>
                    <a:pt x="139" y="178"/>
                  </a:cubicBezTo>
                  <a:cubicBezTo>
                    <a:pt x="139" y="158"/>
                    <a:pt x="139" y="158"/>
                    <a:pt x="139" y="158"/>
                  </a:cubicBezTo>
                  <a:cubicBezTo>
                    <a:pt x="139" y="169"/>
                    <a:pt x="108" y="177"/>
                    <a:pt x="70" y="177"/>
                  </a:cubicBezTo>
                  <a:close/>
                  <a:moveTo>
                    <a:pt x="70" y="202"/>
                  </a:moveTo>
                  <a:cubicBezTo>
                    <a:pt x="31" y="202"/>
                    <a:pt x="0" y="193"/>
                    <a:pt x="0" y="183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14"/>
                    <a:pt x="31" y="222"/>
                    <a:pt x="70" y="222"/>
                  </a:cubicBezTo>
                  <a:cubicBezTo>
                    <a:pt x="108" y="222"/>
                    <a:pt x="139" y="214"/>
                    <a:pt x="139" y="203"/>
                  </a:cubicBezTo>
                  <a:cubicBezTo>
                    <a:pt x="139" y="183"/>
                    <a:pt x="139" y="183"/>
                    <a:pt x="139" y="183"/>
                  </a:cubicBezTo>
                  <a:cubicBezTo>
                    <a:pt x="139" y="193"/>
                    <a:pt x="108" y="202"/>
                    <a:pt x="70" y="202"/>
                  </a:cubicBezTo>
                  <a:close/>
                  <a:moveTo>
                    <a:pt x="149" y="58"/>
                  </a:moveTo>
                  <a:cubicBezTo>
                    <a:pt x="150" y="58"/>
                    <a:pt x="150" y="58"/>
                    <a:pt x="150" y="58"/>
                  </a:cubicBezTo>
                  <a:cubicBezTo>
                    <a:pt x="150" y="59"/>
                    <a:pt x="150" y="59"/>
                    <a:pt x="150" y="59"/>
                  </a:cubicBezTo>
                  <a:cubicBezTo>
                    <a:pt x="161" y="61"/>
                    <a:pt x="174" y="62"/>
                    <a:pt x="188" y="62"/>
                  </a:cubicBezTo>
                  <a:cubicBezTo>
                    <a:pt x="227" y="62"/>
                    <a:pt x="258" y="53"/>
                    <a:pt x="258" y="43"/>
                  </a:cubicBezTo>
                  <a:cubicBezTo>
                    <a:pt x="258" y="23"/>
                    <a:pt x="258" y="23"/>
                    <a:pt x="258" y="23"/>
                  </a:cubicBezTo>
                  <a:cubicBezTo>
                    <a:pt x="258" y="33"/>
                    <a:pt x="227" y="42"/>
                    <a:pt x="188" y="42"/>
                  </a:cubicBezTo>
                  <a:cubicBezTo>
                    <a:pt x="150" y="42"/>
                    <a:pt x="118" y="33"/>
                    <a:pt x="118" y="23"/>
                  </a:cubicBezTo>
                  <a:cubicBezTo>
                    <a:pt x="118" y="30"/>
                    <a:pt x="118" y="30"/>
                    <a:pt x="118" y="30"/>
                  </a:cubicBezTo>
                  <a:cubicBezTo>
                    <a:pt x="135" y="34"/>
                    <a:pt x="150" y="41"/>
                    <a:pt x="150" y="54"/>
                  </a:cubicBezTo>
                  <a:cubicBezTo>
                    <a:pt x="150" y="56"/>
                    <a:pt x="149" y="57"/>
                    <a:pt x="149" y="58"/>
                  </a:cubicBezTo>
                  <a:close/>
                  <a:moveTo>
                    <a:pt x="118" y="19"/>
                  </a:moveTo>
                  <a:cubicBezTo>
                    <a:pt x="118" y="8"/>
                    <a:pt x="150" y="0"/>
                    <a:pt x="188" y="0"/>
                  </a:cubicBezTo>
                  <a:cubicBezTo>
                    <a:pt x="227" y="0"/>
                    <a:pt x="258" y="8"/>
                    <a:pt x="258" y="19"/>
                  </a:cubicBezTo>
                  <a:cubicBezTo>
                    <a:pt x="258" y="29"/>
                    <a:pt x="227" y="38"/>
                    <a:pt x="188" y="38"/>
                  </a:cubicBezTo>
                  <a:cubicBezTo>
                    <a:pt x="150" y="38"/>
                    <a:pt x="118" y="29"/>
                    <a:pt x="118" y="19"/>
                  </a:cubicBezTo>
                  <a:close/>
                  <a:moveTo>
                    <a:pt x="155" y="20"/>
                  </a:moveTo>
                  <a:cubicBezTo>
                    <a:pt x="216" y="24"/>
                    <a:pt x="216" y="24"/>
                    <a:pt x="216" y="24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16" y="20"/>
                    <a:pt x="216" y="20"/>
                    <a:pt x="216" y="20"/>
                  </a:cubicBezTo>
                  <a:cubicBezTo>
                    <a:pt x="213" y="20"/>
                    <a:pt x="209" y="19"/>
                    <a:pt x="210" y="15"/>
                  </a:cubicBezTo>
                  <a:cubicBezTo>
                    <a:pt x="211" y="14"/>
                    <a:pt x="211" y="14"/>
                    <a:pt x="211" y="14"/>
                  </a:cubicBezTo>
                  <a:cubicBezTo>
                    <a:pt x="200" y="13"/>
                    <a:pt x="200" y="13"/>
                    <a:pt x="200" y="13"/>
                  </a:cubicBezTo>
                  <a:cubicBezTo>
                    <a:pt x="199" y="15"/>
                    <a:pt x="199" y="15"/>
                    <a:pt x="199" y="15"/>
                  </a:cubicBezTo>
                  <a:cubicBezTo>
                    <a:pt x="198" y="16"/>
                    <a:pt x="198" y="17"/>
                    <a:pt x="198" y="18"/>
                  </a:cubicBezTo>
                  <a:cubicBezTo>
                    <a:pt x="157" y="15"/>
                    <a:pt x="157" y="15"/>
                    <a:pt x="157" y="15"/>
                  </a:cubicBezTo>
                  <a:lnTo>
                    <a:pt x="155" y="20"/>
                  </a:lnTo>
                  <a:close/>
                  <a:moveTo>
                    <a:pt x="188" y="87"/>
                  </a:moveTo>
                  <a:cubicBezTo>
                    <a:pt x="227" y="87"/>
                    <a:pt x="258" y="79"/>
                    <a:pt x="258" y="68"/>
                  </a:cubicBezTo>
                  <a:cubicBezTo>
                    <a:pt x="258" y="48"/>
                    <a:pt x="258" y="48"/>
                    <a:pt x="258" y="48"/>
                  </a:cubicBezTo>
                  <a:cubicBezTo>
                    <a:pt x="258" y="59"/>
                    <a:pt x="227" y="67"/>
                    <a:pt x="188" y="67"/>
                  </a:cubicBezTo>
                  <a:cubicBezTo>
                    <a:pt x="174" y="67"/>
                    <a:pt x="161" y="66"/>
                    <a:pt x="150" y="64"/>
                  </a:cubicBezTo>
                  <a:cubicBezTo>
                    <a:pt x="150" y="79"/>
                    <a:pt x="150" y="79"/>
                    <a:pt x="150" y="79"/>
                  </a:cubicBezTo>
                  <a:cubicBezTo>
                    <a:pt x="150" y="80"/>
                    <a:pt x="149" y="82"/>
                    <a:pt x="149" y="84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61" y="86"/>
                    <a:pt x="174" y="87"/>
                    <a:pt x="188" y="87"/>
                  </a:cubicBezTo>
                  <a:close/>
                  <a:moveTo>
                    <a:pt x="150" y="109"/>
                  </a:moveTo>
                  <a:cubicBezTo>
                    <a:pt x="150" y="110"/>
                    <a:pt x="150" y="110"/>
                    <a:pt x="150" y="110"/>
                  </a:cubicBezTo>
                  <a:cubicBezTo>
                    <a:pt x="161" y="112"/>
                    <a:pt x="174" y="113"/>
                    <a:pt x="188" y="113"/>
                  </a:cubicBezTo>
                  <a:cubicBezTo>
                    <a:pt x="227" y="113"/>
                    <a:pt x="258" y="105"/>
                    <a:pt x="258" y="94"/>
                  </a:cubicBezTo>
                  <a:cubicBezTo>
                    <a:pt x="258" y="74"/>
                    <a:pt x="258" y="74"/>
                    <a:pt x="258" y="74"/>
                  </a:cubicBezTo>
                  <a:cubicBezTo>
                    <a:pt x="258" y="84"/>
                    <a:pt x="227" y="93"/>
                    <a:pt x="188" y="93"/>
                  </a:cubicBezTo>
                  <a:cubicBezTo>
                    <a:pt x="174" y="93"/>
                    <a:pt x="161" y="92"/>
                    <a:pt x="150" y="90"/>
                  </a:cubicBezTo>
                  <a:cubicBezTo>
                    <a:pt x="150" y="104"/>
                    <a:pt x="150" y="104"/>
                    <a:pt x="150" y="104"/>
                  </a:cubicBezTo>
                  <a:cubicBezTo>
                    <a:pt x="150" y="106"/>
                    <a:pt x="149" y="108"/>
                    <a:pt x="149" y="109"/>
                  </a:cubicBezTo>
                  <a:lnTo>
                    <a:pt x="150" y="109"/>
                  </a:lnTo>
                  <a:close/>
                  <a:moveTo>
                    <a:pt x="258" y="117"/>
                  </a:moveTo>
                  <a:cubicBezTo>
                    <a:pt x="258" y="99"/>
                    <a:pt x="258" y="99"/>
                    <a:pt x="258" y="99"/>
                  </a:cubicBezTo>
                  <a:cubicBezTo>
                    <a:pt x="258" y="105"/>
                    <a:pt x="247" y="111"/>
                    <a:pt x="229" y="114"/>
                  </a:cubicBezTo>
                  <a:cubicBezTo>
                    <a:pt x="237" y="115"/>
                    <a:pt x="247" y="115"/>
                    <a:pt x="258" y="117"/>
                  </a:cubicBezTo>
                  <a:close/>
                  <a:moveTo>
                    <a:pt x="150" y="127"/>
                  </a:moveTo>
                  <a:cubicBezTo>
                    <a:pt x="156" y="123"/>
                    <a:pt x="166" y="120"/>
                    <a:pt x="177" y="118"/>
                  </a:cubicBezTo>
                  <a:cubicBezTo>
                    <a:pt x="167" y="117"/>
                    <a:pt x="158" y="116"/>
                    <a:pt x="150" y="115"/>
                  </a:cubicBezTo>
                  <a:lnTo>
                    <a:pt x="150" y="127"/>
                  </a:lnTo>
                  <a:close/>
                  <a:moveTo>
                    <a:pt x="218" y="164"/>
                  </a:moveTo>
                  <a:cubicBezTo>
                    <a:pt x="180" y="164"/>
                    <a:pt x="149" y="155"/>
                    <a:pt x="149" y="145"/>
                  </a:cubicBezTo>
                  <a:cubicBezTo>
                    <a:pt x="149" y="165"/>
                    <a:pt x="149" y="165"/>
                    <a:pt x="149" y="165"/>
                  </a:cubicBezTo>
                  <a:cubicBezTo>
                    <a:pt x="149" y="175"/>
                    <a:pt x="180" y="184"/>
                    <a:pt x="218" y="184"/>
                  </a:cubicBezTo>
                  <a:cubicBezTo>
                    <a:pt x="257" y="184"/>
                    <a:pt x="288" y="175"/>
                    <a:pt x="288" y="165"/>
                  </a:cubicBezTo>
                  <a:cubicBezTo>
                    <a:pt x="288" y="145"/>
                    <a:pt x="288" y="145"/>
                    <a:pt x="288" y="145"/>
                  </a:cubicBezTo>
                  <a:cubicBezTo>
                    <a:pt x="288" y="155"/>
                    <a:pt x="257" y="164"/>
                    <a:pt x="218" y="164"/>
                  </a:cubicBezTo>
                  <a:close/>
                  <a:moveTo>
                    <a:pt x="218" y="122"/>
                  </a:moveTo>
                  <a:cubicBezTo>
                    <a:pt x="257" y="122"/>
                    <a:pt x="288" y="130"/>
                    <a:pt x="288" y="141"/>
                  </a:cubicBezTo>
                  <a:cubicBezTo>
                    <a:pt x="288" y="151"/>
                    <a:pt x="257" y="160"/>
                    <a:pt x="218" y="160"/>
                  </a:cubicBezTo>
                  <a:cubicBezTo>
                    <a:pt x="180" y="160"/>
                    <a:pt x="149" y="151"/>
                    <a:pt x="149" y="141"/>
                  </a:cubicBezTo>
                  <a:cubicBezTo>
                    <a:pt x="149" y="130"/>
                    <a:pt x="180" y="122"/>
                    <a:pt x="218" y="122"/>
                  </a:cubicBezTo>
                  <a:close/>
                  <a:moveTo>
                    <a:pt x="229" y="140"/>
                  </a:moveTo>
                  <a:cubicBezTo>
                    <a:pt x="187" y="137"/>
                    <a:pt x="187" y="137"/>
                    <a:pt x="187" y="137"/>
                  </a:cubicBezTo>
                  <a:cubicBezTo>
                    <a:pt x="185" y="142"/>
                    <a:pt x="185" y="142"/>
                    <a:pt x="185" y="142"/>
                  </a:cubicBezTo>
                  <a:cubicBezTo>
                    <a:pt x="246" y="146"/>
                    <a:pt x="246" y="146"/>
                    <a:pt x="246" y="146"/>
                  </a:cubicBezTo>
                  <a:cubicBezTo>
                    <a:pt x="248" y="142"/>
                    <a:pt x="248" y="142"/>
                    <a:pt x="248" y="142"/>
                  </a:cubicBezTo>
                  <a:cubicBezTo>
                    <a:pt x="246" y="142"/>
                    <a:pt x="246" y="142"/>
                    <a:pt x="246" y="142"/>
                  </a:cubicBezTo>
                  <a:cubicBezTo>
                    <a:pt x="243" y="142"/>
                    <a:pt x="239" y="141"/>
                    <a:pt x="241" y="137"/>
                  </a:cubicBezTo>
                  <a:cubicBezTo>
                    <a:pt x="241" y="136"/>
                    <a:pt x="241" y="136"/>
                    <a:pt x="241" y="136"/>
                  </a:cubicBezTo>
                  <a:cubicBezTo>
                    <a:pt x="230" y="135"/>
                    <a:pt x="230" y="135"/>
                    <a:pt x="230" y="135"/>
                  </a:cubicBezTo>
                  <a:cubicBezTo>
                    <a:pt x="229" y="137"/>
                    <a:pt x="229" y="137"/>
                    <a:pt x="229" y="137"/>
                  </a:cubicBezTo>
                  <a:cubicBezTo>
                    <a:pt x="229" y="138"/>
                    <a:pt x="228" y="139"/>
                    <a:pt x="229" y="140"/>
                  </a:cubicBezTo>
                  <a:close/>
                  <a:moveTo>
                    <a:pt x="218" y="189"/>
                  </a:moveTo>
                  <a:cubicBezTo>
                    <a:pt x="180" y="189"/>
                    <a:pt x="149" y="181"/>
                    <a:pt x="149" y="170"/>
                  </a:cubicBezTo>
                  <a:cubicBezTo>
                    <a:pt x="149" y="190"/>
                    <a:pt x="149" y="190"/>
                    <a:pt x="149" y="190"/>
                  </a:cubicBezTo>
                  <a:cubicBezTo>
                    <a:pt x="149" y="201"/>
                    <a:pt x="180" y="209"/>
                    <a:pt x="218" y="209"/>
                  </a:cubicBezTo>
                  <a:cubicBezTo>
                    <a:pt x="257" y="209"/>
                    <a:pt x="288" y="201"/>
                    <a:pt x="288" y="190"/>
                  </a:cubicBezTo>
                  <a:cubicBezTo>
                    <a:pt x="288" y="170"/>
                    <a:pt x="288" y="170"/>
                    <a:pt x="288" y="170"/>
                  </a:cubicBezTo>
                  <a:cubicBezTo>
                    <a:pt x="288" y="181"/>
                    <a:pt x="257" y="189"/>
                    <a:pt x="218" y="189"/>
                  </a:cubicBezTo>
                  <a:close/>
                  <a:moveTo>
                    <a:pt x="218" y="215"/>
                  </a:moveTo>
                  <a:cubicBezTo>
                    <a:pt x="180" y="215"/>
                    <a:pt x="149" y="206"/>
                    <a:pt x="149" y="196"/>
                  </a:cubicBezTo>
                  <a:cubicBezTo>
                    <a:pt x="149" y="216"/>
                    <a:pt x="149" y="216"/>
                    <a:pt x="149" y="216"/>
                  </a:cubicBezTo>
                  <a:cubicBezTo>
                    <a:pt x="149" y="227"/>
                    <a:pt x="180" y="235"/>
                    <a:pt x="218" y="235"/>
                  </a:cubicBezTo>
                  <a:cubicBezTo>
                    <a:pt x="257" y="235"/>
                    <a:pt x="288" y="227"/>
                    <a:pt x="288" y="216"/>
                  </a:cubicBezTo>
                  <a:cubicBezTo>
                    <a:pt x="288" y="196"/>
                    <a:pt x="288" y="196"/>
                    <a:pt x="288" y="196"/>
                  </a:cubicBezTo>
                  <a:cubicBezTo>
                    <a:pt x="288" y="206"/>
                    <a:pt x="257" y="215"/>
                    <a:pt x="218" y="215"/>
                  </a:cubicBezTo>
                  <a:close/>
                  <a:moveTo>
                    <a:pt x="218" y="240"/>
                  </a:moveTo>
                  <a:cubicBezTo>
                    <a:pt x="180" y="240"/>
                    <a:pt x="149" y="231"/>
                    <a:pt x="149" y="221"/>
                  </a:cubicBezTo>
                  <a:cubicBezTo>
                    <a:pt x="149" y="241"/>
                    <a:pt x="149" y="241"/>
                    <a:pt x="149" y="241"/>
                  </a:cubicBezTo>
                  <a:cubicBezTo>
                    <a:pt x="149" y="252"/>
                    <a:pt x="180" y="260"/>
                    <a:pt x="218" y="260"/>
                  </a:cubicBezTo>
                  <a:cubicBezTo>
                    <a:pt x="257" y="260"/>
                    <a:pt x="288" y="252"/>
                    <a:pt x="288" y="241"/>
                  </a:cubicBezTo>
                  <a:cubicBezTo>
                    <a:pt x="288" y="221"/>
                    <a:pt x="288" y="221"/>
                    <a:pt x="288" y="221"/>
                  </a:cubicBezTo>
                  <a:cubicBezTo>
                    <a:pt x="288" y="231"/>
                    <a:pt x="257" y="240"/>
                    <a:pt x="218" y="2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组合 12"/>
          <p:cNvGrpSpPr/>
          <p:nvPr/>
        </p:nvGrpSpPr>
        <p:grpSpPr bwMode="auto">
          <a:xfrm>
            <a:off x="5857206" y="807641"/>
            <a:ext cx="1119716" cy="1119716"/>
            <a:chOff x="0" y="0"/>
            <a:chExt cx="1119836" cy="1119836"/>
          </a:xfrm>
        </p:grpSpPr>
        <p:sp>
          <p:nvSpPr>
            <p:cNvPr id="54" name="椭圆 13"/>
            <p:cNvSpPr>
              <a:spLocks noChangeArrowheads="1"/>
            </p:cNvSpPr>
            <p:nvPr/>
          </p:nvSpPr>
          <p:spPr bwMode="auto">
            <a:xfrm>
              <a:off x="0" y="0"/>
              <a:ext cx="1119836" cy="1119836"/>
            </a:xfrm>
            <a:prstGeom prst="ellipse">
              <a:avLst/>
            </a:prstGeom>
            <a:solidFill>
              <a:srgbClr val="E44B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grpSp>
          <p:nvGrpSpPr>
            <p:cNvPr id="55" name="组合 14"/>
            <p:cNvGrpSpPr/>
            <p:nvPr/>
          </p:nvGrpSpPr>
          <p:grpSpPr bwMode="auto">
            <a:xfrm>
              <a:off x="250476" y="299699"/>
              <a:ext cx="692085" cy="482755"/>
              <a:chOff x="0" y="0"/>
              <a:chExt cx="1354138" cy="944563"/>
            </a:xfrm>
          </p:grpSpPr>
          <p:sp>
            <p:nvSpPr>
              <p:cNvPr id="56" name="Freeform 51"/>
              <p:cNvSpPr>
                <a:spLocks noEditPoints="1" noChangeArrowheads="1"/>
              </p:cNvSpPr>
              <p:nvPr/>
            </p:nvSpPr>
            <p:spPr bwMode="auto">
              <a:xfrm>
                <a:off x="17482" y="0"/>
                <a:ext cx="1255713" cy="804863"/>
              </a:xfrm>
              <a:custGeom>
                <a:avLst/>
                <a:gdLst>
                  <a:gd name="T0" fmla="*/ 228887735 w 332"/>
                  <a:gd name="T1" fmla="*/ 2147483646 h 212"/>
                  <a:gd name="T2" fmla="*/ 2147483646 w 332"/>
                  <a:gd name="T3" fmla="*/ 2147483646 h 212"/>
                  <a:gd name="T4" fmla="*/ 2147483646 w 332"/>
                  <a:gd name="T5" fmla="*/ 2147483646 h 212"/>
                  <a:gd name="T6" fmla="*/ 2147483646 w 332"/>
                  <a:gd name="T7" fmla="*/ 230616029 h 212"/>
                  <a:gd name="T8" fmla="*/ 2147483646 w 332"/>
                  <a:gd name="T9" fmla="*/ 0 h 212"/>
                  <a:gd name="T10" fmla="*/ 343331602 w 332"/>
                  <a:gd name="T11" fmla="*/ 0 h 212"/>
                  <a:gd name="T12" fmla="*/ 0 w 332"/>
                  <a:gd name="T13" fmla="*/ 230616029 h 212"/>
                  <a:gd name="T14" fmla="*/ 0 w 332"/>
                  <a:gd name="T15" fmla="*/ 2147483646 h 212"/>
                  <a:gd name="T16" fmla="*/ 228887735 w 332"/>
                  <a:gd name="T17" fmla="*/ 2147483646 h 212"/>
                  <a:gd name="T18" fmla="*/ 314722526 w 332"/>
                  <a:gd name="T19" fmla="*/ 331512439 h 212"/>
                  <a:gd name="T20" fmla="*/ 343331602 w 332"/>
                  <a:gd name="T21" fmla="*/ 317100836 h 212"/>
                  <a:gd name="T22" fmla="*/ 2147483646 w 332"/>
                  <a:gd name="T23" fmla="*/ 317100836 h 212"/>
                  <a:gd name="T24" fmla="*/ 2147483646 w 332"/>
                  <a:gd name="T25" fmla="*/ 2147483646 h 212"/>
                  <a:gd name="T26" fmla="*/ 314722526 w 332"/>
                  <a:gd name="T27" fmla="*/ 2147483646 h 212"/>
                  <a:gd name="T28" fmla="*/ 314722526 w 332"/>
                  <a:gd name="T29" fmla="*/ 331512439 h 21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32"/>
                  <a:gd name="T46" fmla="*/ 0 h 212"/>
                  <a:gd name="T47" fmla="*/ 332 w 332"/>
                  <a:gd name="T48" fmla="*/ 212 h 21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32" h="212">
                    <a:moveTo>
                      <a:pt x="16" y="212"/>
                    </a:moveTo>
                    <a:cubicBezTo>
                      <a:pt x="316" y="212"/>
                      <a:pt x="316" y="212"/>
                      <a:pt x="316" y="212"/>
                    </a:cubicBezTo>
                    <a:cubicBezTo>
                      <a:pt x="325" y="212"/>
                      <a:pt x="332" y="205"/>
                      <a:pt x="332" y="196"/>
                    </a:cubicBezTo>
                    <a:cubicBezTo>
                      <a:pt x="332" y="16"/>
                      <a:pt x="332" y="16"/>
                      <a:pt x="332" y="16"/>
                    </a:cubicBezTo>
                    <a:cubicBezTo>
                      <a:pt x="332" y="7"/>
                      <a:pt x="325" y="0"/>
                      <a:pt x="316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5" y="0"/>
                      <a:pt x="0" y="7"/>
                      <a:pt x="0" y="16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0" y="205"/>
                      <a:pt x="7" y="212"/>
                      <a:pt x="16" y="212"/>
                    </a:cubicBezTo>
                    <a:close/>
                    <a:moveTo>
                      <a:pt x="22" y="23"/>
                    </a:moveTo>
                    <a:cubicBezTo>
                      <a:pt x="23" y="22"/>
                      <a:pt x="24" y="22"/>
                      <a:pt x="24" y="22"/>
                    </a:cubicBezTo>
                    <a:cubicBezTo>
                      <a:pt x="310" y="22"/>
                      <a:pt x="310" y="22"/>
                      <a:pt x="310" y="22"/>
                    </a:cubicBezTo>
                    <a:cubicBezTo>
                      <a:pt x="310" y="190"/>
                      <a:pt x="310" y="190"/>
                      <a:pt x="310" y="190"/>
                    </a:cubicBezTo>
                    <a:cubicBezTo>
                      <a:pt x="22" y="190"/>
                      <a:pt x="22" y="190"/>
                      <a:pt x="22" y="190"/>
                    </a:cubicBezTo>
                    <a:lnTo>
                      <a:pt x="22" y="2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Freeform 52"/>
              <p:cNvSpPr>
                <a:spLocks noChangeArrowheads="1"/>
              </p:cNvSpPr>
              <p:nvPr/>
            </p:nvSpPr>
            <p:spPr bwMode="auto">
              <a:xfrm>
                <a:off x="269855" y="246063"/>
                <a:ext cx="836614" cy="338137"/>
              </a:xfrm>
              <a:custGeom>
                <a:avLst/>
                <a:gdLst>
                  <a:gd name="T0" fmla="*/ 2147483646 w 221"/>
                  <a:gd name="T1" fmla="*/ 129912995 h 89"/>
                  <a:gd name="T2" fmla="*/ 2147483646 w 221"/>
                  <a:gd name="T3" fmla="*/ 101042174 h 89"/>
                  <a:gd name="T4" fmla="*/ 2147483646 w 221"/>
                  <a:gd name="T5" fmla="*/ 72171353 h 89"/>
                  <a:gd name="T6" fmla="*/ 2147483646 w 221"/>
                  <a:gd name="T7" fmla="*/ 43304332 h 89"/>
                  <a:gd name="T8" fmla="*/ 2147483646 w 221"/>
                  <a:gd name="T9" fmla="*/ 28870821 h 89"/>
                  <a:gd name="T10" fmla="*/ 2147483646 w 221"/>
                  <a:gd name="T11" fmla="*/ 0 h 89"/>
                  <a:gd name="T12" fmla="*/ 2147483646 w 221"/>
                  <a:gd name="T13" fmla="*/ 0 h 89"/>
                  <a:gd name="T14" fmla="*/ 2147483646 w 221"/>
                  <a:gd name="T15" fmla="*/ 0 h 89"/>
                  <a:gd name="T16" fmla="*/ 2147483646 w 221"/>
                  <a:gd name="T17" fmla="*/ 57737843 h 89"/>
                  <a:gd name="T18" fmla="*/ 2147483646 w 221"/>
                  <a:gd name="T19" fmla="*/ 57737843 h 89"/>
                  <a:gd name="T20" fmla="*/ 2147483646 w 221"/>
                  <a:gd name="T21" fmla="*/ 72171353 h 89"/>
                  <a:gd name="T22" fmla="*/ 2147483646 w 221"/>
                  <a:gd name="T23" fmla="*/ 86608664 h 89"/>
                  <a:gd name="T24" fmla="*/ 2147483646 w 221"/>
                  <a:gd name="T25" fmla="*/ 101042174 h 89"/>
                  <a:gd name="T26" fmla="*/ 2147483646 w 221"/>
                  <a:gd name="T27" fmla="*/ 129912995 h 89"/>
                  <a:gd name="T28" fmla="*/ 2147483646 w 221"/>
                  <a:gd name="T29" fmla="*/ 144346506 h 89"/>
                  <a:gd name="T30" fmla="*/ 2147483646 w 221"/>
                  <a:gd name="T31" fmla="*/ 173217327 h 89"/>
                  <a:gd name="T32" fmla="*/ 2147483646 w 221"/>
                  <a:gd name="T33" fmla="*/ 216517859 h 89"/>
                  <a:gd name="T34" fmla="*/ 2147483646 w 221"/>
                  <a:gd name="T35" fmla="*/ 230955170 h 89"/>
                  <a:gd name="T36" fmla="*/ 2147483646 w 221"/>
                  <a:gd name="T37" fmla="*/ 259822191 h 89"/>
                  <a:gd name="T38" fmla="*/ 2147483646 w 221"/>
                  <a:gd name="T39" fmla="*/ 288693012 h 89"/>
                  <a:gd name="T40" fmla="*/ 2147483646 w 221"/>
                  <a:gd name="T41" fmla="*/ 303126523 h 89"/>
                  <a:gd name="T42" fmla="*/ 1776998421 w 221"/>
                  <a:gd name="T43" fmla="*/ 923816879 h 89"/>
                  <a:gd name="T44" fmla="*/ 1103459796 w 221"/>
                  <a:gd name="T45" fmla="*/ 433039518 h 89"/>
                  <a:gd name="T46" fmla="*/ 1074799141 w 221"/>
                  <a:gd name="T47" fmla="*/ 418602208 h 89"/>
                  <a:gd name="T48" fmla="*/ 1046138487 w 221"/>
                  <a:gd name="T49" fmla="*/ 404168697 h 89"/>
                  <a:gd name="T50" fmla="*/ 1017474047 w 221"/>
                  <a:gd name="T51" fmla="*/ 404168697 h 89"/>
                  <a:gd name="T52" fmla="*/ 988813393 w 221"/>
                  <a:gd name="T53" fmla="*/ 404168697 h 89"/>
                  <a:gd name="T54" fmla="*/ 960152739 w 221"/>
                  <a:gd name="T55" fmla="*/ 418602208 h 89"/>
                  <a:gd name="T56" fmla="*/ 931492085 w 221"/>
                  <a:gd name="T57" fmla="*/ 433039518 h 89"/>
                  <a:gd name="T58" fmla="*/ 85985748 w 221"/>
                  <a:gd name="T59" fmla="*/ 981554722 h 89"/>
                  <a:gd name="T60" fmla="*/ 171967711 w 221"/>
                  <a:gd name="T61" fmla="*/ 1284681245 h 89"/>
                  <a:gd name="T62" fmla="*/ 1017474047 w 221"/>
                  <a:gd name="T63" fmla="*/ 750599552 h 89"/>
                  <a:gd name="T64" fmla="*/ 1719677112 w 221"/>
                  <a:gd name="T65" fmla="*/ 1255810424 h 89"/>
                  <a:gd name="T66" fmla="*/ 1748337766 w 221"/>
                  <a:gd name="T67" fmla="*/ 1270247734 h 89"/>
                  <a:gd name="T68" fmla="*/ 1791330641 w 221"/>
                  <a:gd name="T69" fmla="*/ 1284681245 h 89"/>
                  <a:gd name="T70" fmla="*/ 1791330641 w 221"/>
                  <a:gd name="T71" fmla="*/ 1284681245 h 89"/>
                  <a:gd name="T72" fmla="*/ 1819991295 w 221"/>
                  <a:gd name="T73" fmla="*/ 1270247734 h 89"/>
                  <a:gd name="T74" fmla="*/ 1862984169 w 221"/>
                  <a:gd name="T75" fmla="*/ 1255810424 h 89"/>
                  <a:gd name="T76" fmla="*/ 2147483646 w 221"/>
                  <a:gd name="T77" fmla="*/ 562948714 h 89"/>
                  <a:gd name="T78" fmla="*/ 2147483646 w 221"/>
                  <a:gd name="T79" fmla="*/ 591819535 h 89"/>
                  <a:gd name="T80" fmla="*/ 2147483646 w 221"/>
                  <a:gd name="T81" fmla="*/ 606253046 h 89"/>
                  <a:gd name="T82" fmla="*/ 2147483646 w 221"/>
                  <a:gd name="T83" fmla="*/ 620690356 h 89"/>
                  <a:gd name="T84" fmla="*/ 2147483646 w 221"/>
                  <a:gd name="T85" fmla="*/ 620690356 h 89"/>
                  <a:gd name="T86" fmla="*/ 2147483646 w 221"/>
                  <a:gd name="T87" fmla="*/ 620690356 h 89"/>
                  <a:gd name="T88" fmla="*/ 2147483646 w 221"/>
                  <a:gd name="T89" fmla="*/ 620690356 h 89"/>
                  <a:gd name="T90" fmla="*/ 2147483646 w 221"/>
                  <a:gd name="T91" fmla="*/ 591819535 h 89"/>
                  <a:gd name="T92" fmla="*/ 2147483646 w 221"/>
                  <a:gd name="T93" fmla="*/ 577386024 h 89"/>
                  <a:gd name="T94" fmla="*/ 2147483646 w 221"/>
                  <a:gd name="T95" fmla="*/ 534081693 h 89"/>
                  <a:gd name="T96" fmla="*/ 2147483646 w 221"/>
                  <a:gd name="T97" fmla="*/ 230955170 h 89"/>
                  <a:gd name="T98" fmla="*/ 2147483646 w 221"/>
                  <a:gd name="T99" fmla="*/ 230955170 h 89"/>
                  <a:gd name="T100" fmla="*/ 2147483646 w 221"/>
                  <a:gd name="T101" fmla="*/ 202084349 h 89"/>
                  <a:gd name="T102" fmla="*/ 2147483646 w 221"/>
                  <a:gd name="T103" fmla="*/ 158780017 h 8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221"/>
                  <a:gd name="T157" fmla="*/ 0 h 89"/>
                  <a:gd name="T158" fmla="*/ 221 w 221"/>
                  <a:gd name="T159" fmla="*/ 89 h 89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221" h="89">
                    <a:moveTo>
                      <a:pt x="221" y="9"/>
                    </a:moveTo>
                    <a:cubicBezTo>
                      <a:pt x="221" y="9"/>
                      <a:pt x="221" y="9"/>
                      <a:pt x="221" y="9"/>
                    </a:cubicBezTo>
                    <a:cubicBezTo>
                      <a:pt x="221" y="9"/>
                      <a:pt x="221" y="9"/>
                      <a:pt x="221" y="9"/>
                    </a:cubicBezTo>
                    <a:cubicBezTo>
                      <a:pt x="221" y="9"/>
                      <a:pt x="221" y="8"/>
                      <a:pt x="220" y="7"/>
                    </a:cubicBezTo>
                    <a:cubicBezTo>
                      <a:pt x="220" y="7"/>
                      <a:pt x="220" y="7"/>
                      <a:pt x="220" y="6"/>
                    </a:cubicBezTo>
                    <a:cubicBezTo>
                      <a:pt x="220" y="6"/>
                      <a:pt x="220" y="6"/>
                      <a:pt x="220" y="5"/>
                    </a:cubicBezTo>
                    <a:cubicBezTo>
                      <a:pt x="219" y="5"/>
                      <a:pt x="219" y="5"/>
                      <a:pt x="219" y="4"/>
                    </a:cubicBezTo>
                    <a:cubicBezTo>
                      <a:pt x="219" y="4"/>
                      <a:pt x="219" y="4"/>
                      <a:pt x="218" y="3"/>
                    </a:cubicBezTo>
                    <a:cubicBezTo>
                      <a:pt x="218" y="3"/>
                      <a:pt x="218" y="3"/>
                      <a:pt x="217" y="3"/>
                    </a:cubicBezTo>
                    <a:cubicBezTo>
                      <a:pt x="217" y="3"/>
                      <a:pt x="217" y="2"/>
                      <a:pt x="217" y="2"/>
                    </a:cubicBezTo>
                    <a:cubicBezTo>
                      <a:pt x="215" y="1"/>
                      <a:pt x="214" y="1"/>
                      <a:pt x="213" y="0"/>
                    </a:cubicBezTo>
                    <a:cubicBezTo>
                      <a:pt x="213" y="0"/>
                      <a:pt x="212" y="0"/>
                      <a:pt x="212" y="0"/>
                    </a:cubicBezTo>
                    <a:cubicBezTo>
                      <a:pt x="212" y="0"/>
                      <a:pt x="211" y="0"/>
                      <a:pt x="211" y="0"/>
                    </a:cubicBezTo>
                    <a:cubicBezTo>
                      <a:pt x="210" y="0"/>
                      <a:pt x="209" y="0"/>
                      <a:pt x="209" y="0"/>
                    </a:cubicBezTo>
                    <a:cubicBezTo>
                      <a:pt x="209" y="0"/>
                      <a:pt x="209" y="0"/>
                      <a:pt x="208" y="0"/>
                    </a:cubicBezTo>
                    <a:cubicBezTo>
                      <a:pt x="208" y="0"/>
                      <a:pt x="208" y="0"/>
                      <a:pt x="208" y="0"/>
                    </a:cubicBezTo>
                    <a:cubicBezTo>
                      <a:pt x="208" y="0"/>
                      <a:pt x="208" y="0"/>
                      <a:pt x="208" y="0"/>
                    </a:cubicBezTo>
                    <a:cubicBezTo>
                      <a:pt x="185" y="4"/>
                      <a:pt x="185" y="4"/>
                      <a:pt x="185" y="4"/>
                    </a:cubicBezTo>
                    <a:cubicBezTo>
                      <a:pt x="185" y="4"/>
                      <a:pt x="185" y="4"/>
                      <a:pt x="185" y="4"/>
                    </a:cubicBezTo>
                    <a:cubicBezTo>
                      <a:pt x="185" y="4"/>
                      <a:pt x="184" y="4"/>
                      <a:pt x="184" y="4"/>
                    </a:cubicBezTo>
                    <a:cubicBezTo>
                      <a:pt x="183" y="4"/>
                      <a:pt x="183" y="4"/>
                      <a:pt x="183" y="4"/>
                    </a:cubicBezTo>
                    <a:cubicBezTo>
                      <a:pt x="182" y="5"/>
                      <a:pt x="182" y="5"/>
                      <a:pt x="182" y="5"/>
                    </a:cubicBezTo>
                    <a:cubicBezTo>
                      <a:pt x="181" y="5"/>
                      <a:pt x="181" y="5"/>
                      <a:pt x="181" y="5"/>
                    </a:cubicBezTo>
                    <a:cubicBezTo>
                      <a:pt x="181" y="6"/>
                      <a:pt x="181" y="6"/>
                      <a:pt x="180" y="6"/>
                    </a:cubicBezTo>
                    <a:cubicBezTo>
                      <a:pt x="180" y="6"/>
                      <a:pt x="180" y="6"/>
                      <a:pt x="180" y="6"/>
                    </a:cubicBezTo>
                    <a:cubicBezTo>
                      <a:pt x="180" y="6"/>
                      <a:pt x="179" y="7"/>
                      <a:pt x="179" y="7"/>
                    </a:cubicBezTo>
                    <a:cubicBezTo>
                      <a:pt x="179" y="7"/>
                      <a:pt x="179" y="7"/>
                      <a:pt x="178" y="8"/>
                    </a:cubicBezTo>
                    <a:cubicBezTo>
                      <a:pt x="178" y="8"/>
                      <a:pt x="178" y="8"/>
                      <a:pt x="178" y="9"/>
                    </a:cubicBezTo>
                    <a:cubicBezTo>
                      <a:pt x="178" y="9"/>
                      <a:pt x="177" y="9"/>
                      <a:pt x="177" y="9"/>
                    </a:cubicBezTo>
                    <a:cubicBezTo>
                      <a:pt x="177" y="10"/>
                      <a:pt x="177" y="10"/>
                      <a:pt x="177" y="10"/>
                    </a:cubicBezTo>
                    <a:cubicBezTo>
                      <a:pt x="177" y="11"/>
                      <a:pt x="177" y="11"/>
                      <a:pt x="177" y="11"/>
                    </a:cubicBezTo>
                    <a:cubicBezTo>
                      <a:pt x="176" y="12"/>
                      <a:pt x="176" y="12"/>
                      <a:pt x="176" y="12"/>
                    </a:cubicBezTo>
                    <a:cubicBezTo>
                      <a:pt x="176" y="13"/>
                      <a:pt x="176" y="13"/>
                      <a:pt x="176" y="13"/>
                    </a:cubicBezTo>
                    <a:cubicBezTo>
                      <a:pt x="176" y="14"/>
                      <a:pt x="176" y="14"/>
                      <a:pt x="176" y="15"/>
                    </a:cubicBezTo>
                    <a:cubicBezTo>
                      <a:pt x="176" y="15"/>
                      <a:pt x="176" y="15"/>
                      <a:pt x="176" y="16"/>
                    </a:cubicBezTo>
                    <a:cubicBezTo>
                      <a:pt x="176" y="16"/>
                      <a:pt x="176" y="16"/>
                      <a:pt x="176" y="16"/>
                    </a:cubicBezTo>
                    <a:cubicBezTo>
                      <a:pt x="176" y="16"/>
                      <a:pt x="176" y="17"/>
                      <a:pt x="176" y="17"/>
                    </a:cubicBezTo>
                    <a:cubicBezTo>
                      <a:pt x="176" y="17"/>
                      <a:pt x="176" y="17"/>
                      <a:pt x="177" y="18"/>
                    </a:cubicBezTo>
                    <a:cubicBezTo>
                      <a:pt x="177" y="18"/>
                      <a:pt x="177" y="18"/>
                      <a:pt x="177" y="19"/>
                    </a:cubicBezTo>
                    <a:cubicBezTo>
                      <a:pt x="177" y="19"/>
                      <a:pt x="177" y="19"/>
                      <a:pt x="177" y="20"/>
                    </a:cubicBezTo>
                    <a:cubicBezTo>
                      <a:pt x="177" y="20"/>
                      <a:pt x="178" y="20"/>
                      <a:pt x="178" y="21"/>
                    </a:cubicBezTo>
                    <a:cubicBezTo>
                      <a:pt x="178" y="21"/>
                      <a:pt x="178" y="21"/>
                      <a:pt x="178" y="21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24" y="64"/>
                      <a:pt x="124" y="64"/>
                      <a:pt x="124" y="64"/>
                    </a:cubicBezTo>
                    <a:cubicBezTo>
                      <a:pt x="77" y="30"/>
                      <a:pt x="77" y="30"/>
                      <a:pt x="77" y="30"/>
                    </a:cubicBezTo>
                    <a:cubicBezTo>
                      <a:pt x="77" y="30"/>
                      <a:pt x="77" y="30"/>
                      <a:pt x="77" y="30"/>
                    </a:cubicBezTo>
                    <a:cubicBezTo>
                      <a:pt x="77" y="30"/>
                      <a:pt x="77" y="30"/>
                      <a:pt x="76" y="29"/>
                    </a:cubicBezTo>
                    <a:cubicBezTo>
                      <a:pt x="76" y="29"/>
                      <a:pt x="76" y="29"/>
                      <a:pt x="75" y="29"/>
                    </a:cubicBezTo>
                    <a:cubicBezTo>
                      <a:pt x="75" y="29"/>
                      <a:pt x="75" y="29"/>
                      <a:pt x="74" y="29"/>
                    </a:cubicBezTo>
                    <a:cubicBezTo>
                      <a:pt x="74" y="29"/>
                      <a:pt x="74" y="28"/>
                      <a:pt x="73" y="28"/>
                    </a:cubicBezTo>
                    <a:cubicBezTo>
                      <a:pt x="73" y="28"/>
                      <a:pt x="73" y="28"/>
                      <a:pt x="73" y="28"/>
                    </a:cubicBezTo>
                    <a:cubicBezTo>
                      <a:pt x="72" y="28"/>
                      <a:pt x="72" y="28"/>
                      <a:pt x="71" y="28"/>
                    </a:cubicBezTo>
                    <a:cubicBezTo>
                      <a:pt x="71" y="28"/>
                      <a:pt x="71" y="28"/>
                      <a:pt x="70" y="28"/>
                    </a:cubicBezTo>
                    <a:cubicBezTo>
                      <a:pt x="70" y="28"/>
                      <a:pt x="70" y="28"/>
                      <a:pt x="69" y="28"/>
                    </a:cubicBezTo>
                    <a:cubicBezTo>
                      <a:pt x="69" y="28"/>
                      <a:pt x="69" y="28"/>
                      <a:pt x="68" y="28"/>
                    </a:cubicBezTo>
                    <a:cubicBezTo>
                      <a:pt x="68" y="29"/>
                      <a:pt x="67" y="29"/>
                      <a:pt x="67" y="29"/>
                    </a:cubicBezTo>
                    <a:cubicBezTo>
                      <a:pt x="67" y="29"/>
                      <a:pt x="67" y="29"/>
                      <a:pt x="66" y="29"/>
                    </a:cubicBezTo>
                    <a:cubicBezTo>
                      <a:pt x="66" y="29"/>
                      <a:pt x="66" y="30"/>
                      <a:pt x="65" y="30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1" y="72"/>
                      <a:pt x="0" y="79"/>
                      <a:pt x="3" y="84"/>
                    </a:cubicBezTo>
                    <a:cubicBezTo>
                      <a:pt x="5" y="87"/>
                      <a:pt x="9" y="89"/>
                      <a:pt x="12" y="89"/>
                    </a:cubicBezTo>
                    <a:cubicBezTo>
                      <a:pt x="15" y="89"/>
                      <a:pt x="17" y="88"/>
                      <a:pt x="18" y="87"/>
                    </a:cubicBezTo>
                    <a:cubicBezTo>
                      <a:pt x="71" y="52"/>
                      <a:pt x="71" y="52"/>
                      <a:pt x="71" y="52"/>
                    </a:cubicBezTo>
                    <a:cubicBezTo>
                      <a:pt x="118" y="87"/>
                      <a:pt x="118" y="87"/>
                      <a:pt x="118" y="87"/>
                    </a:cubicBezTo>
                    <a:cubicBezTo>
                      <a:pt x="119" y="87"/>
                      <a:pt x="119" y="87"/>
                      <a:pt x="120" y="87"/>
                    </a:cubicBezTo>
                    <a:cubicBezTo>
                      <a:pt x="120" y="88"/>
                      <a:pt x="120" y="88"/>
                      <a:pt x="120" y="88"/>
                    </a:cubicBezTo>
                    <a:cubicBezTo>
                      <a:pt x="121" y="88"/>
                      <a:pt x="121" y="88"/>
                      <a:pt x="122" y="88"/>
                    </a:cubicBezTo>
                    <a:cubicBezTo>
                      <a:pt x="122" y="88"/>
                      <a:pt x="122" y="88"/>
                      <a:pt x="122" y="88"/>
                    </a:cubicBezTo>
                    <a:cubicBezTo>
                      <a:pt x="123" y="88"/>
                      <a:pt x="124" y="89"/>
                      <a:pt x="125" y="89"/>
                    </a:cubicBezTo>
                    <a:cubicBezTo>
                      <a:pt x="125" y="89"/>
                      <a:pt x="125" y="89"/>
                      <a:pt x="125" y="89"/>
                    </a:cubicBezTo>
                    <a:cubicBezTo>
                      <a:pt x="125" y="89"/>
                      <a:pt x="125" y="89"/>
                      <a:pt x="125" y="89"/>
                    </a:cubicBezTo>
                    <a:cubicBezTo>
                      <a:pt x="125" y="89"/>
                      <a:pt x="126" y="88"/>
                      <a:pt x="127" y="88"/>
                    </a:cubicBezTo>
                    <a:cubicBezTo>
                      <a:pt x="127" y="88"/>
                      <a:pt x="127" y="88"/>
                      <a:pt x="127" y="88"/>
                    </a:cubicBezTo>
                    <a:cubicBezTo>
                      <a:pt x="128" y="88"/>
                      <a:pt x="129" y="88"/>
                      <a:pt x="129" y="88"/>
                    </a:cubicBezTo>
                    <a:cubicBezTo>
                      <a:pt x="129" y="87"/>
                      <a:pt x="129" y="87"/>
                      <a:pt x="130" y="87"/>
                    </a:cubicBezTo>
                    <a:cubicBezTo>
                      <a:pt x="130" y="87"/>
                      <a:pt x="131" y="87"/>
                      <a:pt x="131" y="86"/>
                    </a:cubicBezTo>
                    <a:cubicBezTo>
                      <a:pt x="192" y="39"/>
                      <a:pt x="192" y="39"/>
                      <a:pt x="192" y="39"/>
                    </a:cubicBezTo>
                    <a:cubicBezTo>
                      <a:pt x="192" y="40"/>
                      <a:pt x="193" y="40"/>
                      <a:pt x="193" y="40"/>
                    </a:cubicBezTo>
                    <a:cubicBezTo>
                      <a:pt x="193" y="40"/>
                      <a:pt x="193" y="41"/>
                      <a:pt x="193" y="41"/>
                    </a:cubicBezTo>
                    <a:cubicBezTo>
                      <a:pt x="194" y="41"/>
                      <a:pt x="194" y="41"/>
                      <a:pt x="195" y="42"/>
                    </a:cubicBezTo>
                    <a:cubicBezTo>
                      <a:pt x="195" y="42"/>
                      <a:pt x="195" y="42"/>
                      <a:pt x="196" y="42"/>
                    </a:cubicBezTo>
                    <a:cubicBezTo>
                      <a:pt x="196" y="42"/>
                      <a:pt x="196" y="42"/>
                      <a:pt x="196" y="42"/>
                    </a:cubicBezTo>
                    <a:cubicBezTo>
                      <a:pt x="196" y="42"/>
                      <a:pt x="197" y="42"/>
                      <a:pt x="197" y="43"/>
                    </a:cubicBezTo>
                    <a:cubicBezTo>
                      <a:pt x="197" y="43"/>
                      <a:pt x="198" y="43"/>
                      <a:pt x="198" y="43"/>
                    </a:cubicBezTo>
                    <a:cubicBezTo>
                      <a:pt x="199" y="43"/>
                      <a:pt x="199" y="43"/>
                      <a:pt x="200" y="43"/>
                    </a:cubicBezTo>
                    <a:cubicBezTo>
                      <a:pt x="200" y="43"/>
                      <a:pt x="200" y="43"/>
                      <a:pt x="200" y="43"/>
                    </a:cubicBezTo>
                    <a:cubicBezTo>
                      <a:pt x="200" y="43"/>
                      <a:pt x="200" y="43"/>
                      <a:pt x="200" y="43"/>
                    </a:cubicBezTo>
                    <a:cubicBezTo>
                      <a:pt x="201" y="43"/>
                      <a:pt x="202" y="43"/>
                      <a:pt x="203" y="43"/>
                    </a:cubicBezTo>
                    <a:cubicBezTo>
                      <a:pt x="203" y="43"/>
                      <a:pt x="203" y="43"/>
                      <a:pt x="203" y="43"/>
                    </a:cubicBezTo>
                    <a:cubicBezTo>
                      <a:pt x="204" y="42"/>
                      <a:pt x="205" y="42"/>
                      <a:pt x="206" y="42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7" y="41"/>
                      <a:pt x="207" y="41"/>
                      <a:pt x="207" y="41"/>
                    </a:cubicBezTo>
                    <a:cubicBezTo>
                      <a:pt x="207" y="41"/>
                      <a:pt x="208" y="40"/>
                      <a:pt x="208" y="40"/>
                    </a:cubicBezTo>
                    <a:cubicBezTo>
                      <a:pt x="208" y="40"/>
                      <a:pt x="208" y="39"/>
                      <a:pt x="208" y="39"/>
                    </a:cubicBezTo>
                    <a:cubicBezTo>
                      <a:pt x="209" y="39"/>
                      <a:pt x="210" y="38"/>
                      <a:pt x="210" y="37"/>
                    </a:cubicBezTo>
                    <a:cubicBezTo>
                      <a:pt x="210" y="37"/>
                      <a:pt x="210" y="37"/>
                      <a:pt x="210" y="37"/>
                    </a:cubicBezTo>
                    <a:cubicBezTo>
                      <a:pt x="220" y="16"/>
                      <a:pt x="220" y="16"/>
                      <a:pt x="220" y="16"/>
                    </a:cubicBezTo>
                    <a:cubicBezTo>
                      <a:pt x="220" y="16"/>
                      <a:pt x="220" y="16"/>
                      <a:pt x="220" y="16"/>
                    </a:cubicBezTo>
                    <a:cubicBezTo>
                      <a:pt x="220" y="16"/>
                      <a:pt x="220" y="16"/>
                      <a:pt x="220" y="16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20" y="15"/>
                      <a:pt x="221" y="14"/>
                      <a:pt x="221" y="14"/>
                    </a:cubicBezTo>
                    <a:cubicBezTo>
                      <a:pt x="221" y="13"/>
                      <a:pt x="221" y="13"/>
                      <a:pt x="221" y="12"/>
                    </a:cubicBezTo>
                    <a:cubicBezTo>
                      <a:pt x="221" y="12"/>
                      <a:pt x="221" y="12"/>
                      <a:pt x="221" y="11"/>
                    </a:cubicBezTo>
                    <a:cubicBezTo>
                      <a:pt x="221" y="11"/>
                      <a:pt x="221" y="10"/>
                      <a:pt x="221" y="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53"/>
              <p:cNvSpPr>
                <a:spLocks noChangeArrowheads="1"/>
              </p:cNvSpPr>
              <p:nvPr/>
            </p:nvSpPr>
            <p:spPr bwMode="auto">
              <a:xfrm>
                <a:off x="0" y="862013"/>
                <a:ext cx="1354138" cy="82550"/>
              </a:xfrm>
              <a:custGeom>
                <a:avLst/>
                <a:gdLst>
                  <a:gd name="T0" fmla="*/ 2147483646 w 358"/>
                  <a:gd name="T1" fmla="*/ 0 h 22"/>
                  <a:gd name="T2" fmla="*/ 157382609 w 358"/>
                  <a:gd name="T3" fmla="*/ 0 h 22"/>
                  <a:gd name="T4" fmla="*/ 0 w 358"/>
                  <a:gd name="T5" fmla="*/ 154875057 h 22"/>
                  <a:gd name="T6" fmla="*/ 157382609 w 358"/>
                  <a:gd name="T7" fmla="*/ 309750114 h 22"/>
                  <a:gd name="T8" fmla="*/ 2147483646 w 358"/>
                  <a:gd name="T9" fmla="*/ 309750114 h 22"/>
                  <a:gd name="T10" fmla="*/ 2147483646 w 358"/>
                  <a:gd name="T11" fmla="*/ 154875057 h 22"/>
                  <a:gd name="T12" fmla="*/ 2147483646 w 358"/>
                  <a:gd name="T13" fmla="*/ 0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58"/>
                  <a:gd name="T22" fmla="*/ 0 h 22"/>
                  <a:gd name="T23" fmla="*/ 358 w 358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58" h="22">
                    <a:moveTo>
                      <a:pt x="347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347" y="22"/>
                      <a:pt x="347" y="22"/>
                      <a:pt x="347" y="22"/>
                    </a:cubicBezTo>
                    <a:cubicBezTo>
                      <a:pt x="353" y="22"/>
                      <a:pt x="358" y="17"/>
                      <a:pt x="358" y="11"/>
                    </a:cubicBezTo>
                    <a:cubicBezTo>
                      <a:pt x="358" y="5"/>
                      <a:pt x="353" y="0"/>
                      <a:pt x="34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9" name="组合 18"/>
          <p:cNvGrpSpPr/>
          <p:nvPr/>
        </p:nvGrpSpPr>
        <p:grpSpPr bwMode="auto">
          <a:xfrm>
            <a:off x="5857206" y="3504275"/>
            <a:ext cx="1119716" cy="1119716"/>
            <a:chOff x="0" y="0"/>
            <a:chExt cx="1119836" cy="1119836"/>
          </a:xfrm>
        </p:grpSpPr>
        <p:sp>
          <p:nvSpPr>
            <p:cNvPr id="60" name="椭圆 19"/>
            <p:cNvSpPr>
              <a:spLocks noChangeArrowheads="1"/>
            </p:cNvSpPr>
            <p:nvPr/>
          </p:nvSpPr>
          <p:spPr bwMode="auto">
            <a:xfrm>
              <a:off x="0" y="0"/>
              <a:ext cx="1119836" cy="1119836"/>
            </a:xfrm>
            <a:prstGeom prst="ellipse">
              <a:avLst/>
            </a:prstGeom>
            <a:solidFill>
              <a:srgbClr val="E44B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Freeform 5"/>
            <p:cNvSpPr>
              <a:spLocks noEditPoints="1" noChangeArrowheads="1"/>
            </p:cNvSpPr>
            <p:nvPr/>
          </p:nvSpPr>
          <p:spPr bwMode="auto">
            <a:xfrm>
              <a:off x="161169" y="267408"/>
              <a:ext cx="802605" cy="502759"/>
            </a:xfrm>
            <a:custGeom>
              <a:avLst/>
              <a:gdLst>
                <a:gd name="T0" fmla="*/ 2010664437 w 260"/>
                <a:gd name="T1" fmla="*/ 626040472 h 162"/>
                <a:gd name="T2" fmla="*/ 1391266376 w 260"/>
                <a:gd name="T3" fmla="*/ 0 h 162"/>
                <a:gd name="T4" fmla="*/ 857629747 w 260"/>
                <a:gd name="T5" fmla="*/ 317836792 h 162"/>
                <a:gd name="T6" fmla="*/ 771865229 w 260"/>
                <a:gd name="T7" fmla="*/ 308203681 h 162"/>
                <a:gd name="T8" fmla="*/ 333522508 w 260"/>
                <a:gd name="T9" fmla="*/ 645303590 h 162"/>
                <a:gd name="T10" fmla="*/ 0 w 260"/>
                <a:gd name="T11" fmla="*/ 1097979104 h 162"/>
                <a:gd name="T12" fmla="*/ 466930893 w 260"/>
                <a:gd name="T13" fmla="*/ 1560287729 h 162"/>
                <a:gd name="T14" fmla="*/ 2010664437 w 260"/>
                <a:gd name="T15" fmla="*/ 1560287729 h 162"/>
                <a:gd name="T16" fmla="*/ 2147483646 w 260"/>
                <a:gd name="T17" fmla="*/ 1097979104 h 162"/>
                <a:gd name="T18" fmla="*/ 2010664437 w 260"/>
                <a:gd name="T19" fmla="*/ 626040472 h 162"/>
                <a:gd name="T20" fmla="*/ 1238799209 w 260"/>
                <a:gd name="T21" fmla="*/ 1406185888 h 162"/>
                <a:gd name="T22" fmla="*/ 771865229 w 260"/>
                <a:gd name="T23" fmla="*/ 780145416 h 162"/>
                <a:gd name="T24" fmla="*/ 1086328954 w 260"/>
                <a:gd name="T25" fmla="*/ 780145416 h 162"/>
                <a:gd name="T26" fmla="*/ 1086328954 w 260"/>
                <a:gd name="T27" fmla="*/ 308203681 h 162"/>
                <a:gd name="T28" fmla="*/ 1391266376 w 260"/>
                <a:gd name="T29" fmla="*/ 308203681 h 162"/>
                <a:gd name="T30" fmla="*/ 1391266376 w 260"/>
                <a:gd name="T31" fmla="*/ 780145416 h 162"/>
                <a:gd name="T32" fmla="*/ 1705730102 w 260"/>
                <a:gd name="T33" fmla="*/ 780145416 h 162"/>
                <a:gd name="T34" fmla="*/ 1238799209 w 260"/>
                <a:gd name="T35" fmla="*/ 1406185888 h 1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60"/>
                <a:gd name="T55" fmla="*/ 0 h 162"/>
                <a:gd name="T56" fmla="*/ 260 w 260"/>
                <a:gd name="T57" fmla="*/ 162 h 16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60" h="162">
                  <a:moveTo>
                    <a:pt x="211" y="65"/>
                  </a:moveTo>
                  <a:cubicBezTo>
                    <a:pt x="211" y="29"/>
                    <a:pt x="182" y="0"/>
                    <a:pt x="146" y="0"/>
                  </a:cubicBezTo>
                  <a:cubicBezTo>
                    <a:pt x="122" y="0"/>
                    <a:pt x="101" y="13"/>
                    <a:pt x="90" y="33"/>
                  </a:cubicBezTo>
                  <a:cubicBezTo>
                    <a:pt x="87" y="33"/>
                    <a:pt x="84" y="32"/>
                    <a:pt x="81" y="32"/>
                  </a:cubicBezTo>
                  <a:cubicBezTo>
                    <a:pt x="59" y="32"/>
                    <a:pt x="41" y="47"/>
                    <a:pt x="35" y="67"/>
                  </a:cubicBezTo>
                  <a:cubicBezTo>
                    <a:pt x="15" y="73"/>
                    <a:pt x="0" y="92"/>
                    <a:pt x="0" y="114"/>
                  </a:cubicBezTo>
                  <a:cubicBezTo>
                    <a:pt x="0" y="140"/>
                    <a:pt x="22" y="162"/>
                    <a:pt x="49" y="162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38" y="162"/>
                    <a:pt x="260" y="140"/>
                    <a:pt x="260" y="114"/>
                  </a:cubicBezTo>
                  <a:cubicBezTo>
                    <a:pt x="260" y="87"/>
                    <a:pt x="238" y="65"/>
                    <a:pt x="211" y="65"/>
                  </a:cubicBezTo>
                  <a:close/>
                  <a:moveTo>
                    <a:pt x="130" y="146"/>
                  </a:moveTo>
                  <a:cubicBezTo>
                    <a:pt x="81" y="81"/>
                    <a:pt x="81" y="81"/>
                    <a:pt x="81" y="81"/>
                  </a:cubicBezTo>
                  <a:cubicBezTo>
                    <a:pt x="114" y="81"/>
                    <a:pt x="114" y="81"/>
                    <a:pt x="114" y="81"/>
                  </a:cubicBezTo>
                  <a:cubicBezTo>
                    <a:pt x="114" y="32"/>
                    <a:pt x="114" y="32"/>
                    <a:pt x="114" y="32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46" y="81"/>
                    <a:pt x="146" y="81"/>
                    <a:pt x="146" y="81"/>
                  </a:cubicBezTo>
                  <a:cubicBezTo>
                    <a:pt x="179" y="81"/>
                    <a:pt x="179" y="81"/>
                    <a:pt x="179" y="81"/>
                  </a:cubicBezTo>
                  <a:lnTo>
                    <a:pt x="130" y="1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2" name="组合 21"/>
          <p:cNvGrpSpPr/>
          <p:nvPr/>
        </p:nvGrpSpPr>
        <p:grpSpPr bwMode="auto">
          <a:xfrm>
            <a:off x="8860755" y="788590"/>
            <a:ext cx="1119717" cy="1119717"/>
            <a:chOff x="0" y="0"/>
            <a:chExt cx="1119836" cy="1119836"/>
          </a:xfrm>
        </p:grpSpPr>
        <p:sp>
          <p:nvSpPr>
            <p:cNvPr id="63" name="椭圆 22"/>
            <p:cNvSpPr>
              <a:spLocks noChangeArrowheads="1"/>
            </p:cNvSpPr>
            <p:nvPr/>
          </p:nvSpPr>
          <p:spPr bwMode="auto">
            <a:xfrm>
              <a:off x="0" y="0"/>
              <a:ext cx="1119836" cy="1119836"/>
            </a:xfrm>
            <a:prstGeom prst="ellipse">
              <a:avLst/>
            </a:prstGeom>
            <a:solidFill>
              <a:srgbClr val="E44B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grpSp>
          <p:nvGrpSpPr>
            <p:cNvPr id="64" name="组合 23"/>
            <p:cNvGrpSpPr/>
            <p:nvPr/>
          </p:nvGrpSpPr>
          <p:grpSpPr bwMode="auto">
            <a:xfrm>
              <a:off x="318456" y="337363"/>
              <a:ext cx="482923" cy="481855"/>
              <a:chOff x="0" y="0"/>
              <a:chExt cx="482923" cy="481855"/>
            </a:xfrm>
          </p:grpSpPr>
          <p:sp>
            <p:nvSpPr>
              <p:cNvPr id="65" name="Freeform 9"/>
              <p:cNvSpPr>
                <a:spLocks noChangeArrowheads="1"/>
              </p:cNvSpPr>
              <p:nvPr/>
            </p:nvSpPr>
            <p:spPr bwMode="auto">
              <a:xfrm>
                <a:off x="290609" y="292745"/>
                <a:ext cx="192314" cy="189110"/>
              </a:xfrm>
              <a:custGeom>
                <a:avLst/>
                <a:gdLst>
                  <a:gd name="T0" fmla="*/ 447104408 w 75"/>
                  <a:gd name="T1" fmla="*/ 274293833 h 74"/>
                  <a:gd name="T2" fmla="*/ 164377186 w 75"/>
                  <a:gd name="T3" fmla="*/ 0 h 74"/>
                  <a:gd name="T4" fmla="*/ 0 w 75"/>
                  <a:gd name="T5" fmla="*/ 156738968 h 74"/>
                  <a:gd name="T6" fmla="*/ 282727222 w 75"/>
                  <a:gd name="T7" fmla="*/ 437562207 h 74"/>
                  <a:gd name="T8" fmla="*/ 447104408 w 75"/>
                  <a:gd name="T9" fmla="*/ 437562207 h 74"/>
                  <a:gd name="T10" fmla="*/ 447104408 w 75"/>
                  <a:gd name="T11" fmla="*/ 274293833 h 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5"/>
                  <a:gd name="T19" fmla="*/ 0 h 74"/>
                  <a:gd name="T20" fmla="*/ 75 w 75"/>
                  <a:gd name="T21" fmla="*/ 74 h 7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5" h="74">
                    <a:moveTo>
                      <a:pt x="68" y="42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9" y="10"/>
                      <a:pt x="10" y="18"/>
                      <a:pt x="0" y="24"/>
                    </a:cubicBezTo>
                    <a:cubicBezTo>
                      <a:pt x="43" y="67"/>
                      <a:pt x="43" y="67"/>
                      <a:pt x="43" y="67"/>
                    </a:cubicBezTo>
                    <a:cubicBezTo>
                      <a:pt x="50" y="74"/>
                      <a:pt x="61" y="74"/>
                      <a:pt x="68" y="67"/>
                    </a:cubicBezTo>
                    <a:cubicBezTo>
                      <a:pt x="75" y="60"/>
                      <a:pt x="75" y="49"/>
                      <a:pt x="68" y="42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Freeform 10"/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356850" cy="358987"/>
              </a:xfrm>
              <a:custGeom>
                <a:avLst/>
                <a:gdLst>
                  <a:gd name="T0" fmla="*/ 916128939 w 139"/>
                  <a:gd name="T1" fmla="*/ 460257233 h 140"/>
                  <a:gd name="T2" fmla="*/ 461360839 w 139"/>
                  <a:gd name="T3" fmla="*/ 0 h 140"/>
                  <a:gd name="T4" fmla="*/ 0 w 139"/>
                  <a:gd name="T5" fmla="*/ 460257233 h 140"/>
                  <a:gd name="T6" fmla="*/ 461360839 w 139"/>
                  <a:gd name="T7" fmla="*/ 920511901 h 140"/>
                  <a:gd name="T8" fmla="*/ 916128939 w 139"/>
                  <a:gd name="T9" fmla="*/ 460257233 h 140"/>
                  <a:gd name="T10" fmla="*/ 461360839 w 139"/>
                  <a:gd name="T11" fmla="*/ 802161580 h 140"/>
                  <a:gd name="T12" fmla="*/ 112045765 w 139"/>
                  <a:gd name="T13" fmla="*/ 460257233 h 140"/>
                  <a:gd name="T14" fmla="*/ 461360839 w 139"/>
                  <a:gd name="T15" fmla="*/ 111775731 h 140"/>
                  <a:gd name="T16" fmla="*/ 804083173 w 139"/>
                  <a:gd name="T17" fmla="*/ 460257233 h 140"/>
                  <a:gd name="T18" fmla="*/ 461360839 w 139"/>
                  <a:gd name="T19" fmla="*/ 802161580 h 1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9"/>
                  <a:gd name="T31" fmla="*/ 0 h 140"/>
                  <a:gd name="T32" fmla="*/ 139 w 139"/>
                  <a:gd name="T33" fmla="*/ 140 h 1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9" h="140">
                    <a:moveTo>
                      <a:pt x="139" y="70"/>
                    </a:moveTo>
                    <a:cubicBezTo>
                      <a:pt x="139" y="31"/>
                      <a:pt x="108" y="0"/>
                      <a:pt x="70" y="0"/>
                    </a:cubicBezTo>
                    <a:cubicBezTo>
                      <a:pt x="31" y="0"/>
                      <a:pt x="0" y="31"/>
                      <a:pt x="0" y="70"/>
                    </a:cubicBezTo>
                    <a:cubicBezTo>
                      <a:pt x="0" y="108"/>
                      <a:pt x="31" y="140"/>
                      <a:pt x="70" y="140"/>
                    </a:cubicBezTo>
                    <a:cubicBezTo>
                      <a:pt x="108" y="140"/>
                      <a:pt x="139" y="108"/>
                      <a:pt x="139" y="70"/>
                    </a:cubicBezTo>
                    <a:close/>
                    <a:moveTo>
                      <a:pt x="70" y="122"/>
                    </a:moveTo>
                    <a:cubicBezTo>
                      <a:pt x="41" y="122"/>
                      <a:pt x="17" y="99"/>
                      <a:pt x="17" y="70"/>
                    </a:cubicBezTo>
                    <a:cubicBezTo>
                      <a:pt x="17" y="41"/>
                      <a:pt x="41" y="17"/>
                      <a:pt x="70" y="17"/>
                    </a:cubicBezTo>
                    <a:cubicBezTo>
                      <a:pt x="98" y="17"/>
                      <a:pt x="122" y="41"/>
                      <a:pt x="122" y="70"/>
                    </a:cubicBezTo>
                    <a:cubicBezTo>
                      <a:pt x="122" y="99"/>
                      <a:pt x="98" y="122"/>
                      <a:pt x="70" y="122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Freeform 11"/>
              <p:cNvSpPr>
                <a:spLocks noChangeArrowheads="1"/>
              </p:cNvSpPr>
              <p:nvPr/>
            </p:nvSpPr>
            <p:spPr bwMode="auto">
              <a:xfrm>
                <a:off x="74789" y="74789"/>
                <a:ext cx="105773" cy="104705"/>
              </a:xfrm>
              <a:custGeom>
                <a:avLst/>
                <a:gdLst>
                  <a:gd name="T0" fmla="*/ 0 w 41"/>
                  <a:gd name="T1" fmla="*/ 267393586 h 41"/>
                  <a:gd name="T2" fmla="*/ 79866354 w 41"/>
                  <a:gd name="T3" fmla="*/ 267393586 h 41"/>
                  <a:gd name="T4" fmla="*/ 272876281 w 41"/>
                  <a:gd name="T5" fmla="*/ 78260603 h 41"/>
                  <a:gd name="T6" fmla="*/ 272876281 w 41"/>
                  <a:gd name="T7" fmla="*/ 0 h 41"/>
                  <a:gd name="T8" fmla="*/ 0 w 41"/>
                  <a:gd name="T9" fmla="*/ 267393586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"/>
                  <a:gd name="T16" fmla="*/ 0 h 41"/>
                  <a:gd name="T17" fmla="*/ 41 w 41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" h="41">
                    <a:moveTo>
                      <a:pt x="0" y="41"/>
                    </a:moveTo>
                    <a:cubicBezTo>
                      <a:pt x="12" y="41"/>
                      <a:pt x="12" y="41"/>
                      <a:pt x="12" y="41"/>
                    </a:cubicBezTo>
                    <a:cubicBezTo>
                      <a:pt x="12" y="25"/>
                      <a:pt x="25" y="12"/>
                      <a:pt x="41" y="12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18" y="0"/>
                      <a:pt x="0" y="18"/>
                      <a:pt x="0" y="4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8" name="组合 27"/>
          <p:cNvGrpSpPr/>
          <p:nvPr/>
        </p:nvGrpSpPr>
        <p:grpSpPr bwMode="auto">
          <a:xfrm>
            <a:off x="8860755" y="3504275"/>
            <a:ext cx="1119717" cy="1119716"/>
            <a:chOff x="0" y="0"/>
            <a:chExt cx="1119836" cy="1119836"/>
          </a:xfrm>
        </p:grpSpPr>
        <p:sp>
          <p:nvSpPr>
            <p:cNvPr id="69" name="椭圆 28"/>
            <p:cNvSpPr>
              <a:spLocks noChangeArrowheads="1"/>
            </p:cNvSpPr>
            <p:nvPr/>
          </p:nvSpPr>
          <p:spPr bwMode="auto">
            <a:xfrm>
              <a:off x="0" y="0"/>
              <a:ext cx="1119836" cy="1119836"/>
            </a:xfrm>
            <a:prstGeom prst="ellipse">
              <a:avLst/>
            </a:prstGeom>
            <a:solidFill>
              <a:srgbClr val="E44B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Freeform 7"/>
            <p:cNvSpPr>
              <a:spLocks noEditPoints="1" noChangeArrowheads="1"/>
            </p:cNvSpPr>
            <p:nvPr/>
          </p:nvSpPr>
          <p:spPr bwMode="auto">
            <a:xfrm>
              <a:off x="311726" y="235515"/>
              <a:ext cx="545174" cy="592931"/>
            </a:xfrm>
            <a:custGeom>
              <a:avLst/>
              <a:gdLst>
                <a:gd name="T0" fmla="*/ 1486073451 w 100"/>
                <a:gd name="T1" fmla="*/ 1412402069 h 132"/>
                <a:gd name="T2" fmla="*/ 891642980 w 100"/>
                <a:gd name="T3" fmla="*/ 1815945517 h 132"/>
                <a:gd name="T4" fmla="*/ 1486073451 w 100"/>
                <a:gd name="T5" fmla="*/ 2147483646 h 132"/>
                <a:gd name="T6" fmla="*/ 2080503922 w 100"/>
                <a:gd name="T7" fmla="*/ 1815945517 h 132"/>
                <a:gd name="T8" fmla="*/ 1486073451 w 100"/>
                <a:gd name="T9" fmla="*/ 1412402069 h 132"/>
                <a:gd name="T10" fmla="*/ 1575236659 w 100"/>
                <a:gd name="T11" fmla="*/ 1876478382 h 132"/>
                <a:gd name="T12" fmla="*/ 1575236659 w 100"/>
                <a:gd name="T13" fmla="*/ 2058072485 h 132"/>
                <a:gd name="T14" fmla="*/ 1486073451 w 100"/>
                <a:gd name="T15" fmla="*/ 2118605350 h 132"/>
                <a:gd name="T16" fmla="*/ 1396910244 w 100"/>
                <a:gd name="T17" fmla="*/ 2058072485 h 132"/>
                <a:gd name="T18" fmla="*/ 1396910244 w 100"/>
                <a:gd name="T19" fmla="*/ 1876478382 h 132"/>
                <a:gd name="T20" fmla="*/ 1218578377 w 100"/>
                <a:gd name="T21" fmla="*/ 1694884280 h 132"/>
                <a:gd name="T22" fmla="*/ 1486073451 w 100"/>
                <a:gd name="T23" fmla="*/ 1533467799 h 132"/>
                <a:gd name="T24" fmla="*/ 1753568526 w 100"/>
                <a:gd name="T25" fmla="*/ 1694884280 h 132"/>
                <a:gd name="T26" fmla="*/ 1575236659 w 100"/>
                <a:gd name="T27" fmla="*/ 1876478382 h 132"/>
                <a:gd name="T28" fmla="*/ 2147483646 w 100"/>
                <a:gd name="T29" fmla="*/ 1008858621 h 132"/>
                <a:gd name="T30" fmla="*/ 2147483646 w 100"/>
                <a:gd name="T31" fmla="*/ 726376410 h 132"/>
                <a:gd name="T32" fmla="*/ 1486073451 w 100"/>
                <a:gd name="T33" fmla="*/ 0 h 132"/>
                <a:gd name="T34" fmla="*/ 416098604 w 100"/>
                <a:gd name="T35" fmla="*/ 726376410 h 132"/>
                <a:gd name="T36" fmla="*/ 416098604 w 100"/>
                <a:gd name="T37" fmla="*/ 1008858621 h 132"/>
                <a:gd name="T38" fmla="*/ 0 w 100"/>
                <a:gd name="T39" fmla="*/ 1392224448 h 132"/>
                <a:gd name="T40" fmla="*/ 0 w 100"/>
                <a:gd name="T41" fmla="*/ 2147483646 h 132"/>
                <a:gd name="T42" fmla="*/ 594430471 w 100"/>
                <a:gd name="T43" fmla="*/ 2147483646 h 132"/>
                <a:gd name="T44" fmla="*/ 2147483646 w 100"/>
                <a:gd name="T45" fmla="*/ 2147483646 h 132"/>
                <a:gd name="T46" fmla="*/ 2147483646 w 100"/>
                <a:gd name="T47" fmla="*/ 2147483646 h 132"/>
                <a:gd name="T48" fmla="*/ 2147483646 w 100"/>
                <a:gd name="T49" fmla="*/ 1392224448 h 132"/>
                <a:gd name="T50" fmla="*/ 2147483646 w 100"/>
                <a:gd name="T51" fmla="*/ 1008858621 h 132"/>
                <a:gd name="T52" fmla="*/ 1486073451 w 100"/>
                <a:gd name="T53" fmla="*/ 2147483646 h 132"/>
                <a:gd name="T54" fmla="*/ 743039452 w 100"/>
                <a:gd name="T55" fmla="*/ 1815945517 h 132"/>
                <a:gd name="T56" fmla="*/ 1486073451 w 100"/>
                <a:gd name="T57" fmla="*/ 1331696075 h 132"/>
                <a:gd name="T58" fmla="*/ 2147483646 w 100"/>
                <a:gd name="T59" fmla="*/ 1815945517 h 132"/>
                <a:gd name="T60" fmla="*/ 1486073451 w 100"/>
                <a:gd name="T61" fmla="*/ 2147483646 h 132"/>
                <a:gd name="T62" fmla="*/ 2147483646 w 100"/>
                <a:gd name="T63" fmla="*/ 988680999 h 132"/>
                <a:gd name="T64" fmla="*/ 713316565 w 100"/>
                <a:gd name="T65" fmla="*/ 988680999 h 132"/>
                <a:gd name="T66" fmla="*/ 713316565 w 100"/>
                <a:gd name="T67" fmla="*/ 726376410 h 132"/>
                <a:gd name="T68" fmla="*/ 1486073451 w 100"/>
                <a:gd name="T69" fmla="*/ 221949346 h 132"/>
                <a:gd name="T70" fmla="*/ 2147483646 w 100"/>
                <a:gd name="T71" fmla="*/ 726376410 h 132"/>
                <a:gd name="T72" fmla="*/ 2147483646 w 100"/>
                <a:gd name="T73" fmla="*/ 988680999 h 13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0"/>
                <a:gd name="T112" fmla="*/ 0 h 132"/>
                <a:gd name="T113" fmla="*/ 100 w 100"/>
                <a:gd name="T114" fmla="*/ 132 h 13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0" h="132">
                  <a:moveTo>
                    <a:pt x="50" y="70"/>
                  </a:moveTo>
                  <a:cubicBezTo>
                    <a:pt x="39" y="70"/>
                    <a:pt x="30" y="79"/>
                    <a:pt x="30" y="90"/>
                  </a:cubicBezTo>
                  <a:cubicBezTo>
                    <a:pt x="30" y="102"/>
                    <a:pt x="39" y="111"/>
                    <a:pt x="50" y="111"/>
                  </a:cubicBezTo>
                  <a:cubicBezTo>
                    <a:pt x="61" y="111"/>
                    <a:pt x="70" y="102"/>
                    <a:pt x="70" y="90"/>
                  </a:cubicBezTo>
                  <a:cubicBezTo>
                    <a:pt x="70" y="79"/>
                    <a:pt x="61" y="70"/>
                    <a:pt x="50" y="70"/>
                  </a:cubicBezTo>
                  <a:close/>
                  <a:moveTo>
                    <a:pt x="53" y="93"/>
                  </a:moveTo>
                  <a:cubicBezTo>
                    <a:pt x="53" y="102"/>
                    <a:pt x="53" y="102"/>
                    <a:pt x="53" y="102"/>
                  </a:cubicBezTo>
                  <a:cubicBezTo>
                    <a:pt x="53" y="104"/>
                    <a:pt x="52" y="105"/>
                    <a:pt x="50" y="105"/>
                  </a:cubicBezTo>
                  <a:cubicBezTo>
                    <a:pt x="48" y="105"/>
                    <a:pt x="47" y="104"/>
                    <a:pt x="47" y="102"/>
                  </a:cubicBezTo>
                  <a:cubicBezTo>
                    <a:pt x="47" y="93"/>
                    <a:pt x="47" y="93"/>
                    <a:pt x="47" y="93"/>
                  </a:cubicBezTo>
                  <a:cubicBezTo>
                    <a:pt x="44" y="91"/>
                    <a:pt x="41" y="88"/>
                    <a:pt x="41" y="84"/>
                  </a:cubicBezTo>
                  <a:cubicBezTo>
                    <a:pt x="41" y="80"/>
                    <a:pt x="45" y="76"/>
                    <a:pt x="50" y="76"/>
                  </a:cubicBezTo>
                  <a:cubicBezTo>
                    <a:pt x="55" y="76"/>
                    <a:pt x="59" y="80"/>
                    <a:pt x="59" y="84"/>
                  </a:cubicBezTo>
                  <a:cubicBezTo>
                    <a:pt x="59" y="88"/>
                    <a:pt x="56" y="91"/>
                    <a:pt x="53" y="93"/>
                  </a:cubicBezTo>
                  <a:close/>
                  <a:moveTo>
                    <a:pt x="86" y="50"/>
                  </a:moveTo>
                  <a:cubicBezTo>
                    <a:pt x="86" y="36"/>
                    <a:pt x="86" y="36"/>
                    <a:pt x="86" y="36"/>
                  </a:cubicBezTo>
                  <a:cubicBezTo>
                    <a:pt x="86" y="16"/>
                    <a:pt x="70" y="0"/>
                    <a:pt x="50" y="0"/>
                  </a:cubicBezTo>
                  <a:cubicBezTo>
                    <a:pt x="30" y="0"/>
                    <a:pt x="14" y="16"/>
                    <a:pt x="14" y="36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6" y="53"/>
                    <a:pt x="0" y="60"/>
                    <a:pt x="0" y="69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3"/>
                    <a:pt x="9" y="132"/>
                    <a:pt x="20" y="132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91" y="132"/>
                    <a:pt x="100" y="123"/>
                    <a:pt x="100" y="112"/>
                  </a:cubicBezTo>
                  <a:cubicBezTo>
                    <a:pt x="100" y="69"/>
                    <a:pt x="100" y="69"/>
                    <a:pt x="100" y="69"/>
                  </a:cubicBezTo>
                  <a:cubicBezTo>
                    <a:pt x="100" y="60"/>
                    <a:pt x="94" y="53"/>
                    <a:pt x="86" y="50"/>
                  </a:cubicBezTo>
                  <a:close/>
                  <a:moveTo>
                    <a:pt x="50" y="115"/>
                  </a:moveTo>
                  <a:cubicBezTo>
                    <a:pt x="36" y="115"/>
                    <a:pt x="25" y="104"/>
                    <a:pt x="25" y="90"/>
                  </a:cubicBezTo>
                  <a:cubicBezTo>
                    <a:pt x="25" y="77"/>
                    <a:pt x="36" y="66"/>
                    <a:pt x="50" y="66"/>
                  </a:cubicBezTo>
                  <a:cubicBezTo>
                    <a:pt x="64" y="66"/>
                    <a:pt x="75" y="77"/>
                    <a:pt x="75" y="90"/>
                  </a:cubicBezTo>
                  <a:cubicBezTo>
                    <a:pt x="75" y="104"/>
                    <a:pt x="64" y="115"/>
                    <a:pt x="50" y="115"/>
                  </a:cubicBezTo>
                  <a:close/>
                  <a:moveTo>
                    <a:pt x="76" y="49"/>
                  </a:moveTo>
                  <a:cubicBezTo>
                    <a:pt x="24" y="49"/>
                    <a:pt x="24" y="49"/>
                    <a:pt x="24" y="49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22"/>
                    <a:pt x="36" y="11"/>
                    <a:pt x="50" y="11"/>
                  </a:cubicBezTo>
                  <a:cubicBezTo>
                    <a:pt x="64" y="11"/>
                    <a:pt x="76" y="22"/>
                    <a:pt x="76" y="36"/>
                  </a:cubicBezTo>
                  <a:lnTo>
                    <a:pt x="76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" name="文本框 49"/>
          <p:cNvSpPr>
            <a:spLocks noChangeArrowheads="1"/>
          </p:cNvSpPr>
          <p:nvPr/>
        </p:nvSpPr>
        <p:spPr bwMode="auto">
          <a:xfrm>
            <a:off x="2944672" y="1935823"/>
            <a:ext cx="14372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2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1</a:t>
            </a:r>
            <a:endParaRPr lang="zh-CN" altLang="en-US" sz="24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2" name="文本框 50"/>
          <p:cNvSpPr>
            <a:spLocks noChangeArrowheads="1"/>
          </p:cNvSpPr>
          <p:nvPr/>
        </p:nvSpPr>
        <p:spPr bwMode="auto">
          <a:xfrm>
            <a:off x="2690672" y="2384558"/>
            <a:ext cx="154516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中断源发出中断请求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3" name="文本框 53"/>
          <p:cNvSpPr>
            <a:spLocks noChangeArrowheads="1"/>
          </p:cNvSpPr>
          <p:nvPr/>
        </p:nvSpPr>
        <p:spPr bwMode="auto">
          <a:xfrm>
            <a:off x="5920705" y="1935823"/>
            <a:ext cx="1439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2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2</a:t>
            </a:r>
            <a:endParaRPr lang="zh-CN" altLang="en-US" sz="24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4" name="文本框 54"/>
          <p:cNvSpPr>
            <a:spLocks noChangeArrowheads="1"/>
          </p:cNvSpPr>
          <p:nvPr/>
        </p:nvSpPr>
        <p:spPr bwMode="auto">
          <a:xfrm>
            <a:off x="5318514" y="2380324"/>
            <a:ext cx="230081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判断处理器是否允许中断，以及该中断源是否被屏蔽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5" name="文本框 56"/>
          <p:cNvSpPr>
            <a:spLocks noChangeArrowheads="1"/>
          </p:cNvSpPr>
          <p:nvPr/>
        </p:nvSpPr>
        <p:spPr bwMode="auto">
          <a:xfrm>
            <a:off x="8991988" y="1956990"/>
            <a:ext cx="1439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2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3</a:t>
            </a:r>
            <a:endParaRPr lang="zh-CN" altLang="en-US" sz="24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6" name="文本框 57"/>
          <p:cNvSpPr>
            <a:spLocks noChangeArrowheads="1"/>
          </p:cNvSpPr>
          <p:nvPr/>
        </p:nvSpPr>
        <p:spPr bwMode="auto">
          <a:xfrm>
            <a:off x="8850172" y="2384558"/>
            <a:ext cx="130347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中断优先级排队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0" name="文本框 59"/>
          <p:cNvSpPr>
            <a:spLocks noChangeArrowheads="1"/>
          </p:cNvSpPr>
          <p:nvPr/>
        </p:nvSpPr>
        <p:spPr bwMode="auto">
          <a:xfrm>
            <a:off x="2917155" y="4645157"/>
            <a:ext cx="14372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24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6</a:t>
            </a:r>
            <a:endParaRPr lang="zh-CN" altLang="en-US" sz="24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1" name="文本框 60"/>
          <p:cNvSpPr>
            <a:spLocks noChangeArrowheads="1"/>
          </p:cNvSpPr>
          <p:nvPr/>
        </p:nvSpPr>
        <p:spPr bwMode="auto">
          <a:xfrm>
            <a:off x="2242996" y="5028275"/>
            <a:ext cx="230505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恢复被保护的状态，执行中断返回指令，回到被中断的程序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2" name="文本框 62"/>
          <p:cNvSpPr>
            <a:spLocks noChangeArrowheads="1"/>
          </p:cNvSpPr>
          <p:nvPr/>
        </p:nvSpPr>
        <p:spPr bwMode="auto">
          <a:xfrm>
            <a:off x="5918588" y="4623990"/>
            <a:ext cx="1439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2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5</a:t>
            </a:r>
            <a:endParaRPr lang="zh-CN" altLang="en-US" sz="24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3" name="文本框 63"/>
          <p:cNvSpPr>
            <a:spLocks noChangeArrowheads="1"/>
          </p:cNvSpPr>
          <p:nvPr/>
        </p:nvSpPr>
        <p:spPr bwMode="auto">
          <a:xfrm>
            <a:off x="5342855" y="5072723"/>
            <a:ext cx="25124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执行中断服务程序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5" name="文本框 65"/>
          <p:cNvSpPr>
            <a:spLocks noChangeArrowheads="1"/>
          </p:cNvSpPr>
          <p:nvPr/>
        </p:nvSpPr>
        <p:spPr bwMode="auto">
          <a:xfrm>
            <a:off x="8991988" y="4623990"/>
            <a:ext cx="1439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步骤</a:t>
            </a:r>
            <a:r>
              <a:rPr lang="en-US" altLang="zh-CN" sz="24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4</a:t>
            </a:r>
            <a:endParaRPr lang="zh-CN" altLang="en-US" sz="24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6" name="文本框 66"/>
          <p:cNvSpPr>
            <a:spLocks noChangeArrowheads="1"/>
          </p:cNvSpPr>
          <p:nvPr/>
        </p:nvSpPr>
        <p:spPr bwMode="auto">
          <a:xfrm>
            <a:off x="8017167" y="5072724"/>
            <a:ext cx="3012783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处理器暂停当前程序，保护断点地址和处理器的当前状态，根据中断类型号，查找中断向量表，转到对应的中断服务程序</a:t>
            </a:r>
            <a:endParaRPr lang="zh-CN" altLang="en-US" sz="20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71" grpId="0"/>
      <p:bldP spid="72" grpId="0"/>
      <p:bldP spid="73" grpId="0"/>
      <p:bldP spid="74" grpId="0"/>
      <p:bldP spid="75" grpId="0"/>
      <p:bldP spid="76" grpId="0"/>
      <p:bldP spid="80" grpId="0"/>
      <p:bldP spid="81" grpId="0"/>
      <p:bldP spid="82" grpId="0"/>
      <p:bldP spid="83" grpId="0"/>
      <p:bldP spid="85" grpId="0"/>
      <p:bldP spid="8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179320"/>
            <a:ext cx="12195175" cy="1914525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0" y="2628088"/>
            <a:ext cx="12192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2  STM32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微控制器中断系统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59551" y="10781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基本概念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07450" y="2020212"/>
            <a:ext cx="10865718" cy="1330301"/>
            <a:chOff x="762864" y="1752438"/>
            <a:chExt cx="10865718" cy="1330301"/>
          </a:xfrm>
        </p:grpSpPr>
        <p:sp>
          <p:nvSpPr>
            <p:cNvPr id="21" name="矩形 20"/>
            <p:cNvSpPr/>
            <p:nvPr/>
          </p:nvSpPr>
          <p:spPr>
            <a:xfrm>
              <a:off x="762864" y="2077624"/>
              <a:ext cx="10865718" cy="1005115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3828885" y="1752438"/>
              <a:ext cx="4534230" cy="639247"/>
            </a:xfrm>
            <a:prstGeom prst="rect">
              <a:avLst/>
            </a:prstGeom>
            <a:solidFill>
              <a:srgbClr val="E44B46"/>
            </a:solidFill>
            <a:ln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101687" y="2474939"/>
              <a:ext cx="10332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中断是由内核外部产生的，一般由硬件引起，比如外设中断和外部中断等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07450" y="4045168"/>
            <a:ext cx="10865719" cy="1944310"/>
            <a:chOff x="762863" y="1752438"/>
            <a:chExt cx="10865719" cy="1944310"/>
          </a:xfrm>
        </p:grpSpPr>
        <p:sp>
          <p:nvSpPr>
            <p:cNvPr id="25" name="矩形 24"/>
            <p:cNvSpPr/>
            <p:nvPr/>
          </p:nvSpPr>
          <p:spPr>
            <a:xfrm>
              <a:off x="762863" y="2077623"/>
              <a:ext cx="10865719" cy="1619125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3828885" y="1752438"/>
              <a:ext cx="4534230" cy="639247"/>
            </a:xfrm>
            <a:prstGeom prst="rect">
              <a:avLst/>
            </a:prstGeom>
            <a:solidFill>
              <a:srgbClr val="E44B46"/>
            </a:solidFill>
            <a:ln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101686" y="2474939"/>
              <a:ext cx="10332931" cy="1135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异常通常是内核自身产生的，大多是软件引起的，比如除法出错异常、预取值失败等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Rectangle 52"/>
          <p:cNvSpPr/>
          <p:nvPr/>
        </p:nvSpPr>
        <p:spPr>
          <a:xfrm>
            <a:off x="5059645" y="1071641"/>
            <a:ext cx="207271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中断和异常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25804" y="1078164"/>
            <a:ext cx="9749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NVIC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42" name="图片 41"/>
          <p:cNvPicPr/>
          <p:nvPr/>
        </p:nvPicPr>
        <p:blipFill>
          <a:blip r:embed="rId1"/>
          <a:stretch>
            <a:fillRect/>
          </a:stretch>
        </p:blipFill>
        <p:spPr>
          <a:xfrm>
            <a:off x="1433513" y="1803594"/>
            <a:ext cx="9324975" cy="4514205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43" name="Rectangle 52"/>
          <p:cNvSpPr/>
          <p:nvPr/>
        </p:nvSpPr>
        <p:spPr>
          <a:xfrm>
            <a:off x="4290382" y="1071641"/>
            <a:ext cx="3405818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嵌套向量中断控制器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6096000" y="1562250"/>
            <a:ext cx="5809674" cy="859808"/>
          </a:xfrm>
          <a:prstGeom prst="wedgeRoundRectCallout">
            <a:avLst>
              <a:gd name="adj1" fmla="val -43249"/>
              <a:gd name="adj2" fmla="val 127015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NVIC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属于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Cortex-M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内核的组件，管理所有的中断和异常，为中断源分配中断通道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14893" y="3130261"/>
            <a:ext cx="761454" cy="557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120024" y="2143373"/>
            <a:ext cx="4158986" cy="3500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标注 16"/>
          <p:cNvSpPr/>
          <p:nvPr/>
        </p:nvSpPr>
        <p:spPr>
          <a:xfrm>
            <a:off x="98549" y="3408945"/>
            <a:ext cx="854509" cy="473932"/>
          </a:xfrm>
          <a:prstGeom prst="wedgeRoundRectCallout">
            <a:avLst>
              <a:gd name="adj1" fmla="val 59024"/>
              <a:gd name="adj2" fmla="val 104313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中断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965973" y="4546144"/>
            <a:ext cx="1958827" cy="8056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252919" y="3597002"/>
            <a:ext cx="1195881" cy="557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标注 16"/>
          <p:cNvSpPr/>
          <p:nvPr/>
        </p:nvSpPr>
        <p:spPr>
          <a:xfrm>
            <a:off x="9903978" y="3421235"/>
            <a:ext cx="854509" cy="473932"/>
          </a:xfrm>
          <a:prstGeom prst="wedgeRoundRectCallout">
            <a:avLst>
              <a:gd name="adj1" fmla="val -95161"/>
              <a:gd name="adj2" fmla="val 50373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异常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5" name="圆角矩形标注 16"/>
          <p:cNvSpPr/>
          <p:nvPr/>
        </p:nvSpPr>
        <p:spPr>
          <a:xfrm>
            <a:off x="8423604" y="4480396"/>
            <a:ext cx="854509" cy="473932"/>
          </a:xfrm>
          <a:prstGeom prst="wedgeRoundRectCallout">
            <a:avLst>
              <a:gd name="adj1" fmla="val -95161"/>
              <a:gd name="adj2" fmla="val 50373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异常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6" name="圆角矩形标注 16"/>
          <p:cNvSpPr/>
          <p:nvPr/>
        </p:nvSpPr>
        <p:spPr>
          <a:xfrm>
            <a:off x="1257038" y="2872394"/>
            <a:ext cx="1019787" cy="773517"/>
          </a:xfrm>
          <a:prstGeom prst="wedgeRoundRectCallout">
            <a:avLst>
              <a:gd name="adj1" fmla="val 68153"/>
              <a:gd name="adj2" fmla="val 33546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外设中断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7" name="圆角矩形标注 16"/>
          <p:cNvSpPr/>
          <p:nvPr/>
        </p:nvSpPr>
        <p:spPr>
          <a:xfrm>
            <a:off x="3199517" y="5494697"/>
            <a:ext cx="1019787" cy="773517"/>
          </a:xfrm>
          <a:prstGeom prst="wedgeRoundRectCallout">
            <a:avLst>
              <a:gd name="adj1" fmla="val -77901"/>
              <a:gd name="adj2" fmla="val -51762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外部中断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238609" y="10781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中断通道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674545" y="1744634"/>
            <a:ext cx="10865718" cy="2577725"/>
            <a:chOff x="762864" y="1752438"/>
            <a:chExt cx="10865718" cy="2577725"/>
          </a:xfrm>
        </p:grpSpPr>
        <p:sp>
          <p:nvSpPr>
            <p:cNvPr id="27" name="矩形 26"/>
            <p:cNvSpPr/>
            <p:nvPr/>
          </p:nvSpPr>
          <p:spPr>
            <a:xfrm>
              <a:off x="762864" y="2077625"/>
              <a:ext cx="10865718" cy="2252538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828885" y="1752438"/>
              <a:ext cx="4534230" cy="639247"/>
            </a:xfrm>
            <a:prstGeom prst="rect">
              <a:avLst/>
            </a:prstGeom>
            <a:solidFill>
              <a:srgbClr val="E44B46"/>
            </a:solidFill>
            <a:ln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中断通道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101687" y="2474939"/>
              <a:ext cx="10332931" cy="1689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微控制器片内集成了很多外设，对于单个外设而言，它通常具备若干个可以引起中断的中断源，而该外设的所有中断源只能通过指定的中断通道向内核申请中断。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98089" y="4533402"/>
            <a:ext cx="10879853" cy="1771076"/>
            <a:chOff x="215195" y="2112191"/>
            <a:chExt cx="2838870" cy="6009217"/>
          </a:xfrm>
        </p:grpSpPr>
        <p:sp>
          <p:nvSpPr>
            <p:cNvPr id="31" name="矩形 30"/>
            <p:cNvSpPr/>
            <p:nvPr/>
          </p:nvSpPr>
          <p:spPr>
            <a:xfrm>
              <a:off x="215195" y="2139884"/>
              <a:ext cx="2838870" cy="5981524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97461" y="2112191"/>
              <a:ext cx="2696162" cy="5730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以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STM32F411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芯片为例，它支持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68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个中断通道，已经固定分配给相应的片内外设。由于中断源数量较多，而中断通道有限，会出现多个中断源共享同一个中断通道的情况。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92429" y="1078164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中断优先级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915049" y="2227937"/>
            <a:ext cx="4486375" cy="3970318"/>
          </a:xfrm>
          <a:prstGeom prst="rect">
            <a:avLst/>
          </a:prstGeom>
          <a:ln w="38100">
            <a:noFill/>
            <a:prstDash val="dash"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多个中断同时提出中断申请时：先比较抢占优先级，抢占优先级高的中断先执行。如果抢占优先级相同，则比较子优先级。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二者都相同时，比较中断编号。编号越小，优先级越高。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5612483" y="3865433"/>
            <a:ext cx="695325" cy="390525"/>
          </a:xfrm>
          <a:prstGeom prst="rightArrow">
            <a:avLst/>
          </a:prstGeom>
          <a:solidFill>
            <a:srgbClr val="FF22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31581" y="2238243"/>
            <a:ext cx="4232272" cy="3970318"/>
          </a:xfrm>
          <a:prstGeom prst="rect">
            <a:avLst/>
          </a:prstGeom>
          <a:noFill/>
          <a:ln w="38100">
            <a:noFill/>
            <a:prstDash val="dash"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中有一个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位中断优先级寄存器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NVIC_IPR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，理论上可以配置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0~255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级中断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STM32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只使用了其中的高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位，并分成抢占优先级和子优先级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96252" y="2074043"/>
            <a:ext cx="4486374" cy="4216055"/>
          </a:xfrm>
          <a:prstGeom prst="rect">
            <a:avLst/>
          </a:prstGeom>
          <a:noFill/>
          <a:ln w="38100">
            <a:solidFill>
              <a:srgbClr val="E44B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867928" y="2074043"/>
            <a:ext cx="4486375" cy="4216055"/>
          </a:xfrm>
          <a:prstGeom prst="rect">
            <a:avLst/>
          </a:prstGeom>
          <a:noFill/>
          <a:ln w="38100">
            <a:solidFill>
              <a:srgbClr val="E44B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5245228" y="3403768"/>
            <a:ext cx="146009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中断嵌套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22" name="圆角矩形标注 35"/>
          <p:cNvSpPr/>
          <p:nvPr/>
        </p:nvSpPr>
        <p:spPr>
          <a:xfrm>
            <a:off x="4765360" y="4841543"/>
            <a:ext cx="2149689" cy="859808"/>
          </a:xfrm>
          <a:prstGeom prst="wedgeRoundRectCallout">
            <a:avLst>
              <a:gd name="adj1" fmla="val 69980"/>
              <a:gd name="adj2" fmla="val 21877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中断编号位于芯片头文件中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 animBg="1"/>
      <p:bldP spid="19" grpId="0" animBg="1"/>
      <p:bldP spid="21" grpId="0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92429" y="1078164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优先级分组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82338" y="1763074"/>
          <a:ext cx="11227324" cy="3496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52492"/>
                <a:gridCol w="3042383"/>
                <a:gridCol w="2832449"/>
              </a:tblGrid>
              <a:tr h="582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优先级分组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  <a:latin typeface="+mn-ea"/>
                          <a:ea typeface="+mn-ea"/>
                        </a:rPr>
                        <a:t>抢占优先级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>
                          <a:effectLst/>
                          <a:latin typeface="+mn-ea"/>
                          <a:ea typeface="+mn-ea"/>
                        </a:rPr>
                        <a:t>子优先级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2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组：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NVIC_PriorityGroup_0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无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级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0~15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2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组：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NVIC_PriorityGroup_1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级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0~1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/8</a:t>
                      </a:r>
                      <a:r>
                        <a:rPr lang="zh-CN" altLang="zh-CN" sz="2400" b="1" kern="1200" dirty="0">
                          <a:effectLst/>
                          <a:latin typeface="+mn-ea"/>
                          <a:ea typeface="+mn-ea"/>
                        </a:rPr>
                        <a:t>级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0~7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2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200"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2400" b="1" kern="120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sz="2400" b="1" kern="1200">
                          <a:effectLst/>
                          <a:latin typeface="+mn-ea"/>
                          <a:ea typeface="+mn-ea"/>
                        </a:rPr>
                        <a:t>组：</a:t>
                      </a:r>
                      <a:r>
                        <a:rPr lang="en-US" sz="2400" b="1" kern="1200">
                          <a:effectLst/>
                          <a:latin typeface="+mn-ea"/>
                          <a:ea typeface="+mn-ea"/>
                        </a:rPr>
                        <a:t>NVIC_PriorityGroup_2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级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0~3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/4</a:t>
                      </a:r>
                      <a:r>
                        <a:rPr lang="zh-CN" altLang="zh-CN" sz="2400" b="1" kern="1200" dirty="0">
                          <a:effectLst/>
                          <a:latin typeface="+mn-ea"/>
                          <a:ea typeface="+mn-ea"/>
                        </a:rPr>
                        <a:t>级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0~3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2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组：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NVIC_PriorityGroup_3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级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0~7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/2</a:t>
                      </a:r>
                      <a:r>
                        <a:rPr lang="zh-CN" altLang="zh-CN" sz="2400" b="1" kern="1200" dirty="0">
                          <a:effectLst/>
                          <a:latin typeface="+mn-ea"/>
                          <a:ea typeface="+mn-ea"/>
                        </a:rPr>
                        <a:t>级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0~1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27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组：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NVIC_PriorityGroup_4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2400" b="1" kern="1200" dirty="0"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sz="2400" b="1" kern="1200" dirty="0">
                          <a:effectLst/>
                          <a:latin typeface="+mn-ea"/>
                          <a:ea typeface="+mn-ea"/>
                        </a:rPr>
                        <a:t>级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2400" b="1" kern="1200" dirty="0">
                          <a:effectLst/>
                          <a:latin typeface="+mn-ea"/>
                          <a:ea typeface="+mn-ea"/>
                        </a:rPr>
                        <a:t>0~15</a:t>
                      </a: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b="1" kern="1200" dirty="0">
                          <a:effectLst/>
                          <a:latin typeface="+mn-ea"/>
                          <a:ea typeface="+mn-ea"/>
                        </a:rPr>
                        <a:t>无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7" name="Rectangle 52"/>
          <p:cNvSpPr/>
          <p:nvPr/>
        </p:nvSpPr>
        <p:spPr>
          <a:xfrm>
            <a:off x="4116964" y="1071641"/>
            <a:ext cx="395807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STM32</a:t>
            </a:r>
            <a:r>
              <a:rPr lang="zh-CN" altLang="en-US" sz="2800" b="1" dirty="0">
                <a:latin typeface="+mn-ea"/>
                <a:ea typeface="+mn-ea"/>
              </a:rPr>
              <a:t>中断优先级分组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2337" y="5476042"/>
            <a:ext cx="11227323" cy="1207562"/>
            <a:chOff x="482338" y="5476042"/>
            <a:chExt cx="11151910" cy="1207562"/>
          </a:xfrm>
        </p:grpSpPr>
        <p:sp>
          <p:nvSpPr>
            <p:cNvPr id="3" name="矩形 2"/>
            <p:cNvSpPr/>
            <p:nvPr/>
          </p:nvSpPr>
          <p:spPr>
            <a:xfrm>
              <a:off x="613934" y="5512296"/>
              <a:ext cx="10927237" cy="1135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HAL</a:t>
              </a:r>
              <a:r>
                <a:rPr lang="zh-CN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库初始化函数</a:t>
              </a:r>
              <a:r>
                <a:rPr lang="en-US" altLang="zh-CN" sz="2400" b="1" dirty="0" err="1">
                  <a:latin typeface="+mn-ea"/>
                  <a:ea typeface="+mn-ea"/>
                  <a:cs typeface="宋体" panose="02010600030101010101" pitchFamily="2" charset="-122"/>
                </a:rPr>
                <a:t>HAL_Init</a:t>
              </a:r>
              <a:r>
                <a:rPr lang="zh-CN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将优先级分组设置为第</a:t>
              </a:r>
              <a:r>
                <a:rPr lang="en-US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4</a:t>
              </a:r>
              <a:r>
                <a:rPr lang="zh-CN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组，即有</a:t>
              </a:r>
              <a:r>
                <a:rPr lang="en-US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0</a:t>
              </a:r>
              <a:r>
                <a:rPr lang="zh-CN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～</a:t>
              </a:r>
              <a:r>
                <a:rPr lang="en-US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15</a:t>
              </a:r>
              <a:r>
                <a:rPr lang="zh-CN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，共</a:t>
              </a:r>
              <a:r>
                <a:rPr lang="en-US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16</a:t>
              </a:r>
              <a:r>
                <a:rPr lang="zh-CN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级抢占优先级，没有子优先级。编号越小的优先级越高：</a:t>
              </a:r>
              <a:r>
                <a:rPr lang="en-US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0</a:t>
              </a:r>
              <a:r>
                <a:rPr lang="zh-CN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号为最高，</a:t>
              </a:r>
              <a:r>
                <a:rPr lang="en-US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15</a:t>
              </a:r>
              <a:r>
                <a:rPr lang="zh-CN" altLang="zh-CN" sz="2400" b="1" dirty="0">
                  <a:latin typeface="+mn-ea"/>
                  <a:ea typeface="+mn-ea"/>
                  <a:cs typeface="宋体" panose="02010600030101010101" pitchFamily="2" charset="-122"/>
                </a:rPr>
                <a:t>号为最低</a:t>
              </a:r>
              <a:r>
                <a:rPr lang="zh-CN" altLang="en-US" sz="2400" b="1" dirty="0">
                  <a:latin typeface="+mn-ea"/>
                  <a:ea typeface="+mn-ea"/>
                  <a:cs typeface="宋体" panose="02010600030101010101" pitchFamily="2" charset="-122"/>
                </a:rPr>
                <a:t>。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82338" y="5476042"/>
              <a:ext cx="11151910" cy="1207562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83529" y="1078164"/>
            <a:ext cx="8828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EXTI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38" name="Rectangle 52"/>
          <p:cNvSpPr/>
          <p:nvPr/>
        </p:nvSpPr>
        <p:spPr>
          <a:xfrm>
            <a:off x="4746337" y="1071641"/>
            <a:ext cx="269932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外部中断控制器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grpSp>
        <p:nvGrpSpPr>
          <p:cNvPr id="34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36" name="矩形 35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1" name="矩形 30"/>
          <p:cNvSpPr/>
          <p:nvPr/>
        </p:nvSpPr>
        <p:spPr>
          <a:xfrm>
            <a:off x="1521222" y="2335448"/>
            <a:ext cx="8954947" cy="3416320"/>
          </a:xfrm>
          <a:prstGeom prst="rect">
            <a:avLst/>
          </a:prstGeom>
          <a:ln w="38100">
            <a:noFill/>
            <a:prstDash val="dash"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个外部中断线（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EXTI Line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号外部中断线用于由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引脚触发的外部中断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号外部中断线用于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闹钟事件、以太网唤醒事件和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唤醒事件等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当对应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引脚与外部中断线连接后，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引脚才具备外部中断的功能，可以设置外部中断的触发方式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53139" y="2234243"/>
            <a:ext cx="9485723" cy="3699185"/>
          </a:xfrm>
          <a:prstGeom prst="rect">
            <a:avLst/>
          </a:prstGeom>
          <a:noFill/>
          <a:ln w="38100">
            <a:solidFill>
              <a:srgbClr val="E44B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932" y="79142"/>
            <a:ext cx="8650136" cy="6690105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8" name="Rectangle 52"/>
          <p:cNvSpPr/>
          <p:nvPr/>
        </p:nvSpPr>
        <p:spPr>
          <a:xfrm>
            <a:off x="303182" y="1464179"/>
            <a:ext cx="2699327" cy="954107"/>
          </a:xfrm>
          <a:prstGeom prst="rect">
            <a:avLst/>
          </a:prstGeom>
          <a:solidFill>
            <a:srgbClr val="E44B46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外部中断控制器</a:t>
            </a:r>
            <a:endParaRPr lang="en-US" altLang="zh-CN" sz="28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结构框图</a:t>
            </a:r>
            <a:endParaRPr lang="zh-CN" altLang="en-US" sz="2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762230" y="4529145"/>
            <a:ext cx="590001" cy="590001"/>
            <a:chOff x="900445" y="3896745"/>
            <a:chExt cx="590001" cy="590001"/>
          </a:xfrm>
        </p:grpSpPr>
        <p:sp>
          <p:nvSpPr>
            <p:cNvPr id="20" name="椭圆 19"/>
            <p:cNvSpPr/>
            <p:nvPr/>
          </p:nvSpPr>
          <p:spPr>
            <a:xfrm>
              <a:off x="967465" y="3963765"/>
              <a:ext cx="455963" cy="455963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Rounded MT Bold" panose="020F0704030504030204" pitchFamily="34" charset="0"/>
                </a:rPr>
                <a:t>1</a:t>
              </a:r>
              <a:endParaRPr lang="zh-CN" altLang="en-US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21" name="同心圆 20"/>
            <p:cNvSpPr/>
            <p:nvPr/>
          </p:nvSpPr>
          <p:spPr>
            <a:xfrm>
              <a:off x="900445" y="3896745"/>
              <a:ext cx="590001" cy="590001"/>
            </a:xfrm>
            <a:prstGeom prst="donut">
              <a:avLst>
                <a:gd name="adj" fmla="val 1299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" name="圆角矩形标注 21"/>
          <p:cNvSpPr/>
          <p:nvPr/>
        </p:nvSpPr>
        <p:spPr>
          <a:xfrm>
            <a:off x="9829250" y="3345350"/>
            <a:ext cx="2124941" cy="807169"/>
          </a:xfrm>
          <a:prstGeom prst="wedgeRoundRectCallout">
            <a:avLst>
              <a:gd name="adj1" fmla="val -37022"/>
              <a:gd name="adj2" fmla="val 95829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通过寄存器配置和</a:t>
            </a:r>
            <a:r>
              <a:rPr lang="en-US" altLang="zh-CN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引脚相连</a:t>
            </a:r>
            <a:endParaRPr lang="zh-CN" altLang="en-US" sz="20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7991298" y="4272530"/>
            <a:ext cx="590001" cy="590001"/>
            <a:chOff x="900445" y="3896745"/>
            <a:chExt cx="590001" cy="590001"/>
          </a:xfrm>
        </p:grpSpPr>
        <p:sp>
          <p:nvSpPr>
            <p:cNvPr id="27" name="椭圆 26"/>
            <p:cNvSpPr/>
            <p:nvPr/>
          </p:nvSpPr>
          <p:spPr>
            <a:xfrm>
              <a:off x="967465" y="3963765"/>
              <a:ext cx="455963" cy="455963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Rounded MT Bold" panose="020F0704030504030204" pitchFamily="34" charset="0"/>
                </a:rPr>
                <a:t>2</a:t>
              </a:r>
              <a:endParaRPr lang="zh-CN" altLang="en-US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28" name="同心圆 27"/>
            <p:cNvSpPr/>
            <p:nvPr/>
          </p:nvSpPr>
          <p:spPr>
            <a:xfrm>
              <a:off x="900445" y="3896745"/>
              <a:ext cx="590001" cy="590001"/>
            </a:xfrm>
            <a:prstGeom prst="donut">
              <a:avLst>
                <a:gd name="adj" fmla="val 1299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圆角矩形标注 28"/>
          <p:cNvSpPr/>
          <p:nvPr/>
        </p:nvSpPr>
        <p:spPr>
          <a:xfrm>
            <a:off x="8879352" y="5665322"/>
            <a:ext cx="3188516" cy="1074300"/>
          </a:xfrm>
          <a:prstGeom prst="wedgeRoundRectCallout">
            <a:avLst>
              <a:gd name="adj1" fmla="val -43319"/>
              <a:gd name="adj2" fmla="val -76283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根据用户的配置，检测边沿变化，当检测到有效的边沿变化时输出信号“</a:t>
            </a:r>
            <a:r>
              <a:rPr lang="en-US" altLang="zh-CN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”</a:t>
            </a:r>
            <a:endParaRPr lang="zh-CN" altLang="en-US" sz="20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766189" y="4272529"/>
            <a:ext cx="590001" cy="590001"/>
            <a:chOff x="900445" y="3896745"/>
            <a:chExt cx="590001" cy="590001"/>
          </a:xfrm>
        </p:grpSpPr>
        <p:sp>
          <p:nvSpPr>
            <p:cNvPr id="31" name="椭圆 30"/>
            <p:cNvSpPr/>
            <p:nvPr/>
          </p:nvSpPr>
          <p:spPr>
            <a:xfrm>
              <a:off x="967465" y="3963765"/>
              <a:ext cx="455963" cy="455963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Rounded MT Bold" panose="020F0704030504030204" pitchFamily="34" charset="0"/>
                </a:rPr>
                <a:t>3</a:t>
              </a:r>
              <a:endParaRPr lang="zh-CN" altLang="en-US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2" name="同心圆 31"/>
            <p:cNvSpPr/>
            <p:nvPr/>
          </p:nvSpPr>
          <p:spPr>
            <a:xfrm>
              <a:off x="900445" y="3896745"/>
              <a:ext cx="590001" cy="590001"/>
            </a:xfrm>
            <a:prstGeom prst="donut">
              <a:avLst>
                <a:gd name="adj" fmla="val 1299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9" name="圆角矩形标注 38"/>
          <p:cNvSpPr/>
          <p:nvPr/>
        </p:nvSpPr>
        <p:spPr>
          <a:xfrm>
            <a:off x="6702031" y="3457174"/>
            <a:ext cx="1093470" cy="646331"/>
          </a:xfrm>
          <a:prstGeom prst="wedgeRoundRectCallout">
            <a:avLst>
              <a:gd name="adj1" fmla="val -77523"/>
              <a:gd name="adj2" fmla="val 41220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软件</a:t>
            </a:r>
            <a:endParaRPr lang="en-US" altLang="zh-CN" sz="20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中断</a:t>
            </a:r>
            <a:endParaRPr lang="zh-CN" altLang="en-US" sz="20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07809" y="4810720"/>
            <a:ext cx="433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endParaRPr lang="zh-CN" altLang="en-US" sz="36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455382" y="3357175"/>
            <a:ext cx="590001" cy="590001"/>
            <a:chOff x="900445" y="3896745"/>
            <a:chExt cx="590001" cy="590001"/>
          </a:xfrm>
        </p:grpSpPr>
        <p:sp>
          <p:nvSpPr>
            <p:cNvPr id="41" name="椭圆 40"/>
            <p:cNvSpPr/>
            <p:nvPr/>
          </p:nvSpPr>
          <p:spPr>
            <a:xfrm>
              <a:off x="967465" y="3963765"/>
              <a:ext cx="455963" cy="455963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Rounded MT Bold" panose="020F0704030504030204" pitchFamily="34" charset="0"/>
                </a:rPr>
                <a:t>4</a:t>
              </a:r>
              <a:endParaRPr lang="zh-CN" altLang="en-US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42" name="同心圆 41"/>
            <p:cNvSpPr/>
            <p:nvPr/>
          </p:nvSpPr>
          <p:spPr>
            <a:xfrm>
              <a:off x="900445" y="3896745"/>
              <a:ext cx="590001" cy="590001"/>
            </a:xfrm>
            <a:prstGeom prst="donut">
              <a:avLst>
                <a:gd name="adj" fmla="val 1299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圆角矩形标注 42"/>
          <p:cNvSpPr/>
          <p:nvPr/>
        </p:nvSpPr>
        <p:spPr>
          <a:xfrm>
            <a:off x="5388734" y="4161262"/>
            <a:ext cx="1313297" cy="519546"/>
          </a:xfrm>
          <a:prstGeom prst="wedgeRoundRectCallout">
            <a:avLst>
              <a:gd name="adj1" fmla="val -47825"/>
              <a:gd name="adj2" fmla="val -117930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中断屏蔽</a:t>
            </a:r>
            <a:endParaRPr lang="zh-CN" altLang="en-US" sz="20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968589" y="2910162"/>
            <a:ext cx="590001" cy="590001"/>
            <a:chOff x="900445" y="3896745"/>
            <a:chExt cx="590001" cy="590001"/>
          </a:xfrm>
        </p:grpSpPr>
        <p:sp>
          <p:nvSpPr>
            <p:cNvPr id="45" name="椭圆 44"/>
            <p:cNvSpPr/>
            <p:nvPr/>
          </p:nvSpPr>
          <p:spPr>
            <a:xfrm>
              <a:off x="967465" y="3963765"/>
              <a:ext cx="455963" cy="455963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Rounded MT Bold" panose="020F0704030504030204" pitchFamily="34" charset="0"/>
                </a:rPr>
                <a:t>6</a:t>
              </a:r>
              <a:endParaRPr lang="zh-CN" altLang="en-US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46" name="同心圆 45"/>
            <p:cNvSpPr/>
            <p:nvPr/>
          </p:nvSpPr>
          <p:spPr>
            <a:xfrm>
              <a:off x="900445" y="3896745"/>
              <a:ext cx="590001" cy="590001"/>
            </a:xfrm>
            <a:prstGeom prst="donut">
              <a:avLst>
                <a:gd name="adj" fmla="val 1299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圆角矩形标注 46"/>
          <p:cNvSpPr/>
          <p:nvPr/>
        </p:nvSpPr>
        <p:spPr>
          <a:xfrm>
            <a:off x="2604284" y="4227093"/>
            <a:ext cx="1833960" cy="568419"/>
          </a:xfrm>
          <a:prstGeom prst="wedgeRoundRectCallout">
            <a:avLst>
              <a:gd name="adj1" fmla="val 41223"/>
              <a:gd name="adj2" fmla="val -134233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置位中断标志</a:t>
            </a:r>
            <a:endParaRPr lang="zh-CN" altLang="en-US" sz="20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4323770" y="3357176"/>
            <a:ext cx="590001" cy="590001"/>
            <a:chOff x="900445" y="3896745"/>
            <a:chExt cx="590001" cy="590001"/>
          </a:xfrm>
        </p:grpSpPr>
        <p:sp>
          <p:nvSpPr>
            <p:cNvPr id="49" name="椭圆 48"/>
            <p:cNvSpPr/>
            <p:nvPr/>
          </p:nvSpPr>
          <p:spPr>
            <a:xfrm>
              <a:off x="967465" y="3963765"/>
              <a:ext cx="455963" cy="455963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Rounded MT Bold" panose="020F0704030504030204" pitchFamily="34" charset="0"/>
                </a:rPr>
                <a:t>5</a:t>
              </a:r>
              <a:endParaRPr lang="zh-CN" altLang="en-US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50" name="同心圆 49"/>
            <p:cNvSpPr/>
            <p:nvPr/>
          </p:nvSpPr>
          <p:spPr>
            <a:xfrm>
              <a:off x="900445" y="3896745"/>
              <a:ext cx="590001" cy="590001"/>
            </a:xfrm>
            <a:prstGeom prst="donut">
              <a:avLst>
                <a:gd name="adj" fmla="val 1299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1" name="圆角矩形标注 50"/>
          <p:cNvSpPr/>
          <p:nvPr/>
        </p:nvSpPr>
        <p:spPr>
          <a:xfrm>
            <a:off x="58294" y="3025189"/>
            <a:ext cx="1660096" cy="815912"/>
          </a:xfrm>
          <a:prstGeom prst="wedgeRoundRectCallout">
            <a:avLst>
              <a:gd name="adj1" fmla="val 62965"/>
              <a:gd name="adj2" fmla="val 43287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至</a:t>
            </a:r>
            <a:r>
              <a:rPr lang="en-US" altLang="zh-CN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NVIC</a:t>
            </a:r>
            <a:r>
              <a:rPr lang="zh-CN" altLang="en-US" sz="20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分配的中断通道</a:t>
            </a:r>
            <a:endParaRPr lang="zh-CN" altLang="en-US" sz="20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9" grpId="0" animBg="1"/>
      <p:bldP spid="39" grpId="0" animBg="1"/>
      <p:bldP spid="4" grpId="0"/>
      <p:bldP spid="43" grpId="0" animBg="1"/>
      <p:bldP spid="47" grpId="0" animBg="1"/>
      <p:bldP spid="5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297204" y="1078164"/>
            <a:ext cx="15921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引脚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17" name="Freeform 3"/>
          <p:cNvSpPr>
            <a:spLocks noChangeArrowheads="1"/>
          </p:cNvSpPr>
          <p:nvPr/>
        </p:nvSpPr>
        <p:spPr bwMode="auto">
          <a:xfrm rot="10698362" flipV="1">
            <a:off x="4864101" y="3191933"/>
            <a:ext cx="2112433" cy="1153584"/>
          </a:xfrm>
          <a:custGeom>
            <a:avLst/>
            <a:gdLst>
              <a:gd name="T0" fmla="*/ 0 w 982"/>
              <a:gd name="T1" fmla="*/ 2147483647 h 774"/>
              <a:gd name="T2" fmla="*/ 2147483647 w 982"/>
              <a:gd name="T3" fmla="*/ 2147483647 h 774"/>
              <a:gd name="T4" fmla="*/ 2147483647 w 982"/>
              <a:gd name="T5" fmla="*/ 2147483647 h 774"/>
              <a:gd name="T6" fmla="*/ 2147483647 w 982"/>
              <a:gd name="T7" fmla="*/ 2147483647 h 774"/>
              <a:gd name="T8" fmla="*/ 2147483647 w 982"/>
              <a:gd name="T9" fmla="*/ 2147483647 h 774"/>
              <a:gd name="T10" fmla="*/ 2147483647 w 982"/>
              <a:gd name="T11" fmla="*/ 2147483647 h 774"/>
              <a:gd name="T12" fmla="*/ 2147483647 w 982"/>
              <a:gd name="T13" fmla="*/ 2147483647 h 774"/>
              <a:gd name="T14" fmla="*/ 2147483647 w 982"/>
              <a:gd name="T15" fmla="*/ 2147483647 h 774"/>
              <a:gd name="T16" fmla="*/ 2147483647 w 982"/>
              <a:gd name="T17" fmla="*/ 2147483647 h 774"/>
              <a:gd name="T18" fmla="*/ 2147483647 w 982"/>
              <a:gd name="T19" fmla="*/ 2147483647 h 774"/>
              <a:gd name="T20" fmla="*/ 2147483647 w 982"/>
              <a:gd name="T21" fmla="*/ 2147483647 h 774"/>
              <a:gd name="T22" fmla="*/ 2147483647 w 982"/>
              <a:gd name="T23" fmla="*/ 2147483647 h 774"/>
              <a:gd name="T24" fmla="*/ 2147483647 w 982"/>
              <a:gd name="T25" fmla="*/ 2147483647 h 774"/>
              <a:gd name="T26" fmla="*/ 2147483647 w 982"/>
              <a:gd name="T27" fmla="*/ 2147483647 h 774"/>
              <a:gd name="T28" fmla="*/ 2147483647 w 982"/>
              <a:gd name="T29" fmla="*/ 2147483647 h 774"/>
              <a:gd name="T30" fmla="*/ 2147483647 w 982"/>
              <a:gd name="T31" fmla="*/ 2147483647 h 774"/>
              <a:gd name="T32" fmla="*/ 2147483647 w 982"/>
              <a:gd name="T33" fmla="*/ 2147483647 h 774"/>
              <a:gd name="T34" fmla="*/ 2147483647 w 982"/>
              <a:gd name="T35" fmla="*/ 2147483647 h 774"/>
              <a:gd name="T36" fmla="*/ 2147483647 w 982"/>
              <a:gd name="T37" fmla="*/ 2147483647 h 774"/>
              <a:gd name="T38" fmla="*/ 2147483647 w 982"/>
              <a:gd name="T39" fmla="*/ 2147483647 h 774"/>
              <a:gd name="T40" fmla="*/ 2147483647 w 982"/>
              <a:gd name="T41" fmla="*/ 2147483647 h 774"/>
              <a:gd name="T42" fmla="*/ 2147483647 w 982"/>
              <a:gd name="T43" fmla="*/ 2147483647 h 774"/>
              <a:gd name="T44" fmla="*/ 2147483647 w 982"/>
              <a:gd name="T45" fmla="*/ 2147483647 h 774"/>
              <a:gd name="T46" fmla="*/ 2147483647 w 982"/>
              <a:gd name="T47" fmla="*/ 2147483647 h 774"/>
              <a:gd name="T48" fmla="*/ 2147483647 w 982"/>
              <a:gd name="T49" fmla="*/ 2147483647 h 774"/>
              <a:gd name="T50" fmla="*/ 2147483647 w 982"/>
              <a:gd name="T51" fmla="*/ 2147483647 h 774"/>
              <a:gd name="T52" fmla="*/ 2147483647 w 982"/>
              <a:gd name="T53" fmla="*/ 0 h 774"/>
              <a:gd name="T54" fmla="*/ 2147483647 w 982"/>
              <a:gd name="T55" fmla="*/ 2147483647 h 774"/>
              <a:gd name="T56" fmla="*/ 2147483647 w 982"/>
              <a:gd name="T57" fmla="*/ 2147483647 h 774"/>
              <a:gd name="T58" fmla="*/ 2147483647 w 982"/>
              <a:gd name="T59" fmla="*/ 2147483647 h 774"/>
              <a:gd name="T60" fmla="*/ 2147483647 w 982"/>
              <a:gd name="T61" fmla="*/ 2147483647 h 774"/>
              <a:gd name="T62" fmla="*/ 2147483647 w 982"/>
              <a:gd name="T63" fmla="*/ 2147483647 h 774"/>
              <a:gd name="T64" fmla="*/ 2147483647 w 982"/>
              <a:gd name="T65" fmla="*/ 2147483647 h 774"/>
              <a:gd name="T66" fmla="*/ 2147483647 w 982"/>
              <a:gd name="T67" fmla="*/ 2147483647 h 774"/>
              <a:gd name="T68" fmla="*/ 2147483647 w 982"/>
              <a:gd name="T69" fmla="*/ 2147483647 h 774"/>
              <a:gd name="T70" fmla="*/ 2147483647 w 982"/>
              <a:gd name="T71" fmla="*/ 2147483647 h 774"/>
              <a:gd name="T72" fmla="*/ 2147483647 w 982"/>
              <a:gd name="T73" fmla="*/ 2147483647 h 774"/>
              <a:gd name="T74" fmla="*/ 2147483647 w 982"/>
              <a:gd name="T75" fmla="*/ 2147483647 h 774"/>
              <a:gd name="T76" fmla="*/ 2147483647 w 982"/>
              <a:gd name="T77" fmla="*/ 2147483647 h 774"/>
              <a:gd name="T78" fmla="*/ 2147483647 w 982"/>
              <a:gd name="T79" fmla="*/ 2147483647 h 774"/>
              <a:gd name="T80" fmla="*/ 2147483647 w 982"/>
              <a:gd name="T81" fmla="*/ 2147483647 h 774"/>
              <a:gd name="T82" fmla="*/ 2147483647 w 982"/>
              <a:gd name="T83" fmla="*/ 2147483647 h 774"/>
              <a:gd name="T84" fmla="*/ 2147483647 w 982"/>
              <a:gd name="T85" fmla="*/ 2147483647 h 774"/>
              <a:gd name="T86" fmla="*/ 2147483647 w 982"/>
              <a:gd name="T87" fmla="*/ 2147483647 h 774"/>
              <a:gd name="T88" fmla="*/ 2147483647 w 982"/>
              <a:gd name="T89" fmla="*/ 2147483647 h 774"/>
              <a:gd name="T90" fmla="*/ 2147483647 w 982"/>
              <a:gd name="T91" fmla="*/ 2147483647 h 774"/>
              <a:gd name="T92" fmla="*/ 2147483647 w 982"/>
              <a:gd name="T93" fmla="*/ 2147483647 h 774"/>
              <a:gd name="T94" fmla="*/ 2147483647 w 982"/>
              <a:gd name="T95" fmla="*/ 2147483647 h 774"/>
              <a:gd name="T96" fmla="*/ 2147483647 w 982"/>
              <a:gd name="T97" fmla="*/ 2147483647 h 774"/>
              <a:gd name="T98" fmla="*/ 2147483647 w 982"/>
              <a:gd name="T99" fmla="*/ 2147483647 h 774"/>
              <a:gd name="T100" fmla="*/ 2147483647 w 982"/>
              <a:gd name="T101" fmla="*/ 2147483647 h 774"/>
              <a:gd name="T102" fmla="*/ 2147483647 w 982"/>
              <a:gd name="T103" fmla="*/ 2147483647 h 774"/>
              <a:gd name="T104" fmla="*/ 0 w 982"/>
              <a:gd name="T105" fmla="*/ 2147483647 h 774"/>
              <a:gd name="T106" fmla="*/ 0 w 982"/>
              <a:gd name="T107" fmla="*/ 2147483647 h 774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982"/>
              <a:gd name="T163" fmla="*/ 0 h 774"/>
              <a:gd name="T164" fmla="*/ 982 w 982"/>
              <a:gd name="T165" fmla="*/ 774 h 774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982" h="774">
                <a:moveTo>
                  <a:pt x="0" y="774"/>
                </a:moveTo>
                <a:lnTo>
                  <a:pt x="2" y="770"/>
                </a:lnTo>
                <a:lnTo>
                  <a:pt x="8" y="754"/>
                </a:lnTo>
                <a:lnTo>
                  <a:pt x="16" y="730"/>
                </a:lnTo>
                <a:lnTo>
                  <a:pt x="32" y="698"/>
                </a:lnTo>
                <a:lnTo>
                  <a:pt x="50" y="660"/>
                </a:lnTo>
                <a:lnTo>
                  <a:pt x="76" y="618"/>
                </a:lnTo>
                <a:lnTo>
                  <a:pt x="106" y="574"/>
                </a:lnTo>
                <a:lnTo>
                  <a:pt x="142" y="528"/>
                </a:lnTo>
                <a:lnTo>
                  <a:pt x="186" y="482"/>
                </a:lnTo>
                <a:lnTo>
                  <a:pt x="236" y="438"/>
                </a:lnTo>
                <a:lnTo>
                  <a:pt x="294" y="398"/>
                </a:lnTo>
                <a:lnTo>
                  <a:pt x="360" y="360"/>
                </a:lnTo>
                <a:lnTo>
                  <a:pt x="426" y="332"/>
                </a:lnTo>
                <a:lnTo>
                  <a:pt x="488" y="314"/>
                </a:lnTo>
                <a:lnTo>
                  <a:pt x="544" y="304"/>
                </a:lnTo>
                <a:lnTo>
                  <a:pt x="594" y="300"/>
                </a:lnTo>
                <a:lnTo>
                  <a:pt x="638" y="300"/>
                </a:lnTo>
                <a:lnTo>
                  <a:pt x="678" y="304"/>
                </a:lnTo>
                <a:lnTo>
                  <a:pt x="710" y="312"/>
                </a:lnTo>
                <a:lnTo>
                  <a:pt x="736" y="320"/>
                </a:lnTo>
                <a:lnTo>
                  <a:pt x="754" y="326"/>
                </a:lnTo>
                <a:lnTo>
                  <a:pt x="766" y="332"/>
                </a:lnTo>
                <a:lnTo>
                  <a:pt x="770" y="334"/>
                </a:lnTo>
                <a:lnTo>
                  <a:pt x="680" y="476"/>
                </a:lnTo>
                <a:lnTo>
                  <a:pt x="982" y="370"/>
                </a:lnTo>
                <a:lnTo>
                  <a:pt x="912" y="0"/>
                </a:lnTo>
                <a:lnTo>
                  <a:pt x="854" y="150"/>
                </a:lnTo>
                <a:lnTo>
                  <a:pt x="850" y="148"/>
                </a:lnTo>
                <a:lnTo>
                  <a:pt x="838" y="142"/>
                </a:lnTo>
                <a:lnTo>
                  <a:pt x="822" y="134"/>
                </a:lnTo>
                <a:lnTo>
                  <a:pt x="798" y="126"/>
                </a:lnTo>
                <a:lnTo>
                  <a:pt x="768" y="120"/>
                </a:lnTo>
                <a:lnTo>
                  <a:pt x="732" y="114"/>
                </a:lnTo>
                <a:lnTo>
                  <a:pt x="692" y="110"/>
                </a:lnTo>
                <a:lnTo>
                  <a:pt x="646" y="110"/>
                </a:lnTo>
                <a:lnTo>
                  <a:pt x="596" y="116"/>
                </a:lnTo>
                <a:lnTo>
                  <a:pt x="540" y="126"/>
                </a:lnTo>
                <a:lnTo>
                  <a:pt x="482" y="146"/>
                </a:lnTo>
                <a:lnTo>
                  <a:pt x="422" y="172"/>
                </a:lnTo>
                <a:lnTo>
                  <a:pt x="356" y="210"/>
                </a:lnTo>
                <a:lnTo>
                  <a:pt x="290" y="258"/>
                </a:lnTo>
                <a:lnTo>
                  <a:pt x="230" y="310"/>
                </a:lnTo>
                <a:lnTo>
                  <a:pt x="178" y="364"/>
                </a:lnTo>
                <a:lnTo>
                  <a:pt x="136" y="422"/>
                </a:lnTo>
                <a:lnTo>
                  <a:pt x="100" y="480"/>
                </a:lnTo>
                <a:lnTo>
                  <a:pt x="72" y="536"/>
                </a:lnTo>
                <a:lnTo>
                  <a:pt x="48" y="590"/>
                </a:lnTo>
                <a:lnTo>
                  <a:pt x="30" y="640"/>
                </a:lnTo>
                <a:lnTo>
                  <a:pt x="18" y="684"/>
                </a:lnTo>
                <a:lnTo>
                  <a:pt x="8" y="722"/>
                </a:lnTo>
                <a:lnTo>
                  <a:pt x="4" y="750"/>
                </a:lnTo>
                <a:lnTo>
                  <a:pt x="0" y="768"/>
                </a:lnTo>
                <a:lnTo>
                  <a:pt x="0" y="774"/>
                </a:lnTo>
              </a:path>
            </a:pathLst>
          </a:custGeom>
          <a:gradFill rotWithShape="1">
            <a:gsLst>
              <a:gs pos="0">
                <a:srgbClr val="FF9900"/>
              </a:gs>
              <a:gs pos="100000">
                <a:srgbClr val="FFF5E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" name="Group 4"/>
          <p:cNvGrpSpPr/>
          <p:nvPr/>
        </p:nvGrpSpPr>
        <p:grpSpPr bwMode="auto">
          <a:xfrm flipH="1">
            <a:off x="1996018" y="3263900"/>
            <a:ext cx="2592916" cy="2089150"/>
            <a:chOff x="0" y="0"/>
            <a:chExt cx="1217" cy="1316"/>
          </a:xfrm>
        </p:grpSpPr>
        <p:grpSp>
          <p:nvGrpSpPr>
            <p:cNvPr id="19" name="Group 5"/>
            <p:cNvGrpSpPr/>
            <p:nvPr/>
          </p:nvGrpSpPr>
          <p:grpSpPr bwMode="auto">
            <a:xfrm>
              <a:off x="0" y="0"/>
              <a:ext cx="1217" cy="1316"/>
              <a:chOff x="0" y="0"/>
              <a:chExt cx="817" cy="907"/>
            </a:xfrm>
          </p:grpSpPr>
          <p:sp>
            <p:nvSpPr>
              <p:cNvPr id="21" name="AutoShape 6"/>
              <p:cNvSpPr>
                <a:spLocks noChangeArrowheads="1"/>
              </p:cNvSpPr>
              <p:nvPr/>
            </p:nvSpPr>
            <p:spPr bwMode="auto">
              <a:xfrm>
                <a:off x="91" y="0"/>
                <a:ext cx="726" cy="907"/>
              </a:xfrm>
              <a:prstGeom prst="flowChartAlternateProcess">
                <a:avLst/>
              </a:prstGeom>
              <a:solidFill>
                <a:srgbClr val="BBE0E3"/>
              </a:solidFill>
              <a:ln w="9525" cmpd="sng">
                <a:solidFill>
                  <a:srgbClr val="969696"/>
                </a:solidFill>
                <a:miter lim="800000"/>
              </a:ln>
              <a:effectLst>
                <a:outerShdw dist="35921" dir="2700000" algn="ctr" rotWithShape="0">
                  <a:srgbClr val="BBE0E3"/>
                </a:outerShdw>
              </a:effectLst>
            </p:spPr>
            <p:txBody>
              <a:bodyPr wrap="none" anchor="ctr"/>
              <a:lstStyle/>
              <a:p>
                <a:pPr algn="ctr">
                  <a:buClrTx/>
                  <a:buSzTx/>
                  <a:buFontTx/>
                  <a:buNone/>
                  <a:defRPr/>
                </a:pPr>
                <a:r>
                  <a:rPr lang="en-US" sz="3200" dirty="0">
                    <a:ea typeface="黑体" panose="02010609060101010101" pitchFamily="49" charset="-122"/>
                  </a:rPr>
                  <a:t> </a:t>
                </a:r>
                <a:r>
                  <a:rPr lang="en-US" sz="3200" b="1" dirty="0">
                    <a:latin typeface="+mn-ea"/>
                    <a:ea typeface="+mn-ea"/>
                  </a:rPr>
                  <a:t>STM32</a:t>
                </a:r>
                <a:endParaRPr lang="en-US" sz="3200" b="1" dirty="0">
                  <a:latin typeface="+mn-ea"/>
                  <a:ea typeface="+mn-ea"/>
                </a:endParaRPr>
              </a:p>
            </p:txBody>
          </p:sp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0" y="181"/>
                <a:ext cx="91" cy="91"/>
              </a:xfrm>
              <a:prstGeom prst="rect">
                <a:avLst/>
              </a:prstGeom>
              <a:solidFill>
                <a:srgbClr val="BBE0E3"/>
              </a:solidFill>
              <a:ln w="9525" cmpd="sng">
                <a:solidFill>
                  <a:srgbClr val="969696"/>
                </a:solidFill>
                <a:miter lim="800000"/>
              </a:ln>
              <a:effectLst>
                <a:outerShdw dist="35921" dir="2700000" algn="ctr" rotWithShape="0">
                  <a:srgbClr val="BBE0E3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0" y="589"/>
                <a:ext cx="91" cy="91"/>
              </a:xfrm>
              <a:prstGeom prst="rect">
                <a:avLst/>
              </a:prstGeom>
              <a:solidFill>
                <a:srgbClr val="BBE0E3"/>
              </a:solidFill>
              <a:ln w="9525" cmpd="sng">
                <a:solidFill>
                  <a:srgbClr val="969696"/>
                </a:solidFill>
                <a:miter lim="800000"/>
              </a:ln>
              <a:effectLst>
                <a:outerShdw dist="35921" dir="2700000" algn="ctr" rotWithShape="0">
                  <a:srgbClr val="BBE0E3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0" name="Text Box 9"/>
            <p:cNvSpPr txBox="1">
              <a:spLocks noChangeArrowheads="1"/>
            </p:cNvSpPr>
            <p:nvPr/>
          </p:nvSpPr>
          <p:spPr bwMode="auto">
            <a:xfrm>
              <a:off x="88" y="243"/>
              <a:ext cx="45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</a:rPr>
                <a:t>GPIOx</a:t>
              </a:r>
              <a:endParaRPr lang="en-US" altLang="zh-CN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4" name="Freeform 11"/>
          <p:cNvSpPr>
            <a:spLocks noChangeArrowheads="1"/>
          </p:cNvSpPr>
          <p:nvPr/>
        </p:nvSpPr>
        <p:spPr bwMode="auto">
          <a:xfrm rot="11435287" flipV="1">
            <a:off x="4768851" y="3367617"/>
            <a:ext cx="2015067" cy="1295400"/>
          </a:xfrm>
          <a:custGeom>
            <a:avLst/>
            <a:gdLst>
              <a:gd name="T0" fmla="*/ 0 w 982"/>
              <a:gd name="T1" fmla="*/ 2147483647 h 774"/>
              <a:gd name="T2" fmla="*/ 2147483647 w 982"/>
              <a:gd name="T3" fmla="*/ 2147483647 h 774"/>
              <a:gd name="T4" fmla="*/ 2147483647 w 982"/>
              <a:gd name="T5" fmla="*/ 2147483647 h 774"/>
              <a:gd name="T6" fmla="*/ 2147483647 w 982"/>
              <a:gd name="T7" fmla="*/ 2147483647 h 774"/>
              <a:gd name="T8" fmla="*/ 2147483647 w 982"/>
              <a:gd name="T9" fmla="*/ 2147483647 h 774"/>
              <a:gd name="T10" fmla="*/ 2147483647 w 982"/>
              <a:gd name="T11" fmla="*/ 2147483647 h 774"/>
              <a:gd name="T12" fmla="*/ 2147483647 w 982"/>
              <a:gd name="T13" fmla="*/ 2147483647 h 774"/>
              <a:gd name="T14" fmla="*/ 2147483647 w 982"/>
              <a:gd name="T15" fmla="*/ 2147483647 h 774"/>
              <a:gd name="T16" fmla="*/ 2147483647 w 982"/>
              <a:gd name="T17" fmla="*/ 2147483647 h 774"/>
              <a:gd name="T18" fmla="*/ 2147483647 w 982"/>
              <a:gd name="T19" fmla="*/ 2147483647 h 774"/>
              <a:gd name="T20" fmla="*/ 2147483647 w 982"/>
              <a:gd name="T21" fmla="*/ 2147483647 h 774"/>
              <a:gd name="T22" fmla="*/ 2147483647 w 982"/>
              <a:gd name="T23" fmla="*/ 2147483647 h 774"/>
              <a:gd name="T24" fmla="*/ 2147483647 w 982"/>
              <a:gd name="T25" fmla="*/ 2147483647 h 774"/>
              <a:gd name="T26" fmla="*/ 2147483647 w 982"/>
              <a:gd name="T27" fmla="*/ 2147483647 h 774"/>
              <a:gd name="T28" fmla="*/ 2147483647 w 982"/>
              <a:gd name="T29" fmla="*/ 2147483647 h 774"/>
              <a:gd name="T30" fmla="*/ 2147483647 w 982"/>
              <a:gd name="T31" fmla="*/ 2147483647 h 774"/>
              <a:gd name="T32" fmla="*/ 2147483647 w 982"/>
              <a:gd name="T33" fmla="*/ 2147483647 h 774"/>
              <a:gd name="T34" fmla="*/ 2147483647 w 982"/>
              <a:gd name="T35" fmla="*/ 2147483647 h 774"/>
              <a:gd name="T36" fmla="*/ 2147483647 w 982"/>
              <a:gd name="T37" fmla="*/ 2147483647 h 774"/>
              <a:gd name="T38" fmla="*/ 2147483647 w 982"/>
              <a:gd name="T39" fmla="*/ 2147483647 h 774"/>
              <a:gd name="T40" fmla="*/ 2147483647 w 982"/>
              <a:gd name="T41" fmla="*/ 2147483647 h 774"/>
              <a:gd name="T42" fmla="*/ 2147483647 w 982"/>
              <a:gd name="T43" fmla="*/ 2147483647 h 774"/>
              <a:gd name="T44" fmla="*/ 2147483647 w 982"/>
              <a:gd name="T45" fmla="*/ 2147483647 h 774"/>
              <a:gd name="T46" fmla="*/ 2147483647 w 982"/>
              <a:gd name="T47" fmla="*/ 2147483647 h 774"/>
              <a:gd name="T48" fmla="*/ 2147483647 w 982"/>
              <a:gd name="T49" fmla="*/ 2147483647 h 774"/>
              <a:gd name="T50" fmla="*/ 2147483647 w 982"/>
              <a:gd name="T51" fmla="*/ 2147483647 h 774"/>
              <a:gd name="T52" fmla="*/ 2147483647 w 982"/>
              <a:gd name="T53" fmla="*/ 0 h 774"/>
              <a:gd name="T54" fmla="*/ 2147483647 w 982"/>
              <a:gd name="T55" fmla="*/ 2147483647 h 774"/>
              <a:gd name="T56" fmla="*/ 2147483647 w 982"/>
              <a:gd name="T57" fmla="*/ 2147483647 h 774"/>
              <a:gd name="T58" fmla="*/ 2147483647 w 982"/>
              <a:gd name="T59" fmla="*/ 2147483647 h 774"/>
              <a:gd name="T60" fmla="*/ 2147483647 w 982"/>
              <a:gd name="T61" fmla="*/ 2147483647 h 774"/>
              <a:gd name="T62" fmla="*/ 2147483647 w 982"/>
              <a:gd name="T63" fmla="*/ 2147483647 h 774"/>
              <a:gd name="T64" fmla="*/ 2147483647 w 982"/>
              <a:gd name="T65" fmla="*/ 2147483647 h 774"/>
              <a:gd name="T66" fmla="*/ 2147483647 w 982"/>
              <a:gd name="T67" fmla="*/ 2147483647 h 774"/>
              <a:gd name="T68" fmla="*/ 2147483647 w 982"/>
              <a:gd name="T69" fmla="*/ 2147483647 h 774"/>
              <a:gd name="T70" fmla="*/ 2147483647 w 982"/>
              <a:gd name="T71" fmla="*/ 2147483647 h 774"/>
              <a:gd name="T72" fmla="*/ 2147483647 w 982"/>
              <a:gd name="T73" fmla="*/ 2147483647 h 774"/>
              <a:gd name="T74" fmla="*/ 2147483647 w 982"/>
              <a:gd name="T75" fmla="*/ 2147483647 h 774"/>
              <a:gd name="T76" fmla="*/ 2147483647 w 982"/>
              <a:gd name="T77" fmla="*/ 2147483647 h 774"/>
              <a:gd name="T78" fmla="*/ 2147483647 w 982"/>
              <a:gd name="T79" fmla="*/ 2147483647 h 774"/>
              <a:gd name="T80" fmla="*/ 2147483647 w 982"/>
              <a:gd name="T81" fmla="*/ 2147483647 h 774"/>
              <a:gd name="T82" fmla="*/ 2147483647 w 982"/>
              <a:gd name="T83" fmla="*/ 2147483647 h 774"/>
              <a:gd name="T84" fmla="*/ 2147483647 w 982"/>
              <a:gd name="T85" fmla="*/ 2147483647 h 774"/>
              <a:gd name="T86" fmla="*/ 2147483647 w 982"/>
              <a:gd name="T87" fmla="*/ 2147483647 h 774"/>
              <a:gd name="T88" fmla="*/ 2147483647 w 982"/>
              <a:gd name="T89" fmla="*/ 2147483647 h 774"/>
              <a:gd name="T90" fmla="*/ 2147483647 w 982"/>
              <a:gd name="T91" fmla="*/ 2147483647 h 774"/>
              <a:gd name="T92" fmla="*/ 2147483647 w 982"/>
              <a:gd name="T93" fmla="*/ 2147483647 h 774"/>
              <a:gd name="T94" fmla="*/ 2147483647 w 982"/>
              <a:gd name="T95" fmla="*/ 2147483647 h 774"/>
              <a:gd name="T96" fmla="*/ 2147483647 w 982"/>
              <a:gd name="T97" fmla="*/ 2147483647 h 774"/>
              <a:gd name="T98" fmla="*/ 2147483647 w 982"/>
              <a:gd name="T99" fmla="*/ 2147483647 h 774"/>
              <a:gd name="T100" fmla="*/ 2147483647 w 982"/>
              <a:gd name="T101" fmla="*/ 2147483647 h 774"/>
              <a:gd name="T102" fmla="*/ 2147483647 w 982"/>
              <a:gd name="T103" fmla="*/ 2147483647 h 774"/>
              <a:gd name="T104" fmla="*/ 0 w 982"/>
              <a:gd name="T105" fmla="*/ 2147483647 h 774"/>
              <a:gd name="T106" fmla="*/ 0 w 982"/>
              <a:gd name="T107" fmla="*/ 2147483647 h 774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982"/>
              <a:gd name="T163" fmla="*/ 0 h 774"/>
              <a:gd name="T164" fmla="*/ 982 w 982"/>
              <a:gd name="T165" fmla="*/ 774 h 774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982" h="774">
                <a:moveTo>
                  <a:pt x="0" y="774"/>
                </a:moveTo>
                <a:lnTo>
                  <a:pt x="2" y="770"/>
                </a:lnTo>
                <a:lnTo>
                  <a:pt x="8" y="754"/>
                </a:lnTo>
                <a:lnTo>
                  <a:pt x="16" y="730"/>
                </a:lnTo>
                <a:lnTo>
                  <a:pt x="32" y="698"/>
                </a:lnTo>
                <a:lnTo>
                  <a:pt x="50" y="660"/>
                </a:lnTo>
                <a:lnTo>
                  <a:pt x="76" y="618"/>
                </a:lnTo>
                <a:lnTo>
                  <a:pt x="106" y="574"/>
                </a:lnTo>
                <a:lnTo>
                  <a:pt x="142" y="528"/>
                </a:lnTo>
                <a:lnTo>
                  <a:pt x="186" y="482"/>
                </a:lnTo>
                <a:lnTo>
                  <a:pt x="236" y="438"/>
                </a:lnTo>
                <a:lnTo>
                  <a:pt x="294" y="398"/>
                </a:lnTo>
                <a:lnTo>
                  <a:pt x="360" y="360"/>
                </a:lnTo>
                <a:lnTo>
                  <a:pt x="426" y="332"/>
                </a:lnTo>
                <a:lnTo>
                  <a:pt x="488" y="314"/>
                </a:lnTo>
                <a:lnTo>
                  <a:pt x="544" y="304"/>
                </a:lnTo>
                <a:lnTo>
                  <a:pt x="594" y="300"/>
                </a:lnTo>
                <a:lnTo>
                  <a:pt x="638" y="300"/>
                </a:lnTo>
                <a:lnTo>
                  <a:pt x="678" y="304"/>
                </a:lnTo>
                <a:lnTo>
                  <a:pt x="710" y="312"/>
                </a:lnTo>
                <a:lnTo>
                  <a:pt x="736" y="320"/>
                </a:lnTo>
                <a:lnTo>
                  <a:pt x="754" y="326"/>
                </a:lnTo>
                <a:lnTo>
                  <a:pt x="766" y="332"/>
                </a:lnTo>
                <a:lnTo>
                  <a:pt x="770" y="334"/>
                </a:lnTo>
                <a:lnTo>
                  <a:pt x="680" y="476"/>
                </a:lnTo>
                <a:lnTo>
                  <a:pt x="982" y="370"/>
                </a:lnTo>
                <a:lnTo>
                  <a:pt x="912" y="0"/>
                </a:lnTo>
                <a:lnTo>
                  <a:pt x="854" y="150"/>
                </a:lnTo>
                <a:lnTo>
                  <a:pt x="850" y="148"/>
                </a:lnTo>
                <a:lnTo>
                  <a:pt x="838" y="142"/>
                </a:lnTo>
                <a:lnTo>
                  <a:pt x="822" y="134"/>
                </a:lnTo>
                <a:lnTo>
                  <a:pt x="798" y="126"/>
                </a:lnTo>
                <a:lnTo>
                  <a:pt x="768" y="120"/>
                </a:lnTo>
                <a:lnTo>
                  <a:pt x="732" y="114"/>
                </a:lnTo>
                <a:lnTo>
                  <a:pt x="692" y="110"/>
                </a:lnTo>
                <a:lnTo>
                  <a:pt x="646" y="110"/>
                </a:lnTo>
                <a:lnTo>
                  <a:pt x="596" y="116"/>
                </a:lnTo>
                <a:lnTo>
                  <a:pt x="540" y="126"/>
                </a:lnTo>
                <a:lnTo>
                  <a:pt x="482" y="146"/>
                </a:lnTo>
                <a:lnTo>
                  <a:pt x="422" y="172"/>
                </a:lnTo>
                <a:lnTo>
                  <a:pt x="356" y="210"/>
                </a:lnTo>
                <a:lnTo>
                  <a:pt x="290" y="258"/>
                </a:lnTo>
                <a:lnTo>
                  <a:pt x="230" y="310"/>
                </a:lnTo>
                <a:lnTo>
                  <a:pt x="178" y="364"/>
                </a:lnTo>
                <a:lnTo>
                  <a:pt x="136" y="422"/>
                </a:lnTo>
                <a:lnTo>
                  <a:pt x="100" y="480"/>
                </a:lnTo>
                <a:lnTo>
                  <a:pt x="72" y="536"/>
                </a:lnTo>
                <a:lnTo>
                  <a:pt x="48" y="590"/>
                </a:lnTo>
                <a:lnTo>
                  <a:pt x="30" y="640"/>
                </a:lnTo>
                <a:lnTo>
                  <a:pt x="18" y="684"/>
                </a:lnTo>
                <a:lnTo>
                  <a:pt x="8" y="722"/>
                </a:lnTo>
                <a:lnTo>
                  <a:pt x="4" y="750"/>
                </a:lnTo>
                <a:lnTo>
                  <a:pt x="0" y="768"/>
                </a:lnTo>
                <a:lnTo>
                  <a:pt x="0" y="774"/>
                </a:lnTo>
              </a:path>
            </a:pathLst>
          </a:custGeom>
          <a:gradFill rotWithShape="1">
            <a:gsLst>
              <a:gs pos="0">
                <a:srgbClr val="339966"/>
              </a:gs>
              <a:gs pos="50000">
                <a:srgbClr val="E9F4EE"/>
              </a:gs>
              <a:gs pos="100000">
                <a:srgbClr val="33996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33" y="3532717"/>
            <a:ext cx="1710267" cy="573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4614333" y="3551767"/>
            <a:ext cx="1710267" cy="56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1" y="3532718"/>
            <a:ext cx="1710267" cy="575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Group 16"/>
          <p:cNvGrpSpPr/>
          <p:nvPr/>
        </p:nvGrpSpPr>
        <p:grpSpPr bwMode="auto">
          <a:xfrm rot="1552" flipH="1">
            <a:off x="7073901" y="3386667"/>
            <a:ext cx="2976033" cy="687917"/>
            <a:chOff x="0" y="0"/>
            <a:chExt cx="1452" cy="433"/>
          </a:xfrm>
        </p:grpSpPr>
        <p:sp>
          <p:nvSpPr>
            <p:cNvPr id="29" name="AutoShape 17"/>
            <p:cNvSpPr>
              <a:spLocks noChangeArrowheads="1"/>
            </p:cNvSpPr>
            <p:nvPr/>
          </p:nvSpPr>
          <p:spPr bwMode="auto">
            <a:xfrm>
              <a:off x="0" y="0"/>
              <a:ext cx="1452" cy="433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rgbClr val="008080"/>
                </a:gs>
                <a:gs pos="50000">
                  <a:srgbClr val="E8F4F4"/>
                </a:gs>
                <a:gs pos="100000">
                  <a:srgbClr val="008080"/>
                </a:gs>
              </a:gsLst>
              <a:lin ang="5400000" scaled="1"/>
            </a:gradFill>
            <a:ln w="25400">
              <a:solidFill>
                <a:schemeClr val="bg1"/>
              </a:solidFill>
              <a:rou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zh-CN" altLang="en-US" sz="3200" b="1" dirty="0">
                  <a:solidFill>
                    <a:srgbClr val="0066FF"/>
                  </a:solidFill>
                  <a:latin typeface="+mn-ea"/>
                  <a:ea typeface="+mn-ea"/>
                </a:rPr>
                <a:t>上升沿触发</a:t>
              </a:r>
              <a:endParaRPr lang="zh-CN" altLang="en-US" sz="3200" b="1" dirty="0">
                <a:solidFill>
                  <a:srgbClr val="0066FF"/>
                </a:solidFill>
                <a:latin typeface="+mn-ea"/>
                <a:ea typeface="+mn-ea"/>
              </a:endParaRPr>
            </a:p>
          </p:txBody>
        </p:sp>
        <p:grpSp>
          <p:nvGrpSpPr>
            <p:cNvPr id="30" name="Group 18"/>
            <p:cNvGrpSpPr/>
            <p:nvPr/>
          </p:nvGrpSpPr>
          <p:grpSpPr bwMode="auto">
            <a:xfrm>
              <a:off x="112" y="100"/>
              <a:ext cx="209" cy="224"/>
              <a:chOff x="0" y="0"/>
              <a:chExt cx="384" cy="384"/>
            </a:xfrm>
          </p:grpSpPr>
          <p:sp>
            <p:nvSpPr>
              <p:cNvPr id="31" name="Oval 1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32" name="Oval 20"/>
              <p:cNvSpPr>
                <a:spLocks noChangeArrowheads="1"/>
              </p:cNvSpPr>
              <p:nvPr/>
            </p:nvSpPr>
            <p:spPr bwMode="auto">
              <a:xfrm>
                <a:off x="144" y="0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34" name="Oval 21"/>
              <p:cNvSpPr>
                <a:spLocks noChangeArrowheads="1"/>
              </p:cNvSpPr>
              <p:nvPr/>
            </p:nvSpPr>
            <p:spPr bwMode="auto">
              <a:xfrm>
                <a:off x="288" y="0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36" name="Oval 22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37" name="Oval 23"/>
              <p:cNvSpPr>
                <a:spLocks noChangeArrowheads="1"/>
              </p:cNvSpPr>
              <p:nvPr/>
            </p:nvSpPr>
            <p:spPr bwMode="auto">
              <a:xfrm>
                <a:off x="144" y="144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38" name="Oval 24"/>
              <p:cNvSpPr>
                <a:spLocks noChangeArrowheads="1"/>
              </p:cNvSpPr>
              <p:nvPr/>
            </p:nvSpPr>
            <p:spPr bwMode="auto">
              <a:xfrm>
                <a:off x="288" y="144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39" name="Oval 25"/>
              <p:cNvSpPr>
                <a:spLocks noChangeArrowheads="1"/>
              </p:cNvSpPr>
              <p:nvPr/>
            </p:nvSpPr>
            <p:spPr bwMode="auto">
              <a:xfrm>
                <a:off x="0" y="288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40" name="Oval 26"/>
              <p:cNvSpPr>
                <a:spLocks noChangeArrowheads="1"/>
              </p:cNvSpPr>
              <p:nvPr/>
            </p:nvSpPr>
            <p:spPr bwMode="auto">
              <a:xfrm>
                <a:off x="144" y="288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41" name="Oval 27"/>
              <p:cNvSpPr>
                <a:spLocks noChangeArrowheads="1"/>
              </p:cNvSpPr>
              <p:nvPr/>
            </p:nvSpPr>
            <p:spPr bwMode="auto">
              <a:xfrm>
                <a:off x="288" y="288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</p:grpSp>
      </p:grpSp>
      <p:grpSp>
        <p:nvGrpSpPr>
          <p:cNvPr id="42" name="Group 28"/>
          <p:cNvGrpSpPr/>
          <p:nvPr/>
        </p:nvGrpSpPr>
        <p:grpSpPr bwMode="auto">
          <a:xfrm flipH="1">
            <a:off x="6976534" y="4129618"/>
            <a:ext cx="2976033" cy="687916"/>
            <a:chOff x="0" y="0"/>
            <a:chExt cx="1452" cy="433"/>
          </a:xfrm>
        </p:grpSpPr>
        <p:sp>
          <p:nvSpPr>
            <p:cNvPr id="43" name="AutoShape 29"/>
            <p:cNvSpPr>
              <a:spLocks noChangeArrowheads="1"/>
            </p:cNvSpPr>
            <p:nvPr/>
          </p:nvSpPr>
          <p:spPr bwMode="auto">
            <a:xfrm>
              <a:off x="0" y="0"/>
              <a:ext cx="1452" cy="433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rgbClr val="FF9900"/>
                </a:gs>
                <a:gs pos="50000">
                  <a:srgbClr val="FFDDA9"/>
                </a:gs>
                <a:gs pos="100000">
                  <a:srgbClr val="FF9900"/>
                </a:gs>
              </a:gsLst>
              <a:lin ang="5400000" scaled="1"/>
            </a:gradFill>
            <a:ln w="25400">
              <a:solidFill>
                <a:schemeClr val="bg1"/>
              </a:solidFill>
              <a:rou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zh-CN" altLang="en-US" sz="3200" b="1" dirty="0">
                  <a:solidFill>
                    <a:schemeClr val="tx1"/>
                  </a:solidFill>
                  <a:latin typeface="+mn-ea"/>
                  <a:ea typeface="+mn-ea"/>
                </a:rPr>
                <a:t>下降沿触发</a:t>
              </a:r>
              <a:endParaRPr lang="zh-CN" altLang="en-US" sz="32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44" name="Group 30"/>
            <p:cNvGrpSpPr/>
            <p:nvPr/>
          </p:nvGrpSpPr>
          <p:grpSpPr bwMode="auto">
            <a:xfrm>
              <a:off x="120" y="100"/>
              <a:ext cx="209" cy="224"/>
              <a:chOff x="0" y="0"/>
              <a:chExt cx="384" cy="384"/>
            </a:xfrm>
          </p:grpSpPr>
          <p:sp>
            <p:nvSpPr>
              <p:cNvPr id="45" name="Oval 3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46" name="Oval 32"/>
              <p:cNvSpPr>
                <a:spLocks noChangeArrowheads="1"/>
              </p:cNvSpPr>
              <p:nvPr/>
            </p:nvSpPr>
            <p:spPr bwMode="auto">
              <a:xfrm>
                <a:off x="144" y="0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47" name="Oval 33"/>
              <p:cNvSpPr>
                <a:spLocks noChangeArrowheads="1"/>
              </p:cNvSpPr>
              <p:nvPr/>
            </p:nvSpPr>
            <p:spPr bwMode="auto">
              <a:xfrm>
                <a:off x="288" y="0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48" name="Oval 34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49" name="Oval 35"/>
              <p:cNvSpPr>
                <a:spLocks noChangeArrowheads="1"/>
              </p:cNvSpPr>
              <p:nvPr/>
            </p:nvSpPr>
            <p:spPr bwMode="auto">
              <a:xfrm>
                <a:off x="144" y="144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50" name="Oval 36"/>
              <p:cNvSpPr>
                <a:spLocks noChangeArrowheads="1"/>
              </p:cNvSpPr>
              <p:nvPr/>
            </p:nvSpPr>
            <p:spPr bwMode="auto">
              <a:xfrm>
                <a:off x="288" y="144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51" name="Oval 37"/>
              <p:cNvSpPr>
                <a:spLocks noChangeArrowheads="1"/>
              </p:cNvSpPr>
              <p:nvPr/>
            </p:nvSpPr>
            <p:spPr bwMode="auto">
              <a:xfrm>
                <a:off x="0" y="288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52" name="Oval 38"/>
              <p:cNvSpPr>
                <a:spLocks noChangeArrowheads="1"/>
              </p:cNvSpPr>
              <p:nvPr/>
            </p:nvSpPr>
            <p:spPr bwMode="auto">
              <a:xfrm>
                <a:off x="144" y="288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53" name="Oval 39"/>
              <p:cNvSpPr>
                <a:spLocks noChangeArrowheads="1"/>
              </p:cNvSpPr>
              <p:nvPr/>
            </p:nvSpPr>
            <p:spPr bwMode="auto">
              <a:xfrm>
                <a:off x="288" y="288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</p:grpSp>
      </p:grpSp>
      <p:grpSp>
        <p:nvGrpSpPr>
          <p:cNvPr id="54" name="Group 40"/>
          <p:cNvGrpSpPr/>
          <p:nvPr/>
        </p:nvGrpSpPr>
        <p:grpSpPr bwMode="auto">
          <a:xfrm flipH="1">
            <a:off x="6610351" y="4595284"/>
            <a:ext cx="2969683" cy="685800"/>
            <a:chOff x="0" y="0"/>
            <a:chExt cx="1452" cy="433"/>
          </a:xfrm>
        </p:grpSpPr>
        <p:sp>
          <p:nvSpPr>
            <p:cNvPr id="55" name="AutoShape 41"/>
            <p:cNvSpPr>
              <a:spLocks noChangeArrowheads="1"/>
            </p:cNvSpPr>
            <p:nvPr/>
          </p:nvSpPr>
          <p:spPr bwMode="auto">
            <a:xfrm>
              <a:off x="0" y="0"/>
              <a:ext cx="1452" cy="433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rgbClr val="339966"/>
                </a:gs>
                <a:gs pos="50000">
                  <a:srgbClr val="EBF5F0"/>
                </a:gs>
                <a:gs pos="100000">
                  <a:srgbClr val="339966"/>
                </a:gs>
              </a:gsLst>
              <a:lin ang="5400000" scaled="1"/>
            </a:gradFill>
            <a:ln w="25400">
              <a:solidFill>
                <a:schemeClr val="bg1"/>
              </a:solidFill>
              <a:round/>
            </a:ln>
          </p:spPr>
          <p:txBody>
            <a:bodyPr wrap="none" anchor="ctr"/>
            <a:lstStyle>
              <a:lvl1pPr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6600"/>
                </a:buClr>
                <a:buSzPct val="90000"/>
                <a:buFont typeface="Wingdings 2" panose="05020102010507070707" pitchFamily="18" charset="2"/>
                <a:defRPr sz="1600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zh-CN" sz="3200" dirty="0">
                  <a:solidFill>
                    <a:srgbClr val="3333CC"/>
                  </a:solidFill>
                </a:rPr>
                <a:t> </a:t>
              </a:r>
              <a:r>
                <a:rPr lang="zh-CN" altLang="en-US" sz="3200" b="1" dirty="0">
                  <a:solidFill>
                    <a:srgbClr val="3333CC"/>
                  </a:solidFill>
                  <a:latin typeface="+mn-ea"/>
                  <a:ea typeface="+mn-ea"/>
                </a:rPr>
                <a:t>双边沿触发  </a:t>
              </a:r>
              <a:endParaRPr lang="zh-CN" altLang="en-US" sz="3200" b="1" dirty="0">
                <a:solidFill>
                  <a:srgbClr val="3333CC"/>
                </a:solidFill>
                <a:latin typeface="+mn-ea"/>
                <a:ea typeface="+mn-ea"/>
              </a:endParaRPr>
            </a:p>
          </p:txBody>
        </p:sp>
        <p:grpSp>
          <p:nvGrpSpPr>
            <p:cNvPr id="56" name="Group 42"/>
            <p:cNvGrpSpPr/>
            <p:nvPr/>
          </p:nvGrpSpPr>
          <p:grpSpPr bwMode="auto">
            <a:xfrm>
              <a:off x="128" y="102"/>
              <a:ext cx="209" cy="224"/>
              <a:chOff x="0" y="0"/>
              <a:chExt cx="384" cy="384"/>
            </a:xfrm>
          </p:grpSpPr>
          <p:sp>
            <p:nvSpPr>
              <p:cNvPr id="57" name="Oval 4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58" name="Oval 44"/>
              <p:cNvSpPr>
                <a:spLocks noChangeArrowheads="1"/>
              </p:cNvSpPr>
              <p:nvPr/>
            </p:nvSpPr>
            <p:spPr bwMode="auto">
              <a:xfrm>
                <a:off x="144" y="0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59" name="Oval 45"/>
              <p:cNvSpPr>
                <a:spLocks noChangeArrowheads="1"/>
              </p:cNvSpPr>
              <p:nvPr/>
            </p:nvSpPr>
            <p:spPr bwMode="auto">
              <a:xfrm>
                <a:off x="288" y="0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60" name="Oval 46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61" name="Oval 47"/>
              <p:cNvSpPr>
                <a:spLocks noChangeArrowheads="1"/>
              </p:cNvSpPr>
              <p:nvPr/>
            </p:nvSpPr>
            <p:spPr bwMode="auto">
              <a:xfrm>
                <a:off x="144" y="144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62" name="Oval 48"/>
              <p:cNvSpPr>
                <a:spLocks noChangeArrowheads="1"/>
              </p:cNvSpPr>
              <p:nvPr/>
            </p:nvSpPr>
            <p:spPr bwMode="auto">
              <a:xfrm>
                <a:off x="288" y="144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63" name="Oval 49"/>
              <p:cNvSpPr>
                <a:spLocks noChangeArrowheads="1"/>
              </p:cNvSpPr>
              <p:nvPr/>
            </p:nvSpPr>
            <p:spPr bwMode="auto">
              <a:xfrm>
                <a:off x="0" y="288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64" name="Oval 50"/>
              <p:cNvSpPr>
                <a:spLocks noChangeArrowheads="1"/>
              </p:cNvSpPr>
              <p:nvPr/>
            </p:nvSpPr>
            <p:spPr bwMode="auto">
              <a:xfrm>
                <a:off x="144" y="288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  <p:sp>
            <p:nvSpPr>
              <p:cNvPr id="65" name="Oval 51"/>
              <p:cNvSpPr>
                <a:spLocks noChangeArrowheads="1"/>
              </p:cNvSpPr>
              <p:nvPr/>
            </p:nvSpPr>
            <p:spPr bwMode="auto">
              <a:xfrm>
                <a:off x="288" y="288"/>
                <a:ext cx="96" cy="96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6600"/>
                  </a:buClr>
                  <a:buSzPct val="90000"/>
                  <a:buFont typeface="Wingdings 2" panose="05020102010507070707" pitchFamily="18" charset="2"/>
                  <a:defRPr sz="160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 sz="2135"/>
              </a:p>
            </p:txBody>
          </p:sp>
        </p:grpSp>
      </p:grpSp>
      <p:grpSp>
        <p:nvGrpSpPr>
          <p:cNvPr id="66" name="Group 52"/>
          <p:cNvGrpSpPr/>
          <p:nvPr/>
        </p:nvGrpSpPr>
        <p:grpSpPr bwMode="auto">
          <a:xfrm rot="10800000">
            <a:off x="4512734" y="3572934"/>
            <a:ext cx="97367" cy="503767"/>
            <a:chOff x="0" y="0"/>
            <a:chExt cx="0" cy="317"/>
          </a:xfrm>
        </p:grpSpPr>
        <p:sp>
          <p:nvSpPr>
            <p:cNvPr id="67" name="Line 53"/>
            <p:cNvSpPr>
              <a:spLocks noChangeShapeType="1"/>
            </p:cNvSpPr>
            <p:nvPr/>
          </p:nvSpPr>
          <p:spPr bwMode="auto">
            <a:xfrm>
              <a:off x="0" y="0"/>
              <a:ext cx="0" cy="181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54"/>
            <p:cNvSpPr>
              <a:spLocks noChangeShapeType="1"/>
            </p:cNvSpPr>
            <p:nvPr/>
          </p:nvSpPr>
          <p:spPr bwMode="auto">
            <a:xfrm>
              <a:off x="0" y="159"/>
              <a:ext cx="0" cy="15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" name="Group 55"/>
          <p:cNvGrpSpPr/>
          <p:nvPr/>
        </p:nvGrpSpPr>
        <p:grpSpPr bwMode="auto">
          <a:xfrm>
            <a:off x="4605867" y="3572934"/>
            <a:ext cx="0" cy="503767"/>
            <a:chOff x="0" y="0"/>
            <a:chExt cx="0" cy="317"/>
          </a:xfrm>
        </p:grpSpPr>
        <p:sp>
          <p:nvSpPr>
            <p:cNvPr id="70" name="Line 56"/>
            <p:cNvSpPr>
              <a:spLocks noChangeShapeType="1"/>
            </p:cNvSpPr>
            <p:nvPr/>
          </p:nvSpPr>
          <p:spPr bwMode="auto">
            <a:xfrm>
              <a:off x="0" y="0"/>
              <a:ext cx="0" cy="181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57"/>
            <p:cNvSpPr>
              <a:spLocks noChangeShapeType="1"/>
            </p:cNvSpPr>
            <p:nvPr/>
          </p:nvSpPr>
          <p:spPr bwMode="auto">
            <a:xfrm>
              <a:off x="0" y="159"/>
              <a:ext cx="0" cy="15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" name="Rectangle 8"/>
          <p:cNvSpPr>
            <a:spLocks noChangeArrowheads="1"/>
          </p:cNvSpPr>
          <p:nvPr/>
        </p:nvSpPr>
        <p:spPr bwMode="auto">
          <a:xfrm flipH="1">
            <a:off x="1680438" y="4620581"/>
            <a:ext cx="288807" cy="209606"/>
          </a:xfrm>
          <a:prstGeom prst="rect">
            <a:avLst/>
          </a:prstGeom>
          <a:solidFill>
            <a:srgbClr val="BBE0E3"/>
          </a:solidFill>
          <a:ln w="9525" cmpd="sng">
            <a:solidFill>
              <a:srgbClr val="969696"/>
            </a:solidFill>
            <a:miter lim="800000"/>
          </a:ln>
          <a:effectLst>
            <a:outerShdw dist="35921" dir="2700000" algn="ctr" rotWithShape="0">
              <a:srgbClr val="BBE0E3"/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73" name="Rectangle 8"/>
          <p:cNvSpPr>
            <a:spLocks noChangeArrowheads="1"/>
          </p:cNvSpPr>
          <p:nvPr/>
        </p:nvSpPr>
        <p:spPr bwMode="auto">
          <a:xfrm flipH="1">
            <a:off x="1707211" y="3692745"/>
            <a:ext cx="288807" cy="209606"/>
          </a:xfrm>
          <a:prstGeom prst="rect">
            <a:avLst/>
          </a:prstGeom>
          <a:solidFill>
            <a:srgbClr val="BBE0E3"/>
          </a:solidFill>
          <a:ln w="9525" cmpd="sng">
            <a:solidFill>
              <a:srgbClr val="969696"/>
            </a:solidFill>
            <a:miter lim="800000"/>
          </a:ln>
          <a:effectLst>
            <a:outerShdw dist="35921" dir="2700000" algn="ctr" rotWithShape="0">
              <a:srgbClr val="BBE0E3"/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74" name="Rectangle 52"/>
          <p:cNvSpPr/>
          <p:nvPr/>
        </p:nvSpPr>
        <p:spPr>
          <a:xfrm>
            <a:off x="3522377" y="1071641"/>
            <a:ext cx="5147246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GPIO</a:t>
            </a:r>
            <a:r>
              <a:rPr lang="zh-CN" altLang="en-US" sz="2800" b="1" dirty="0">
                <a:latin typeface="+mn-ea"/>
                <a:ea typeface="+mn-ea"/>
              </a:rPr>
              <a:t>引脚的外部中断触发方式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62 -3.7037E-6 L -2.5E-6 -3.7037E-6 " pathEditMode="relative" rAng="0" ptsTypes="AA">
                                      <p:cBhvr>
                                        <p:cTn id="19" dur="700" spd="-999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7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8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30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39940">
                                      <p:cBhvr>
                                        <p:cTn id="31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39940">
                                      <p:cBhvr>
                                        <p:cTn id="33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7413 -3.7037E-6 L -0.09462 -3.7037E-6 " pathEditMode="relative" rAng="0" ptsTypes="AA">
                                      <p:cBhvr>
                                        <p:cTn id="45" dur="1000" spd="-999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62 7.40741E-7 L 1.38889E-6 7.40741E-7 " pathEditMode="relative" rAng="0" ptsTypes="AA">
                                      <p:cBhvr>
                                        <p:cTn id="58" dur="1000" spd="-99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6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7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9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39940">
                                      <p:cBhvr>
                                        <p:cTn id="70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1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39940">
                                      <p:cBhvr>
                                        <p:cTn id="72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3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7431 -2.59259E-6 L -0.09479 -2.59259E-6 " pathEditMode="relative" rAng="0" ptsTypes="AA">
                                      <p:cBhvr>
                                        <p:cTn id="87" dur="1000" spd="-99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500"/>
                            </p:stCondLst>
                            <p:childTnLst>
                              <p:par>
                                <p:cTn id="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27 -3.7037E-7 L -0.00104 -3.7037E-7 " pathEditMode="relative" rAng="0" ptsTypes="AA">
                                      <p:cBhvr>
                                        <p:cTn id="100" dur="1000" spd="-99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6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7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09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39940">
                                      <p:cBhvr>
                                        <p:cTn id="110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1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39940">
                                      <p:cBhvr>
                                        <p:cTn id="112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3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1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44 1.48148E-6 L -0.04722 1.48148E-6 " pathEditMode="relative" rAng="0" ptsTypes="AA">
                                      <p:cBhvr>
                                        <p:cTn id="120" dur="1000" spd="-99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8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9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31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39940">
                                      <p:cBhvr>
                                        <p:cTn id="132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3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39940">
                                      <p:cBhvr>
                                        <p:cTn id="134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5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6" presetClass="exit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6" presetClass="exit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395 1.48148E-6 L -0.09444 1.48148E-6 " pathEditMode="relative" rAng="0" ptsTypes="AA">
                                      <p:cBhvr>
                                        <p:cTn id="150" dur="500" spd="-99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297204" y="10781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引脚分组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6816" y="474663"/>
            <a:ext cx="5212929" cy="622935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grpSp>
        <p:nvGrpSpPr>
          <p:cNvPr id="7" name="组合 6"/>
          <p:cNvGrpSpPr/>
          <p:nvPr/>
        </p:nvGrpSpPr>
        <p:grpSpPr>
          <a:xfrm>
            <a:off x="95011" y="1708820"/>
            <a:ext cx="6791805" cy="1864654"/>
            <a:chOff x="95011" y="1708820"/>
            <a:chExt cx="6791805" cy="1864654"/>
          </a:xfrm>
        </p:grpSpPr>
        <p:sp>
          <p:nvSpPr>
            <p:cNvPr id="37" name="矩形 36"/>
            <p:cNvSpPr/>
            <p:nvPr/>
          </p:nvSpPr>
          <p:spPr>
            <a:xfrm>
              <a:off x="216743" y="2335230"/>
              <a:ext cx="6670073" cy="1135054"/>
            </a:xfrm>
            <a:prstGeom prst="rect">
              <a:avLst/>
            </a:prstGeom>
            <a:ln w="38100">
              <a:noFill/>
              <a:prstDash val="dash"/>
            </a:ln>
          </p:spPr>
          <p:txBody>
            <a:bodyPr wrap="square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+mj-ea"/>
                <a:buAutoNum type="circleNumDbPlain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尾号相同的引脚一组，接入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个外部中断线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+mj-ea"/>
                <a:buAutoNum type="circleNumDbPlain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同组引脚只能有一个设置为外部中断功能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95011" y="1708820"/>
              <a:ext cx="6670072" cy="1864654"/>
              <a:chOff x="95011" y="1708820"/>
              <a:chExt cx="6670072" cy="1864654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95011" y="2284826"/>
                <a:ext cx="6670072" cy="1288648"/>
              </a:xfrm>
              <a:prstGeom prst="rect">
                <a:avLst/>
              </a:prstGeom>
              <a:noFill/>
              <a:ln w="38100">
                <a:solidFill>
                  <a:srgbClr val="E44B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Rectangle 52"/>
              <p:cNvSpPr/>
              <p:nvPr/>
            </p:nvSpPr>
            <p:spPr>
              <a:xfrm>
                <a:off x="2599956" y="1708820"/>
                <a:ext cx="165466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defTabSz="121856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引脚分组</a:t>
                </a:r>
                <a:endPara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92256" y="3741287"/>
            <a:ext cx="6672828" cy="2546392"/>
            <a:chOff x="60023" y="4003188"/>
            <a:chExt cx="6672828" cy="2546392"/>
          </a:xfrm>
        </p:grpSpPr>
        <p:sp>
          <p:nvSpPr>
            <p:cNvPr id="16" name="矩形 15"/>
            <p:cNvSpPr/>
            <p:nvPr/>
          </p:nvSpPr>
          <p:spPr>
            <a:xfrm>
              <a:off x="60023" y="4587269"/>
              <a:ext cx="6672828" cy="1962311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85459" y="4003188"/>
              <a:ext cx="5981049" cy="2376323"/>
              <a:chOff x="185459" y="4003188"/>
              <a:chExt cx="5981049" cy="2376323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185459" y="4690459"/>
                <a:ext cx="5981049" cy="1689052"/>
              </a:xfrm>
              <a:prstGeom prst="rect">
                <a:avLst/>
              </a:prstGeom>
              <a:ln w="38100"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EXTI0~EXIT4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分别具有独立的中断通道</a:t>
                </a:r>
                <a:endPara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EXTI5~EXIT9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共享同一个中断通道</a:t>
                </a:r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EXTI10~EXIT15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共享同一个中断通道</a:t>
                </a:r>
                <a:endPara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Rectangle 52"/>
              <p:cNvSpPr/>
              <p:nvPr/>
            </p:nvSpPr>
            <p:spPr>
              <a:xfrm>
                <a:off x="2549769" y="4003188"/>
                <a:ext cx="1654669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defTabSz="121856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中断通道</a:t>
                </a:r>
                <a:endPara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p:grp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179320"/>
            <a:ext cx="12195175" cy="1914525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0" y="2628088"/>
            <a:ext cx="12192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7.2  HAL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库的中断处理流程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179320"/>
            <a:ext cx="12195175" cy="1914525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0" y="2628088"/>
            <a:ext cx="12192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1  HAL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库的中断封装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8" name="五边形 27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燕尾形 36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编程步骤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4195194" y="2089758"/>
            <a:ext cx="3097212" cy="461665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altLang="zh-CN" sz="2400" dirty="0">
                <a:latin typeface="+mn-ea"/>
                <a:ea typeface="+mn-ea"/>
              </a:rPr>
              <a:t>1. </a:t>
            </a:r>
            <a:r>
              <a:rPr lang="zh-CN" altLang="en-US" sz="2400" dirty="0">
                <a:latin typeface="+mn-ea"/>
                <a:ea typeface="+mn-ea"/>
              </a:rPr>
              <a:t>设置中断触发条件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9" name="AutoShape 10"/>
          <p:cNvSpPr>
            <a:spLocks noChangeArrowheads="1"/>
          </p:cNvSpPr>
          <p:nvPr/>
        </p:nvSpPr>
        <p:spPr bwMode="auto">
          <a:xfrm>
            <a:off x="5419156" y="2551770"/>
            <a:ext cx="649288" cy="419338"/>
          </a:xfrm>
          <a:prstGeom prst="down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48BE67"/>
              </a:gs>
              <a:gs pos="100000">
                <a:srgbClr val="48BE67">
                  <a:gamma/>
                  <a:shade val="48627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4195194" y="2963536"/>
            <a:ext cx="3097212" cy="461665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altLang="zh-CN" sz="2400" dirty="0">
                <a:latin typeface="+mn-ea"/>
                <a:ea typeface="+mn-ea"/>
              </a:rPr>
              <a:t>2. </a:t>
            </a:r>
            <a:r>
              <a:rPr lang="zh-CN" altLang="en-US" sz="2400" dirty="0">
                <a:latin typeface="+mn-ea"/>
                <a:ea typeface="+mn-ea"/>
              </a:rPr>
              <a:t>设置中断优先等级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43" name="AutoShape 10"/>
          <p:cNvSpPr>
            <a:spLocks noChangeArrowheads="1"/>
          </p:cNvSpPr>
          <p:nvPr/>
        </p:nvSpPr>
        <p:spPr bwMode="auto">
          <a:xfrm>
            <a:off x="5419156" y="3405000"/>
            <a:ext cx="649288" cy="419338"/>
          </a:xfrm>
          <a:prstGeom prst="down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48BE67"/>
              </a:gs>
              <a:gs pos="100000">
                <a:srgbClr val="48BE67">
                  <a:gamma/>
                  <a:shade val="48627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4195194" y="3824338"/>
            <a:ext cx="3097212" cy="461665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altLang="zh-CN" sz="2400" dirty="0">
                <a:latin typeface="+mn-ea"/>
                <a:ea typeface="+mn-ea"/>
              </a:rPr>
              <a:t>3. </a:t>
            </a:r>
            <a:r>
              <a:rPr lang="zh-CN" altLang="en-US" sz="2400" dirty="0">
                <a:latin typeface="+mn-ea"/>
                <a:ea typeface="+mn-ea"/>
              </a:rPr>
              <a:t>使能外设中断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45" name="AutoShape 10"/>
          <p:cNvSpPr>
            <a:spLocks noChangeArrowheads="1"/>
          </p:cNvSpPr>
          <p:nvPr/>
        </p:nvSpPr>
        <p:spPr bwMode="auto">
          <a:xfrm>
            <a:off x="5419156" y="4265802"/>
            <a:ext cx="649288" cy="419338"/>
          </a:xfrm>
          <a:prstGeom prst="down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48BE67"/>
              </a:gs>
              <a:gs pos="100000">
                <a:srgbClr val="48BE67">
                  <a:gamma/>
                  <a:shade val="48627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46" name="Text Box 9"/>
          <p:cNvSpPr txBox="1">
            <a:spLocks noChangeArrowheads="1"/>
          </p:cNvSpPr>
          <p:nvPr/>
        </p:nvSpPr>
        <p:spPr bwMode="auto">
          <a:xfrm>
            <a:off x="4195194" y="4685140"/>
            <a:ext cx="3097212" cy="461665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altLang="zh-CN" sz="2400" dirty="0">
                <a:latin typeface="+mn-ea"/>
                <a:ea typeface="+mn-ea"/>
              </a:rPr>
              <a:t>4. </a:t>
            </a:r>
            <a:r>
              <a:rPr lang="zh-CN" altLang="en-US" sz="2400" dirty="0">
                <a:latin typeface="+mn-ea"/>
                <a:ea typeface="+mn-ea"/>
              </a:rPr>
              <a:t>清除中断标志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47" name="AutoShape 10"/>
          <p:cNvSpPr>
            <a:spLocks noChangeArrowheads="1"/>
          </p:cNvSpPr>
          <p:nvPr/>
        </p:nvSpPr>
        <p:spPr bwMode="auto">
          <a:xfrm>
            <a:off x="5419156" y="5126604"/>
            <a:ext cx="649288" cy="419338"/>
          </a:xfrm>
          <a:prstGeom prst="down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48BE67"/>
              </a:gs>
              <a:gs pos="100000">
                <a:srgbClr val="48BE67">
                  <a:gamma/>
                  <a:shade val="48627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48" name="Text Box 9"/>
          <p:cNvSpPr txBox="1">
            <a:spLocks noChangeArrowheads="1"/>
          </p:cNvSpPr>
          <p:nvPr/>
        </p:nvSpPr>
        <p:spPr bwMode="auto">
          <a:xfrm>
            <a:off x="4195194" y="5552375"/>
            <a:ext cx="3097212" cy="461665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altLang="zh-CN" sz="2400" dirty="0">
                <a:latin typeface="+mn-ea"/>
                <a:ea typeface="+mn-ea"/>
              </a:rPr>
              <a:t>5. </a:t>
            </a:r>
            <a:r>
              <a:rPr lang="zh-CN" altLang="en-US" sz="2400" dirty="0">
                <a:latin typeface="+mn-ea"/>
                <a:ea typeface="+mn-ea"/>
              </a:rPr>
              <a:t>编写中断服务程序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3717788" y="1961453"/>
            <a:ext cx="4019048" cy="2541103"/>
          </a:xfrm>
          <a:prstGeom prst="round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3705769" y="4589353"/>
            <a:ext cx="4019049" cy="157058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圆角矩形标注 52"/>
          <p:cNvSpPr/>
          <p:nvPr/>
        </p:nvSpPr>
        <p:spPr>
          <a:xfrm>
            <a:off x="7912146" y="3059017"/>
            <a:ext cx="3352979" cy="555652"/>
          </a:xfrm>
          <a:prstGeom prst="wedgeRoundRectCallout">
            <a:avLst>
              <a:gd name="adj1" fmla="val -53148"/>
              <a:gd name="adj2" fmla="val 110604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在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STM32CubeMX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中完成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4" name="圆角矩形标注 53"/>
          <p:cNvSpPr/>
          <p:nvPr/>
        </p:nvSpPr>
        <p:spPr>
          <a:xfrm>
            <a:off x="7912145" y="4462495"/>
            <a:ext cx="3352979" cy="555652"/>
          </a:xfrm>
          <a:prstGeom prst="wedgeRoundRectCallout">
            <a:avLst>
              <a:gd name="adj1" fmla="val -53148"/>
              <a:gd name="adj2" fmla="val 110604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HAL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库的接口函数完成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9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52"/>
          <p:cNvSpPr/>
          <p:nvPr/>
        </p:nvSpPr>
        <p:spPr>
          <a:xfrm>
            <a:off x="4026498" y="1083028"/>
            <a:ext cx="343460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中断程序的编程步骤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 advTm="26471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2" grpId="0" animBg="1"/>
      <p:bldP spid="44" grpId="0" animBg="1"/>
      <p:bldP spid="46" grpId="0" animBg="1"/>
      <p:bldP spid="48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8" name="五边形 27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燕尾形 36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13078" y="1096273"/>
            <a:ext cx="1760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库封装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9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52"/>
          <p:cNvSpPr/>
          <p:nvPr/>
        </p:nvSpPr>
        <p:spPr>
          <a:xfrm>
            <a:off x="3966169" y="1083028"/>
            <a:ext cx="4259663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HAL</a:t>
            </a:r>
            <a:r>
              <a:rPr lang="zh-CN" altLang="en-US" sz="2800" b="1" dirty="0">
                <a:latin typeface="+mn-ea"/>
                <a:ea typeface="+mn-ea"/>
              </a:rPr>
              <a:t>库对中断的封装处理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81891" y="2345854"/>
            <a:ext cx="11028218" cy="721600"/>
            <a:chOff x="635266" y="4423755"/>
            <a:chExt cx="10998716" cy="8371721"/>
          </a:xfrm>
        </p:grpSpPr>
        <p:sp>
          <p:nvSpPr>
            <p:cNvPr id="32" name="矩形 31"/>
            <p:cNvSpPr/>
            <p:nvPr/>
          </p:nvSpPr>
          <p:spPr>
            <a:xfrm>
              <a:off x="836676" y="4726453"/>
              <a:ext cx="10797306" cy="67411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+mn-ea"/>
                  <a:ea typeface="+mn-ea"/>
                  <a:cs typeface="宋体" panose="02010600030101010101" pitchFamily="2" charset="-122"/>
                </a:rPr>
                <a:t>一：统一规定处理各个外设的通用中断处理程序</a:t>
              </a:r>
              <a:r>
                <a:rPr lang="en-US" altLang="zh-CN" sz="2400" b="1" dirty="0" err="1">
                  <a:latin typeface="+mn-ea"/>
                  <a:ea typeface="+mn-ea"/>
                  <a:cs typeface="宋体" panose="02010600030101010101" pitchFamily="2" charset="-122"/>
                </a:rPr>
                <a:t>HAL_PPP_IRQHandler</a:t>
              </a:r>
              <a:endParaRPr lang="zh-CN" altLang="en-US" sz="2400" b="1" dirty="0">
                <a:latin typeface="+mn-ea"/>
                <a:ea typeface="+mn-ea"/>
                <a:cs typeface="宋体" panose="02010600030101010101" pitchFamily="2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635266" y="4423755"/>
              <a:ext cx="10943925" cy="8371721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554422" y="3650767"/>
            <a:ext cx="11028218" cy="721600"/>
            <a:chOff x="524489" y="4423755"/>
            <a:chExt cx="10998715" cy="8371721"/>
          </a:xfrm>
        </p:grpSpPr>
        <p:sp>
          <p:nvSpPr>
            <p:cNvPr id="40" name="矩形 39"/>
            <p:cNvSpPr/>
            <p:nvPr/>
          </p:nvSpPr>
          <p:spPr>
            <a:xfrm>
              <a:off x="725898" y="4726453"/>
              <a:ext cx="10797306" cy="67411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+mn-ea"/>
                  <a:ea typeface="+mn-ea"/>
                  <a:cs typeface="宋体" panose="02010600030101010101" pitchFamily="2" charset="-122"/>
                </a:rPr>
                <a:t>二：在通用中断处理程序</a:t>
              </a:r>
              <a:r>
                <a:rPr lang="en-US" altLang="zh-CN" sz="2400" b="1" dirty="0" err="1">
                  <a:latin typeface="+mn-ea"/>
                  <a:ea typeface="+mn-ea"/>
                  <a:cs typeface="宋体" panose="02010600030101010101" pitchFamily="2" charset="-122"/>
                </a:rPr>
                <a:t>HAL_PPP_IRQHandler</a:t>
              </a:r>
              <a:r>
                <a:rPr lang="zh-CN" altLang="en-US" sz="2400" b="1" dirty="0">
                  <a:latin typeface="+mn-ea"/>
                  <a:ea typeface="+mn-ea"/>
                  <a:cs typeface="宋体" panose="02010600030101010101" pitchFamily="2" charset="-122"/>
                </a:rPr>
                <a:t>完成了中断标志的判断和清除</a:t>
              </a:r>
              <a:endParaRPr lang="zh-CN" altLang="en-US" sz="2400" b="1" dirty="0">
                <a:latin typeface="+mn-ea"/>
                <a:ea typeface="+mn-ea"/>
                <a:cs typeface="宋体" panose="02010600030101010101" pitchFamily="2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524489" y="4423755"/>
              <a:ext cx="10943925" cy="8371721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81891" y="5428278"/>
            <a:ext cx="11028219" cy="721600"/>
            <a:chOff x="635266" y="4423755"/>
            <a:chExt cx="10998716" cy="8371721"/>
          </a:xfrm>
        </p:grpSpPr>
        <p:sp>
          <p:nvSpPr>
            <p:cNvPr id="50" name="矩形 49"/>
            <p:cNvSpPr/>
            <p:nvPr/>
          </p:nvSpPr>
          <p:spPr>
            <a:xfrm>
              <a:off x="836676" y="4726453"/>
              <a:ext cx="10797306" cy="67411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+mn-ea"/>
                  <a:ea typeface="+mn-ea"/>
                  <a:cs typeface="宋体" panose="02010600030101010101" pitchFamily="2" charset="-122"/>
                </a:rPr>
                <a:t>三：将中断中需要执行的操作以回调函数的形式提供给用户</a:t>
              </a:r>
              <a:endParaRPr lang="zh-CN" altLang="en-US" sz="2400" b="1" dirty="0">
                <a:latin typeface="+mn-ea"/>
                <a:ea typeface="+mn-ea"/>
                <a:cs typeface="宋体" panose="02010600030101010101" pitchFamily="2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635266" y="4423755"/>
              <a:ext cx="10943925" cy="8371721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圆角矩形标注 52"/>
          <p:cNvSpPr/>
          <p:nvPr/>
        </p:nvSpPr>
        <p:spPr>
          <a:xfrm>
            <a:off x="7921572" y="1659775"/>
            <a:ext cx="2664729" cy="555652"/>
          </a:xfrm>
          <a:prstGeom prst="wedgeRoundRectCallout">
            <a:avLst>
              <a:gd name="adj1" fmla="val -53148"/>
              <a:gd name="adj2" fmla="val 110604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PPP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代表外设名称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7" name="圆角矩形标注 52"/>
          <p:cNvSpPr/>
          <p:nvPr/>
        </p:nvSpPr>
        <p:spPr>
          <a:xfrm>
            <a:off x="5816254" y="4418646"/>
            <a:ext cx="3648258" cy="890698"/>
          </a:xfrm>
          <a:prstGeom prst="wedgeRoundRectCallout">
            <a:avLst>
              <a:gd name="adj1" fmla="val -47053"/>
              <a:gd name="adj2" fmla="val 87320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由外设初始化、中断、处理完成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出错触发的函数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Tm="26471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240260" y="10781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回调函数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34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36" name="矩形 35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6" name="Rectangle 52"/>
          <p:cNvSpPr/>
          <p:nvPr/>
        </p:nvSpPr>
        <p:spPr>
          <a:xfrm>
            <a:off x="4186671" y="1071641"/>
            <a:ext cx="381865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回调函数的概念及作用</a:t>
            </a:r>
            <a:endParaRPr lang="zh-CN" altLang="en-US" sz="2800" b="1" dirty="0">
              <a:latin typeface="+mn-ea"/>
              <a:ea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72500" y="1918519"/>
            <a:ext cx="10045397" cy="4376915"/>
            <a:chOff x="1172500" y="2422595"/>
            <a:chExt cx="10045397" cy="3439429"/>
          </a:xfrm>
        </p:grpSpPr>
        <p:sp>
          <p:nvSpPr>
            <p:cNvPr id="31" name="矩形 30"/>
            <p:cNvSpPr/>
            <p:nvPr/>
          </p:nvSpPr>
          <p:spPr>
            <a:xfrm>
              <a:off x="1357589" y="2512279"/>
              <a:ext cx="9860308" cy="3191065"/>
            </a:xfrm>
            <a:prstGeom prst="rect">
              <a:avLst/>
            </a:prstGeom>
            <a:ln w="38100">
              <a:noFill/>
              <a:prstDash val="dash"/>
            </a:ln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ts val="45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回调函数是一个通过函数指针调用的函数。如果把函数的指针（地址）作为参数传递给另一个函数，当这个指针被用来调用其所指向的函数时，我们就说这是回调函数。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ts val="45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调函数的本质就是函数指针的应用，主要作用是实现与库函数的解耦操作。在回调过程中，主程序把回调函数像参数一样传入库函数。这样一来，只要我们改变传进库函数的参数，就可以实现不同的功能，并且丝毫不需要修改库函数的实现。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72500" y="2422595"/>
              <a:ext cx="9960556" cy="3439429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59551" y="10781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启动文件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35731" y="2324832"/>
            <a:ext cx="10865718" cy="3816372"/>
          </a:xfrm>
          <a:prstGeom prst="rect">
            <a:avLst/>
          </a:prstGeom>
          <a:noFill/>
          <a:ln w="38100">
            <a:solidFill>
              <a:srgbClr val="E44B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008670" y="1999646"/>
            <a:ext cx="6319842" cy="639247"/>
          </a:xfrm>
          <a:prstGeom prst="rect">
            <a:avLst/>
          </a:prstGeom>
          <a:solidFill>
            <a:srgbClr val="E44B46"/>
          </a:solidFill>
          <a:ln>
            <a:solidFill>
              <a:srgbClr val="E44B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启动文件：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startup_stm32fxxx.s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74554" y="2722147"/>
            <a:ext cx="10332931" cy="335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该文件存放在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MDK-ARM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组中。在该文件中，预先为每个中断编写了一个中断服务程序，只是这些中断服务程序都是死循环，目的只是初始化中断向量表；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中断服务程序的属性定义为“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weak”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weak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属性的函数表示：如果该函数没有在其他文件中定义，则使用该函数；如果用户在其他地方定义了该函数，则使用用户定义的函数。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52"/>
          <p:cNvSpPr/>
          <p:nvPr/>
        </p:nvSpPr>
        <p:spPr>
          <a:xfrm>
            <a:off x="2942681" y="1065473"/>
            <a:ext cx="871392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由</a:t>
            </a:r>
            <a:r>
              <a:rPr lang="en-US" altLang="zh-CN" sz="2800" b="1" dirty="0" err="1">
                <a:latin typeface="+mn-ea"/>
                <a:ea typeface="+mn-ea"/>
              </a:rPr>
              <a:t>CubeMX</a:t>
            </a:r>
            <a:r>
              <a:rPr lang="zh-CN" altLang="en-US" sz="2800" b="1" dirty="0">
                <a:latin typeface="+mn-ea"/>
                <a:ea typeface="+mn-ea"/>
              </a:rPr>
              <a:t>生成的</a:t>
            </a:r>
            <a:r>
              <a:rPr lang="en-US" altLang="zh-CN" sz="2800" b="1" dirty="0">
                <a:latin typeface="+mn-ea"/>
                <a:ea typeface="+mn-ea"/>
              </a:rPr>
              <a:t>MDK</a:t>
            </a:r>
            <a:r>
              <a:rPr lang="zh-CN" altLang="en-US" sz="2800" b="1" dirty="0">
                <a:latin typeface="+mn-ea"/>
                <a:ea typeface="+mn-ea"/>
              </a:rPr>
              <a:t>工程中与中断相关的编程文件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59551" y="10781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中断文件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07450" y="2543364"/>
            <a:ext cx="10865718" cy="3351046"/>
          </a:xfrm>
          <a:prstGeom prst="rect">
            <a:avLst/>
          </a:prstGeom>
          <a:noFill/>
          <a:ln w="38100">
            <a:solidFill>
              <a:srgbClr val="E44B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980389" y="2218178"/>
            <a:ext cx="6319842" cy="639247"/>
          </a:xfrm>
          <a:prstGeom prst="rect">
            <a:avLst/>
          </a:prstGeom>
          <a:solidFill>
            <a:srgbClr val="E44B46"/>
          </a:solidFill>
          <a:ln>
            <a:solidFill>
              <a:srgbClr val="E44B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中断服务程序文件：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stm32fxxx_it.c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46273" y="2940679"/>
            <a:ext cx="10332931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该文件存放在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User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组中，用于存放各个中断的中断服务程序；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在使用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CubeMX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软件进行初始化配置时，如果使能了某一个外设的中断功能，那么在生成代码时，相对应的外设中断处理程序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HAL_PPP_IRQHandler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就会自动添加到该文件中，用户只需要在该函数中添加相应的中断处理代码即可。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52"/>
          <p:cNvSpPr/>
          <p:nvPr/>
        </p:nvSpPr>
        <p:spPr>
          <a:xfrm>
            <a:off x="2942681" y="1065473"/>
            <a:ext cx="871392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由</a:t>
            </a:r>
            <a:r>
              <a:rPr lang="en-US" altLang="zh-CN" sz="2800" b="1" dirty="0" err="1">
                <a:latin typeface="+mn-ea"/>
                <a:ea typeface="+mn-ea"/>
              </a:rPr>
              <a:t>CubeMX</a:t>
            </a:r>
            <a:r>
              <a:rPr lang="zh-CN" altLang="en-US" sz="2800" b="1" dirty="0">
                <a:latin typeface="+mn-ea"/>
                <a:ea typeface="+mn-ea"/>
              </a:rPr>
              <a:t>生成的</a:t>
            </a:r>
            <a:r>
              <a:rPr lang="en-US" altLang="zh-CN" sz="2800" b="1" dirty="0">
                <a:latin typeface="+mn-ea"/>
                <a:ea typeface="+mn-ea"/>
              </a:rPr>
              <a:t>MDK</a:t>
            </a:r>
            <a:r>
              <a:rPr lang="zh-CN" altLang="en-US" sz="2800" b="1" dirty="0">
                <a:latin typeface="+mn-ea"/>
                <a:ea typeface="+mn-ea"/>
              </a:rPr>
              <a:t>工程中与中断相关的编程文件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179320"/>
            <a:ext cx="12195175" cy="1914525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0" y="2628088"/>
            <a:ext cx="12192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2  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外部中断处理流程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15676" y="10781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任务模拟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34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36" name="矩形 35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6" name="Rectangle 52"/>
          <p:cNvSpPr/>
          <p:nvPr/>
        </p:nvSpPr>
        <p:spPr>
          <a:xfrm>
            <a:off x="2883799" y="1071641"/>
            <a:ext cx="700886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以外部中断为例分析</a:t>
            </a:r>
            <a:r>
              <a:rPr lang="en-US" altLang="zh-CN" sz="2800" b="1" dirty="0">
                <a:latin typeface="+mn-ea"/>
                <a:ea typeface="+mn-ea"/>
              </a:rPr>
              <a:t>HAL</a:t>
            </a:r>
            <a:r>
              <a:rPr lang="zh-CN" altLang="en-US" sz="2800" b="1" dirty="0">
                <a:latin typeface="+mn-ea"/>
                <a:ea typeface="+mn-ea"/>
              </a:rPr>
              <a:t>库的中断处理流程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72500" y="2743107"/>
            <a:ext cx="9960556" cy="2620745"/>
            <a:chOff x="1172500" y="2422595"/>
            <a:chExt cx="9960556" cy="2620745"/>
          </a:xfrm>
        </p:grpSpPr>
        <p:sp>
          <p:nvSpPr>
            <p:cNvPr id="31" name="矩形 30"/>
            <p:cNvSpPr/>
            <p:nvPr/>
          </p:nvSpPr>
          <p:spPr>
            <a:xfrm>
              <a:off x="1357589" y="2512279"/>
              <a:ext cx="9476821" cy="2196883"/>
            </a:xfrm>
            <a:prstGeom prst="rect">
              <a:avLst/>
            </a:prstGeom>
            <a:ln w="38100">
              <a:noFill/>
              <a:prstDash val="dash"/>
            </a:ln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假设微控制器芯片为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STM32F411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，设置引脚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PC0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PC13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为外部中断功能。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当引脚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PC0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PC13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出现脉冲边沿时，将触发外部中断。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72500" y="2422595"/>
              <a:ext cx="9960556" cy="2620745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00701" y="110404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处理流程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163" name="Group 4"/>
          <p:cNvGrpSpPr/>
          <p:nvPr/>
        </p:nvGrpSpPr>
        <p:grpSpPr>
          <a:xfrm>
            <a:off x="6766597" y="1338537"/>
            <a:ext cx="5279209" cy="5459086"/>
            <a:chOff x="6506962" y="705229"/>
            <a:chExt cx="5279209" cy="5459086"/>
          </a:xfrm>
        </p:grpSpPr>
        <p:sp>
          <p:nvSpPr>
            <p:cNvPr id="164" name="Freeform 5"/>
            <p:cNvSpPr/>
            <p:nvPr/>
          </p:nvSpPr>
          <p:spPr bwMode="auto">
            <a:xfrm>
              <a:off x="6506962" y="705229"/>
              <a:ext cx="5279209" cy="5459086"/>
            </a:xfrm>
            <a:custGeom>
              <a:avLst/>
              <a:gdLst>
                <a:gd name="connsiteX0" fmla="*/ 3859967 w 5879683"/>
                <a:gd name="connsiteY0" fmla="*/ 0 h 6080019"/>
                <a:gd name="connsiteX1" fmla="*/ 4112189 w 5879683"/>
                <a:gd name="connsiteY1" fmla="*/ 1506708 h 6080019"/>
                <a:gd name="connsiteX2" fmla="*/ 2712241 w 5879683"/>
                <a:gd name="connsiteY2" fmla="*/ 2332968 h 6080019"/>
                <a:gd name="connsiteX3" fmla="*/ 606535 w 5879683"/>
                <a:gd name="connsiteY3" fmla="*/ 4372000 h 6080019"/>
                <a:gd name="connsiteX4" fmla="*/ 1316921 w 5879683"/>
                <a:gd name="connsiteY4" fmla="*/ 5047820 h 6080019"/>
                <a:gd name="connsiteX5" fmla="*/ 4723998 w 5879683"/>
                <a:gd name="connsiteY5" fmla="*/ 5435664 h 6080019"/>
                <a:gd name="connsiteX6" fmla="*/ 4808310 w 5879683"/>
                <a:gd name="connsiteY6" fmla="*/ 5429676 h 6080019"/>
                <a:gd name="connsiteX7" fmla="*/ 4961760 w 5879683"/>
                <a:gd name="connsiteY7" fmla="*/ 5207111 h 6080019"/>
                <a:gd name="connsiteX8" fmla="*/ 5879683 w 5879683"/>
                <a:gd name="connsiteY8" fmla="*/ 5581914 h 6080019"/>
                <a:gd name="connsiteX9" fmla="*/ 4359923 w 5879683"/>
                <a:gd name="connsiteY9" fmla="*/ 6080019 h 6080019"/>
                <a:gd name="connsiteX10" fmla="*/ 4478454 w 5879683"/>
                <a:gd name="connsiteY10" fmla="*/ 5908101 h 6080019"/>
                <a:gd name="connsiteX11" fmla="*/ 4184148 w 5879683"/>
                <a:gd name="connsiteY11" fmla="*/ 5922625 h 6080019"/>
                <a:gd name="connsiteX12" fmla="*/ 1205851 w 5879683"/>
                <a:gd name="connsiteY12" fmla="*/ 5552371 h 6080019"/>
                <a:gd name="connsiteX13" fmla="*/ 625046 w 5879683"/>
                <a:gd name="connsiteY13" fmla="*/ 5223719 h 6080019"/>
                <a:gd name="connsiteX14" fmla="*/ 264068 w 5879683"/>
                <a:gd name="connsiteY14" fmla="*/ 3453163 h 6080019"/>
                <a:gd name="connsiteX15" fmla="*/ 3019998 w 5879683"/>
                <a:gd name="connsiteY15" fmla="*/ 2011259 h 6080019"/>
                <a:gd name="connsiteX16" fmla="*/ 3816002 w 5879683"/>
                <a:gd name="connsiteY16" fmla="*/ 1564570 h 6080019"/>
                <a:gd name="connsiteX17" fmla="*/ 3859967 w 5879683"/>
                <a:gd name="connsiteY17" fmla="*/ 0 h 608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79683" h="6080019">
                  <a:moveTo>
                    <a:pt x="3859967" y="0"/>
                  </a:moveTo>
                  <a:cubicBezTo>
                    <a:pt x="4362097" y="358740"/>
                    <a:pt x="4642087" y="941982"/>
                    <a:pt x="4112189" y="1506708"/>
                  </a:cubicBezTo>
                  <a:cubicBezTo>
                    <a:pt x="3762781" y="1877021"/>
                    <a:pt x="3175034" y="2136239"/>
                    <a:pt x="2712241" y="2332968"/>
                  </a:cubicBezTo>
                  <a:cubicBezTo>
                    <a:pt x="1997227" y="2633847"/>
                    <a:pt x="171510" y="3247176"/>
                    <a:pt x="606535" y="4372000"/>
                  </a:cubicBezTo>
                  <a:cubicBezTo>
                    <a:pt x="729175" y="4686765"/>
                    <a:pt x="1029990" y="4897381"/>
                    <a:pt x="1316921" y="5047820"/>
                  </a:cubicBezTo>
                  <a:cubicBezTo>
                    <a:pt x="2186827" y="5499139"/>
                    <a:pt x="3628218" y="5507004"/>
                    <a:pt x="4723998" y="5435664"/>
                  </a:cubicBezTo>
                  <a:lnTo>
                    <a:pt x="4808310" y="5429676"/>
                  </a:lnTo>
                  <a:lnTo>
                    <a:pt x="4961760" y="5207111"/>
                  </a:lnTo>
                  <a:lnTo>
                    <a:pt x="5879683" y="5581914"/>
                  </a:lnTo>
                  <a:lnTo>
                    <a:pt x="4359923" y="6080019"/>
                  </a:lnTo>
                  <a:lnTo>
                    <a:pt x="4478454" y="5908101"/>
                  </a:lnTo>
                  <a:lnTo>
                    <a:pt x="4184148" y="5922625"/>
                  </a:lnTo>
                  <a:cubicBezTo>
                    <a:pt x="3187544" y="5964741"/>
                    <a:pt x="2102801" y="5947275"/>
                    <a:pt x="1205851" y="5552371"/>
                  </a:cubicBezTo>
                  <a:cubicBezTo>
                    <a:pt x="1002222" y="5462107"/>
                    <a:pt x="807849" y="5353328"/>
                    <a:pt x="625046" y="5223719"/>
                  </a:cubicBezTo>
                  <a:cubicBezTo>
                    <a:pt x="276" y="4774715"/>
                    <a:pt x="-221864" y="4103524"/>
                    <a:pt x="264068" y="3453163"/>
                  </a:cubicBezTo>
                  <a:cubicBezTo>
                    <a:pt x="743058" y="2809745"/>
                    <a:pt x="2263332" y="2351484"/>
                    <a:pt x="3019998" y="2011259"/>
                  </a:cubicBezTo>
                  <a:cubicBezTo>
                    <a:pt x="3293046" y="1888593"/>
                    <a:pt x="3577663" y="1745097"/>
                    <a:pt x="3816002" y="1564570"/>
                  </a:cubicBezTo>
                  <a:cubicBezTo>
                    <a:pt x="4491679" y="1057705"/>
                    <a:pt x="4359783" y="460576"/>
                    <a:pt x="3859967" y="0"/>
                  </a:cubicBez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5" name="Freeform 6"/>
            <p:cNvSpPr/>
            <p:nvPr/>
          </p:nvSpPr>
          <p:spPr bwMode="auto">
            <a:xfrm>
              <a:off x="6726851" y="793973"/>
              <a:ext cx="4081232" cy="5055161"/>
            </a:xfrm>
            <a:custGeom>
              <a:avLst/>
              <a:gdLst>
                <a:gd name="connsiteX0" fmla="*/ 2256537 w 4545444"/>
                <a:gd name="connsiteY0" fmla="*/ 5459202 h 5630150"/>
                <a:gd name="connsiteX1" fmla="*/ 2494614 w 4545444"/>
                <a:gd name="connsiteY1" fmla="*/ 5490324 h 5630150"/>
                <a:gd name="connsiteX2" fmla="*/ 4501279 w 4545444"/>
                <a:gd name="connsiteY2" fmla="*/ 5522041 h 5630150"/>
                <a:gd name="connsiteX3" fmla="*/ 4545249 w 4545444"/>
                <a:gd name="connsiteY3" fmla="*/ 5561385 h 5630150"/>
                <a:gd name="connsiteX4" fmla="*/ 4505907 w 4545444"/>
                <a:gd name="connsiteY4" fmla="*/ 5607672 h 5630150"/>
                <a:gd name="connsiteX5" fmla="*/ 2419318 w 4545444"/>
                <a:gd name="connsiteY5" fmla="*/ 5557726 h 5630150"/>
                <a:gd name="connsiteX6" fmla="*/ 2235390 w 4545444"/>
                <a:gd name="connsiteY6" fmla="*/ 5531069 h 5630150"/>
                <a:gd name="connsiteX7" fmla="*/ 618660 w 4545444"/>
                <a:gd name="connsiteY7" fmla="*/ 4907146 h 5630150"/>
                <a:gd name="connsiteX8" fmla="*/ 632400 w 4545444"/>
                <a:gd name="connsiteY8" fmla="*/ 4917588 h 5630150"/>
                <a:gd name="connsiteX9" fmla="*/ 1856847 w 4545444"/>
                <a:gd name="connsiteY9" fmla="*/ 5391925 h 5630150"/>
                <a:gd name="connsiteX10" fmla="*/ 2034852 w 4545444"/>
                <a:gd name="connsiteY10" fmla="*/ 5423658 h 5630150"/>
                <a:gd name="connsiteX11" fmla="*/ 2014093 w 4545444"/>
                <a:gd name="connsiteY11" fmla="*/ 5495358 h 5630150"/>
                <a:gd name="connsiteX12" fmla="*/ 1758065 w 4545444"/>
                <a:gd name="connsiteY12" fmla="*/ 5445168 h 5630150"/>
                <a:gd name="connsiteX13" fmla="*/ 623058 w 4545444"/>
                <a:gd name="connsiteY13" fmla="*/ 4995217 h 5630150"/>
                <a:gd name="connsiteX14" fmla="*/ 574601 w 4545444"/>
                <a:gd name="connsiteY14" fmla="*/ 4959683 h 5630150"/>
                <a:gd name="connsiteX15" fmla="*/ 56894 w 4545444"/>
                <a:gd name="connsiteY15" fmla="*/ 3655972 h 5630150"/>
                <a:gd name="connsiteX16" fmla="*/ 114769 w 4545444"/>
                <a:gd name="connsiteY16" fmla="*/ 3681320 h 5630150"/>
                <a:gd name="connsiteX17" fmla="*/ 80108 w 4545444"/>
                <a:gd name="connsiteY17" fmla="*/ 3791413 h 5630150"/>
                <a:gd name="connsiteX18" fmla="*/ 203845 w 4545444"/>
                <a:gd name="connsiteY18" fmla="*/ 4459754 h 5630150"/>
                <a:gd name="connsiteX19" fmla="*/ 432817 w 4545444"/>
                <a:gd name="connsiteY19" fmla="*/ 4753361 h 5630150"/>
                <a:gd name="connsiteX20" fmla="*/ 437043 w 4545444"/>
                <a:gd name="connsiteY20" fmla="*/ 4757128 h 5630150"/>
                <a:gd name="connsiteX21" fmla="*/ 393339 w 4545444"/>
                <a:gd name="connsiteY21" fmla="*/ 4809243 h 5630150"/>
                <a:gd name="connsiteX22" fmla="*/ 316280 w 4545444"/>
                <a:gd name="connsiteY22" fmla="*/ 4730599 h 5630150"/>
                <a:gd name="connsiteX23" fmla="*/ 102021 w 4545444"/>
                <a:gd name="connsiteY23" fmla="*/ 4404210 h 5630150"/>
                <a:gd name="connsiteX24" fmla="*/ 42457 w 4545444"/>
                <a:gd name="connsiteY24" fmla="*/ 3693267 h 5630150"/>
                <a:gd name="connsiteX25" fmla="*/ 929004 w 4545444"/>
                <a:gd name="connsiteY25" fmla="*/ 2786814 h 5630150"/>
                <a:gd name="connsiteX26" fmla="*/ 956746 w 4545444"/>
                <a:gd name="connsiteY26" fmla="*/ 2834023 h 5630150"/>
                <a:gd name="connsiteX27" fmla="*/ 807170 w 4545444"/>
                <a:gd name="connsiteY27" fmla="*/ 2926453 h 5630150"/>
                <a:gd name="connsiteX28" fmla="*/ 289168 w 4545444"/>
                <a:gd name="connsiteY28" fmla="*/ 3374474 h 5630150"/>
                <a:gd name="connsiteX29" fmla="*/ 202845 w 4545444"/>
                <a:gd name="connsiteY29" fmla="*/ 3497409 h 5630150"/>
                <a:gd name="connsiteX30" fmla="*/ 145829 w 4545444"/>
                <a:gd name="connsiteY30" fmla="*/ 3472437 h 5630150"/>
                <a:gd name="connsiteX31" fmla="*/ 199129 w 4545444"/>
                <a:gd name="connsiteY31" fmla="*/ 3391464 h 5630150"/>
                <a:gd name="connsiteX32" fmla="*/ 889422 w 4545444"/>
                <a:gd name="connsiteY32" fmla="*/ 2808754 h 5630150"/>
                <a:gd name="connsiteX33" fmla="*/ 1866690 w 4545444"/>
                <a:gd name="connsiteY33" fmla="*/ 2342652 h 5630150"/>
                <a:gd name="connsiteX34" fmla="*/ 1887488 w 4545444"/>
                <a:gd name="connsiteY34" fmla="*/ 2393291 h 5630150"/>
                <a:gd name="connsiteX35" fmla="*/ 1840098 w 4545444"/>
                <a:gd name="connsiteY35" fmla="*/ 2412028 h 5630150"/>
                <a:gd name="connsiteX36" fmla="*/ 1553013 w 4545444"/>
                <a:gd name="connsiteY36" fmla="*/ 2531900 h 5630150"/>
                <a:gd name="connsiteX37" fmla="*/ 1263822 w 4545444"/>
                <a:gd name="connsiteY37" fmla="*/ 2668275 h 5630150"/>
                <a:gd name="connsiteX38" fmla="*/ 1050436 w 4545444"/>
                <a:gd name="connsiteY38" fmla="*/ 2783374 h 5630150"/>
                <a:gd name="connsiteX39" fmla="*/ 1022313 w 4545444"/>
                <a:gd name="connsiteY39" fmla="*/ 2735091 h 5630150"/>
                <a:gd name="connsiteX40" fmla="*/ 1139549 w 4545444"/>
                <a:gd name="connsiteY40" fmla="*/ 2670106 h 5630150"/>
                <a:gd name="connsiteX41" fmla="*/ 1666136 w 4545444"/>
                <a:gd name="connsiteY41" fmla="*/ 2425016 h 5630150"/>
                <a:gd name="connsiteX42" fmla="*/ 2691412 w 4545444"/>
                <a:gd name="connsiteY42" fmla="*/ 2019045 h 5630150"/>
                <a:gd name="connsiteX43" fmla="*/ 2709493 w 4545444"/>
                <a:gd name="connsiteY43" fmla="*/ 2058447 h 5630150"/>
                <a:gd name="connsiteX44" fmla="*/ 2515802 w 4545444"/>
                <a:gd name="connsiteY44" fmla="*/ 2143103 h 5630150"/>
                <a:gd name="connsiteX45" fmla="*/ 1999688 w 4545444"/>
                <a:gd name="connsiteY45" fmla="*/ 2348928 h 5630150"/>
                <a:gd name="connsiteX46" fmla="*/ 1967235 w 4545444"/>
                <a:gd name="connsiteY46" fmla="*/ 2361760 h 5630150"/>
                <a:gd name="connsiteX47" fmla="*/ 1946919 w 4545444"/>
                <a:gd name="connsiteY47" fmla="*/ 2310047 h 5630150"/>
                <a:gd name="connsiteX48" fmla="*/ 2182498 w 4545444"/>
                <a:gd name="connsiteY48" fmla="*/ 2217829 h 5630150"/>
                <a:gd name="connsiteX49" fmla="*/ 2634236 w 4545444"/>
                <a:gd name="connsiteY49" fmla="*/ 2042495 h 5630150"/>
                <a:gd name="connsiteX50" fmla="*/ 3419929 w 4545444"/>
                <a:gd name="connsiteY50" fmla="*/ 1652893 h 5630150"/>
                <a:gd name="connsiteX51" fmla="*/ 3435936 w 4545444"/>
                <a:gd name="connsiteY51" fmla="*/ 1679865 h 5630150"/>
                <a:gd name="connsiteX52" fmla="*/ 3366230 w 4545444"/>
                <a:gd name="connsiteY52" fmla="*/ 1725659 h 5630150"/>
                <a:gd name="connsiteX53" fmla="*/ 2868625 w 4545444"/>
                <a:gd name="connsiteY53" fmla="*/ 1988895 h 5630150"/>
                <a:gd name="connsiteX54" fmla="*/ 2779467 w 4545444"/>
                <a:gd name="connsiteY54" fmla="*/ 2027864 h 5630150"/>
                <a:gd name="connsiteX55" fmla="*/ 2761652 w 4545444"/>
                <a:gd name="connsiteY55" fmla="*/ 1989574 h 5630150"/>
                <a:gd name="connsiteX56" fmla="*/ 2818870 w 4545444"/>
                <a:gd name="connsiteY56" fmla="*/ 1964884 h 5630150"/>
                <a:gd name="connsiteX57" fmla="*/ 3218283 w 4545444"/>
                <a:gd name="connsiteY57" fmla="*/ 1771311 h 5630150"/>
                <a:gd name="connsiteX58" fmla="*/ 3856693 w 4545444"/>
                <a:gd name="connsiteY58" fmla="*/ 1280930 h 5630150"/>
                <a:gd name="connsiteX59" fmla="*/ 3878857 w 4545444"/>
                <a:gd name="connsiteY59" fmla="*/ 1298486 h 5630150"/>
                <a:gd name="connsiteX60" fmla="*/ 3876698 w 4545444"/>
                <a:gd name="connsiteY60" fmla="*/ 1301552 h 5630150"/>
                <a:gd name="connsiteX61" fmla="*/ 3514716 w 4545444"/>
                <a:gd name="connsiteY61" fmla="*/ 1628110 h 5630150"/>
                <a:gd name="connsiteX62" fmla="*/ 3492103 w 4545444"/>
                <a:gd name="connsiteY62" fmla="*/ 1642966 h 5630150"/>
                <a:gd name="connsiteX63" fmla="*/ 3475028 w 4545444"/>
                <a:gd name="connsiteY63" fmla="*/ 1614196 h 5630150"/>
                <a:gd name="connsiteX64" fmla="*/ 3617263 w 4545444"/>
                <a:gd name="connsiteY64" fmla="*/ 1513296 h 5630150"/>
                <a:gd name="connsiteX65" fmla="*/ 3790149 w 4545444"/>
                <a:gd name="connsiteY65" fmla="*/ 1356801 h 5630150"/>
                <a:gd name="connsiteX66" fmla="*/ 4049529 w 4545444"/>
                <a:gd name="connsiteY66" fmla="*/ 911879 h 5630150"/>
                <a:gd name="connsiteX67" fmla="*/ 4075412 w 4545444"/>
                <a:gd name="connsiteY67" fmla="*/ 916031 h 5630150"/>
                <a:gd name="connsiteX68" fmla="*/ 4071869 w 4545444"/>
                <a:gd name="connsiteY68" fmla="*/ 931641 h 5630150"/>
                <a:gd name="connsiteX69" fmla="*/ 3962076 w 4545444"/>
                <a:gd name="connsiteY69" fmla="*/ 1180319 h 5630150"/>
                <a:gd name="connsiteX70" fmla="*/ 3914053 w 4545444"/>
                <a:gd name="connsiteY70" fmla="*/ 1248509 h 5630150"/>
                <a:gd name="connsiteX71" fmla="*/ 3893587 w 4545444"/>
                <a:gd name="connsiteY71" fmla="*/ 1232095 h 5630150"/>
                <a:gd name="connsiteX72" fmla="*/ 3931196 w 4545444"/>
                <a:gd name="connsiteY72" fmla="*/ 1180211 h 5630150"/>
                <a:gd name="connsiteX73" fmla="*/ 4029829 w 4545444"/>
                <a:gd name="connsiteY73" fmla="*/ 982194 h 5630150"/>
                <a:gd name="connsiteX74" fmla="*/ 4087808 w 4545444"/>
                <a:gd name="connsiteY74" fmla="*/ 593511 h 5630150"/>
                <a:gd name="connsiteX75" fmla="*/ 4093474 w 4545444"/>
                <a:gd name="connsiteY75" fmla="*/ 622281 h 5630150"/>
                <a:gd name="connsiteX76" fmla="*/ 4089935 w 4545444"/>
                <a:gd name="connsiteY76" fmla="*/ 852043 h 5630150"/>
                <a:gd name="connsiteX77" fmla="*/ 4087219 w 4545444"/>
                <a:gd name="connsiteY77" fmla="*/ 864013 h 5630150"/>
                <a:gd name="connsiteX78" fmla="*/ 4061852 w 4545444"/>
                <a:gd name="connsiteY78" fmla="*/ 860755 h 5630150"/>
                <a:gd name="connsiteX79" fmla="*/ 4075471 w 4545444"/>
                <a:gd name="connsiteY79" fmla="*/ 761421 h 5630150"/>
                <a:gd name="connsiteX80" fmla="*/ 4074987 w 4545444"/>
                <a:gd name="connsiteY80" fmla="*/ 646404 h 5630150"/>
                <a:gd name="connsiteX81" fmla="*/ 4067029 w 4545444"/>
                <a:gd name="connsiteY81" fmla="*/ 597339 h 5630150"/>
                <a:gd name="connsiteX82" fmla="*/ 4011395 w 4545444"/>
                <a:gd name="connsiteY82" fmla="*/ 373947 h 5630150"/>
                <a:gd name="connsiteX83" fmla="*/ 4028427 w 4545444"/>
                <a:gd name="connsiteY83" fmla="*/ 404785 h 5630150"/>
                <a:gd name="connsiteX84" fmla="*/ 4078941 w 4545444"/>
                <a:gd name="connsiteY84" fmla="*/ 548501 h 5630150"/>
                <a:gd name="connsiteX85" fmla="*/ 4080499 w 4545444"/>
                <a:gd name="connsiteY85" fmla="*/ 556408 h 5630150"/>
                <a:gd name="connsiteX86" fmla="*/ 4060972 w 4545444"/>
                <a:gd name="connsiteY86" fmla="*/ 560005 h 5630150"/>
                <a:gd name="connsiteX87" fmla="*/ 4057716 w 4545444"/>
                <a:gd name="connsiteY87" fmla="*/ 539931 h 5630150"/>
                <a:gd name="connsiteX88" fmla="*/ 4025964 w 4545444"/>
                <a:gd name="connsiteY88" fmla="*/ 440563 h 5630150"/>
                <a:gd name="connsiteX89" fmla="*/ 3997595 w 4545444"/>
                <a:gd name="connsiteY89" fmla="*/ 380051 h 5630150"/>
                <a:gd name="connsiteX90" fmla="*/ 3901155 w 4545444"/>
                <a:gd name="connsiteY90" fmla="*/ 197856 h 5630150"/>
                <a:gd name="connsiteX91" fmla="*/ 3951662 w 4545444"/>
                <a:gd name="connsiteY91" fmla="*/ 265789 h 5630150"/>
                <a:gd name="connsiteX92" fmla="*/ 3997798 w 4545444"/>
                <a:gd name="connsiteY92" fmla="*/ 349324 h 5630150"/>
                <a:gd name="connsiteX93" fmla="*/ 3985699 w 4545444"/>
                <a:gd name="connsiteY93" fmla="*/ 354676 h 5630150"/>
                <a:gd name="connsiteX94" fmla="*/ 3982036 w 4545444"/>
                <a:gd name="connsiteY94" fmla="*/ 346863 h 5630150"/>
                <a:gd name="connsiteX95" fmla="*/ 3928236 w 4545444"/>
                <a:gd name="connsiteY95" fmla="*/ 257395 h 5630150"/>
                <a:gd name="connsiteX96" fmla="*/ 3891077 w 4545444"/>
                <a:gd name="connsiteY96" fmla="*/ 204911 h 5630150"/>
                <a:gd name="connsiteX97" fmla="*/ 3831079 w 4545444"/>
                <a:gd name="connsiteY97" fmla="*/ 108914 h 5630150"/>
                <a:gd name="connsiteX98" fmla="*/ 3851464 w 4545444"/>
                <a:gd name="connsiteY98" fmla="*/ 131023 h 5630150"/>
                <a:gd name="connsiteX99" fmla="*/ 3891271 w 4545444"/>
                <a:gd name="connsiteY99" fmla="*/ 184563 h 5630150"/>
                <a:gd name="connsiteX100" fmla="*/ 3881402 w 4545444"/>
                <a:gd name="connsiteY100" fmla="*/ 191248 h 5630150"/>
                <a:gd name="connsiteX101" fmla="*/ 3866868 w 4545444"/>
                <a:gd name="connsiteY101" fmla="*/ 170720 h 5630150"/>
                <a:gd name="connsiteX102" fmla="*/ 3823189 w 4545444"/>
                <a:gd name="connsiteY102" fmla="*/ 115974 h 5630150"/>
                <a:gd name="connsiteX103" fmla="*/ 3730658 w 4545444"/>
                <a:gd name="connsiteY103" fmla="*/ 0 h 5630150"/>
                <a:gd name="connsiteX104" fmla="*/ 3822781 w 4545444"/>
                <a:gd name="connsiteY104" fmla="*/ 99914 h 5630150"/>
                <a:gd name="connsiteX105" fmla="*/ 3814969 w 4545444"/>
                <a:gd name="connsiteY105" fmla="*/ 105670 h 563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545444" h="5630150">
                  <a:moveTo>
                    <a:pt x="2256537" y="5459202"/>
                  </a:moveTo>
                  <a:lnTo>
                    <a:pt x="2494614" y="5490324"/>
                  </a:lnTo>
                  <a:cubicBezTo>
                    <a:pt x="3248051" y="5573048"/>
                    <a:pt x="4008214" y="5552417"/>
                    <a:pt x="4501279" y="5522041"/>
                  </a:cubicBezTo>
                  <a:cubicBezTo>
                    <a:pt x="4524421" y="5522041"/>
                    <a:pt x="4542935" y="5538242"/>
                    <a:pt x="4545249" y="5561385"/>
                  </a:cubicBezTo>
                  <a:cubicBezTo>
                    <a:pt x="4547563" y="5584529"/>
                    <a:pt x="4529049" y="5605358"/>
                    <a:pt x="4505907" y="5607672"/>
                  </a:cubicBezTo>
                  <a:cubicBezTo>
                    <a:pt x="3998668" y="5636023"/>
                    <a:pt x="3202626" y="5653742"/>
                    <a:pt x="2419318" y="5557726"/>
                  </a:cubicBezTo>
                  <a:lnTo>
                    <a:pt x="2235390" y="5531069"/>
                  </a:lnTo>
                  <a:close/>
                  <a:moveTo>
                    <a:pt x="618660" y="4907146"/>
                  </a:moveTo>
                  <a:lnTo>
                    <a:pt x="632400" y="4917588"/>
                  </a:lnTo>
                  <a:cubicBezTo>
                    <a:pt x="956939" y="5146045"/>
                    <a:pt x="1389337" y="5295867"/>
                    <a:pt x="1856847" y="5391925"/>
                  </a:cubicBezTo>
                  <a:lnTo>
                    <a:pt x="2034852" y="5423658"/>
                  </a:lnTo>
                  <a:lnTo>
                    <a:pt x="2014093" y="5495358"/>
                  </a:lnTo>
                  <a:lnTo>
                    <a:pt x="1758065" y="5445168"/>
                  </a:lnTo>
                  <a:cubicBezTo>
                    <a:pt x="1328685" y="5348354"/>
                    <a:pt x="931595" y="5204783"/>
                    <a:pt x="623058" y="4995217"/>
                  </a:cubicBezTo>
                  <a:lnTo>
                    <a:pt x="574601" y="4959683"/>
                  </a:lnTo>
                  <a:close/>
                  <a:moveTo>
                    <a:pt x="56894" y="3655972"/>
                  </a:moveTo>
                  <a:lnTo>
                    <a:pt x="114769" y="3681320"/>
                  </a:lnTo>
                  <a:lnTo>
                    <a:pt x="80108" y="3791413"/>
                  </a:lnTo>
                  <a:cubicBezTo>
                    <a:pt x="36211" y="3992545"/>
                    <a:pt x="66151" y="4215012"/>
                    <a:pt x="203845" y="4459754"/>
                  </a:cubicBezTo>
                  <a:cubicBezTo>
                    <a:pt x="264592" y="4567588"/>
                    <a:pt x="341815" y="4665151"/>
                    <a:pt x="432817" y="4753361"/>
                  </a:cubicBezTo>
                  <a:lnTo>
                    <a:pt x="437043" y="4757128"/>
                  </a:lnTo>
                  <a:lnTo>
                    <a:pt x="393339" y="4809243"/>
                  </a:lnTo>
                  <a:lnTo>
                    <a:pt x="316280" y="4730599"/>
                  </a:lnTo>
                  <a:cubicBezTo>
                    <a:pt x="228451" y="4632436"/>
                    <a:pt x="156043" y="4523978"/>
                    <a:pt x="102021" y="4404210"/>
                  </a:cubicBezTo>
                  <a:cubicBezTo>
                    <a:pt x="-16002" y="4141676"/>
                    <a:pt x="-25657" y="3905829"/>
                    <a:pt x="42457" y="3693267"/>
                  </a:cubicBezTo>
                  <a:close/>
                  <a:moveTo>
                    <a:pt x="929004" y="2786814"/>
                  </a:moveTo>
                  <a:lnTo>
                    <a:pt x="956746" y="2834023"/>
                  </a:lnTo>
                  <a:lnTo>
                    <a:pt x="807170" y="2926453"/>
                  </a:lnTo>
                  <a:cubicBezTo>
                    <a:pt x="608715" y="3055790"/>
                    <a:pt x="424743" y="3204817"/>
                    <a:pt x="289168" y="3374474"/>
                  </a:cubicBezTo>
                  <a:lnTo>
                    <a:pt x="202845" y="3497409"/>
                  </a:lnTo>
                  <a:lnTo>
                    <a:pt x="145829" y="3472437"/>
                  </a:lnTo>
                  <a:lnTo>
                    <a:pt x="199129" y="3391464"/>
                  </a:lnTo>
                  <a:cubicBezTo>
                    <a:pt x="360399" y="3169649"/>
                    <a:pt x="606694" y="2977213"/>
                    <a:pt x="889422" y="2808754"/>
                  </a:cubicBezTo>
                  <a:close/>
                  <a:moveTo>
                    <a:pt x="1866690" y="2342652"/>
                  </a:moveTo>
                  <a:lnTo>
                    <a:pt x="1887488" y="2393291"/>
                  </a:lnTo>
                  <a:lnTo>
                    <a:pt x="1840098" y="2412028"/>
                  </a:lnTo>
                  <a:cubicBezTo>
                    <a:pt x="1736774" y="2453321"/>
                    <a:pt x="1640084" y="2493135"/>
                    <a:pt x="1553013" y="2531900"/>
                  </a:cubicBezTo>
                  <a:cubicBezTo>
                    <a:pt x="1462182" y="2572691"/>
                    <a:pt x="1364371" y="2618110"/>
                    <a:pt x="1263822" y="2668275"/>
                  </a:cubicBezTo>
                  <a:lnTo>
                    <a:pt x="1050436" y="2783374"/>
                  </a:lnTo>
                  <a:lnTo>
                    <a:pt x="1022313" y="2735091"/>
                  </a:lnTo>
                  <a:lnTo>
                    <a:pt x="1139549" y="2670106"/>
                  </a:lnTo>
                  <a:cubicBezTo>
                    <a:pt x="1310738" y="2581420"/>
                    <a:pt x="1489289" y="2500060"/>
                    <a:pt x="1666136" y="2425016"/>
                  </a:cubicBezTo>
                  <a:close/>
                  <a:moveTo>
                    <a:pt x="2691412" y="2019045"/>
                  </a:moveTo>
                  <a:lnTo>
                    <a:pt x="2709493" y="2058447"/>
                  </a:lnTo>
                  <a:lnTo>
                    <a:pt x="2515802" y="2143103"/>
                  </a:lnTo>
                  <a:cubicBezTo>
                    <a:pt x="2338903" y="2216486"/>
                    <a:pt x="2163509" y="2284612"/>
                    <a:pt x="1999688" y="2348928"/>
                  </a:cubicBezTo>
                  <a:lnTo>
                    <a:pt x="1967235" y="2361760"/>
                  </a:lnTo>
                  <a:lnTo>
                    <a:pt x="1946919" y="2310047"/>
                  </a:lnTo>
                  <a:lnTo>
                    <a:pt x="2182498" y="2217829"/>
                  </a:lnTo>
                  <a:cubicBezTo>
                    <a:pt x="2346871" y="2154412"/>
                    <a:pt x="2500473" y="2096303"/>
                    <a:pt x="2634236" y="2042495"/>
                  </a:cubicBezTo>
                  <a:close/>
                  <a:moveTo>
                    <a:pt x="3419929" y="1652893"/>
                  </a:moveTo>
                  <a:lnTo>
                    <a:pt x="3435936" y="1679865"/>
                  </a:lnTo>
                  <a:lnTo>
                    <a:pt x="3366230" y="1725659"/>
                  </a:lnTo>
                  <a:cubicBezTo>
                    <a:pt x="3212281" y="1820595"/>
                    <a:pt x="3043056" y="1907857"/>
                    <a:pt x="2868625" y="1988895"/>
                  </a:cubicBezTo>
                  <a:lnTo>
                    <a:pt x="2779467" y="2027864"/>
                  </a:lnTo>
                  <a:lnTo>
                    <a:pt x="2761652" y="1989574"/>
                  </a:lnTo>
                  <a:lnTo>
                    <a:pt x="2818870" y="1964884"/>
                  </a:lnTo>
                  <a:cubicBezTo>
                    <a:pt x="2942679" y="1909918"/>
                    <a:pt x="3080517" y="1845984"/>
                    <a:pt x="3218283" y="1771311"/>
                  </a:cubicBezTo>
                  <a:close/>
                  <a:moveTo>
                    <a:pt x="3856693" y="1280930"/>
                  </a:moveTo>
                  <a:lnTo>
                    <a:pt x="3878857" y="1298486"/>
                  </a:lnTo>
                  <a:lnTo>
                    <a:pt x="3876698" y="1301552"/>
                  </a:lnTo>
                  <a:cubicBezTo>
                    <a:pt x="3781380" y="1419528"/>
                    <a:pt x="3657364" y="1527897"/>
                    <a:pt x="3514716" y="1628110"/>
                  </a:cubicBezTo>
                  <a:lnTo>
                    <a:pt x="3492103" y="1642966"/>
                  </a:lnTo>
                  <a:lnTo>
                    <a:pt x="3475028" y="1614196"/>
                  </a:lnTo>
                  <a:lnTo>
                    <a:pt x="3617263" y="1513296"/>
                  </a:lnTo>
                  <a:cubicBezTo>
                    <a:pt x="3679023" y="1464333"/>
                    <a:pt x="3737239" y="1412242"/>
                    <a:pt x="3790149" y="1356801"/>
                  </a:cubicBezTo>
                  <a:close/>
                  <a:moveTo>
                    <a:pt x="4049529" y="911879"/>
                  </a:moveTo>
                  <a:lnTo>
                    <a:pt x="4075412" y="916031"/>
                  </a:lnTo>
                  <a:lnTo>
                    <a:pt x="4071869" y="931641"/>
                  </a:lnTo>
                  <a:cubicBezTo>
                    <a:pt x="4049346" y="1012031"/>
                    <a:pt x="4013278" y="1094833"/>
                    <a:pt x="3962076" y="1180319"/>
                  </a:cubicBezTo>
                  <a:lnTo>
                    <a:pt x="3914053" y="1248509"/>
                  </a:lnTo>
                  <a:lnTo>
                    <a:pt x="3893587" y="1232095"/>
                  </a:lnTo>
                  <a:lnTo>
                    <a:pt x="3931196" y="1180211"/>
                  </a:lnTo>
                  <a:cubicBezTo>
                    <a:pt x="3971731" y="1117849"/>
                    <a:pt x="4005196" y="1051917"/>
                    <a:pt x="4029829" y="982194"/>
                  </a:cubicBezTo>
                  <a:close/>
                  <a:moveTo>
                    <a:pt x="4087808" y="593511"/>
                  </a:moveTo>
                  <a:lnTo>
                    <a:pt x="4093474" y="622281"/>
                  </a:lnTo>
                  <a:cubicBezTo>
                    <a:pt x="4104254" y="696733"/>
                    <a:pt x="4103603" y="773228"/>
                    <a:pt x="4089935" y="852043"/>
                  </a:cubicBezTo>
                  <a:lnTo>
                    <a:pt x="4087219" y="864013"/>
                  </a:lnTo>
                  <a:lnTo>
                    <a:pt x="4061852" y="860755"/>
                  </a:lnTo>
                  <a:lnTo>
                    <a:pt x="4075471" y="761421"/>
                  </a:lnTo>
                  <a:cubicBezTo>
                    <a:pt x="4078364" y="721499"/>
                    <a:pt x="4078075" y="683239"/>
                    <a:pt x="4074987" y="646404"/>
                  </a:cubicBezTo>
                  <a:lnTo>
                    <a:pt x="4067029" y="597339"/>
                  </a:lnTo>
                  <a:close/>
                  <a:moveTo>
                    <a:pt x="4011395" y="373947"/>
                  </a:moveTo>
                  <a:lnTo>
                    <a:pt x="4028427" y="404785"/>
                  </a:lnTo>
                  <a:cubicBezTo>
                    <a:pt x="4049797" y="451877"/>
                    <a:pt x="4066792" y="499755"/>
                    <a:pt x="4078941" y="548501"/>
                  </a:cubicBezTo>
                  <a:lnTo>
                    <a:pt x="4080499" y="556408"/>
                  </a:lnTo>
                  <a:lnTo>
                    <a:pt x="4060972" y="560005"/>
                  </a:lnTo>
                  <a:lnTo>
                    <a:pt x="4057716" y="539931"/>
                  </a:lnTo>
                  <a:cubicBezTo>
                    <a:pt x="4049418" y="505704"/>
                    <a:pt x="4038706" y="472661"/>
                    <a:pt x="4025964" y="440563"/>
                  </a:cubicBezTo>
                  <a:lnTo>
                    <a:pt x="3997595" y="380051"/>
                  </a:lnTo>
                  <a:close/>
                  <a:moveTo>
                    <a:pt x="3901155" y="197856"/>
                  </a:moveTo>
                  <a:lnTo>
                    <a:pt x="3951662" y="265789"/>
                  </a:lnTo>
                  <a:lnTo>
                    <a:pt x="3997798" y="349324"/>
                  </a:lnTo>
                  <a:lnTo>
                    <a:pt x="3985699" y="354676"/>
                  </a:lnTo>
                  <a:lnTo>
                    <a:pt x="3982036" y="346863"/>
                  </a:lnTo>
                  <a:cubicBezTo>
                    <a:pt x="3965620" y="316415"/>
                    <a:pt x="3947559" y="286672"/>
                    <a:pt x="3928236" y="257395"/>
                  </a:cubicBezTo>
                  <a:lnTo>
                    <a:pt x="3891077" y="204911"/>
                  </a:lnTo>
                  <a:close/>
                  <a:moveTo>
                    <a:pt x="3831079" y="108914"/>
                  </a:moveTo>
                  <a:lnTo>
                    <a:pt x="3851464" y="131023"/>
                  </a:lnTo>
                  <a:lnTo>
                    <a:pt x="3891271" y="184563"/>
                  </a:lnTo>
                  <a:lnTo>
                    <a:pt x="3881402" y="191248"/>
                  </a:lnTo>
                  <a:lnTo>
                    <a:pt x="3866868" y="170720"/>
                  </a:lnTo>
                  <a:lnTo>
                    <a:pt x="3823189" y="115974"/>
                  </a:lnTo>
                  <a:close/>
                  <a:moveTo>
                    <a:pt x="3730658" y="0"/>
                  </a:moveTo>
                  <a:lnTo>
                    <a:pt x="3822781" y="99914"/>
                  </a:lnTo>
                  <a:lnTo>
                    <a:pt x="3814969" y="1056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6" name="Freeform 21"/>
            <p:cNvSpPr/>
            <p:nvPr/>
          </p:nvSpPr>
          <p:spPr bwMode="auto">
            <a:xfrm>
              <a:off x="10527058" y="5580009"/>
              <a:ext cx="471838" cy="430541"/>
            </a:xfrm>
            <a:custGeom>
              <a:avLst/>
              <a:gdLst>
                <a:gd name="T0" fmla="*/ 0 w 537"/>
                <a:gd name="T1" fmla="*/ 490 h 490"/>
                <a:gd name="T2" fmla="*/ 339 w 537"/>
                <a:gd name="T3" fmla="*/ 0 h 490"/>
                <a:gd name="T4" fmla="*/ 537 w 537"/>
                <a:gd name="T5" fmla="*/ 130 h 490"/>
                <a:gd name="T6" fmla="*/ 433 w 537"/>
                <a:gd name="T7" fmla="*/ 426 h 490"/>
                <a:gd name="T8" fmla="*/ 0 w 537"/>
                <a:gd name="T9" fmla="*/ 49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7" h="490">
                  <a:moveTo>
                    <a:pt x="0" y="490"/>
                  </a:moveTo>
                  <a:lnTo>
                    <a:pt x="339" y="0"/>
                  </a:lnTo>
                  <a:lnTo>
                    <a:pt x="537" y="130"/>
                  </a:lnTo>
                  <a:lnTo>
                    <a:pt x="433" y="426"/>
                  </a:lnTo>
                  <a:lnTo>
                    <a:pt x="0" y="49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grpSp>
        <p:nvGrpSpPr>
          <p:cNvPr id="167" name="Group 8"/>
          <p:cNvGrpSpPr/>
          <p:nvPr/>
        </p:nvGrpSpPr>
        <p:grpSpPr>
          <a:xfrm>
            <a:off x="9582057" y="1705815"/>
            <a:ext cx="216149" cy="187154"/>
            <a:chOff x="9322422" y="1072507"/>
            <a:chExt cx="216149" cy="187154"/>
          </a:xfrm>
        </p:grpSpPr>
        <p:sp>
          <p:nvSpPr>
            <p:cNvPr id="168" name="Freeform 22"/>
            <p:cNvSpPr/>
            <p:nvPr/>
          </p:nvSpPr>
          <p:spPr bwMode="auto">
            <a:xfrm>
              <a:off x="9467400" y="1081293"/>
              <a:ext cx="36024" cy="43054"/>
            </a:xfrm>
            <a:custGeom>
              <a:avLst/>
              <a:gdLst>
                <a:gd name="T0" fmla="*/ 41 w 41"/>
                <a:gd name="T1" fmla="*/ 0 h 49"/>
                <a:gd name="T2" fmla="*/ 0 w 41"/>
                <a:gd name="T3" fmla="*/ 0 h 49"/>
                <a:gd name="T4" fmla="*/ 0 w 41"/>
                <a:gd name="T5" fmla="*/ 16 h 49"/>
                <a:gd name="T6" fmla="*/ 41 w 41"/>
                <a:gd name="T7" fmla="*/ 49 h 49"/>
                <a:gd name="T8" fmla="*/ 41 w 41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9">
                  <a:moveTo>
                    <a:pt x="41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41" y="49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9" name="Freeform 23"/>
            <p:cNvSpPr/>
            <p:nvPr/>
          </p:nvSpPr>
          <p:spPr bwMode="auto">
            <a:xfrm>
              <a:off x="9357568" y="1118197"/>
              <a:ext cx="145857" cy="141464"/>
            </a:xfrm>
            <a:custGeom>
              <a:avLst/>
              <a:gdLst>
                <a:gd name="T0" fmla="*/ 166 w 166"/>
                <a:gd name="T1" fmla="*/ 85 h 161"/>
                <a:gd name="T2" fmla="*/ 166 w 166"/>
                <a:gd name="T3" fmla="*/ 69 h 161"/>
                <a:gd name="T4" fmla="*/ 125 w 166"/>
                <a:gd name="T5" fmla="*/ 36 h 161"/>
                <a:gd name="T6" fmla="*/ 83 w 166"/>
                <a:gd name="T7" fmla="*/ 0 h 161"/>
                <a:gd name="T8" fmla="*/ 0 w 166"/>
                <a:gd name="T9" fmla="*/ 69 h 161"/>
                <a:gd name="T10" fmla="*/ 0 w 166"/>
                <a:gd name="T11" fmla="*/ 161 h 161"/>
                <a:gd name="T12" fmla="*/ 52 w 166"/>
                <a:gd name="T13" fmla="*/ 161 h 161"/>
                <a:gd name="T14" fmla="*/ 52 w 166"/>
                <a:gd name="T15" fmla="*/ 69 h 161"/>
                <a:gd name="T16" fmla="*/ 114 w 166"/>
                <a:gd name="T17" fmla="*/ 69 h 161"/>
                <a:gd name="T18" fmla="*/ 114 w 166"/>
                <a:gd name="T19" fmla="*/ 161 h 161"/>
                <a:gd name="T20" fmla="*/ 166 w 166"/>
                <a:gd name="T21" fmla="*/ 161 h 161"/>
                <a:gd name="T22" fmla="*/ 166 w 166"/>
                <a:gd name="T23" fmla="*/ 85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6" h="161">
                  <a:moveTo>
                    <a:pt x="166" y="85"/>
                  </a:moveTo>
                  <a:lnTo>
                    <a:pt x="166" y="69"/>
                  </a:lnTo>
                  <a:lnTo>
                    <a:pt x="125" y="36"/>
                  </a:lnTo>
                  <a:lnTo>
                    <a:pt x="83" y="0"/>
                  </a:lnTo>
                  <a:lnTo>
                    <a:pt x="0" y="69"/>
                  </a:lnTo>
                  <a:lnTo>
                    <a:pt x="0" y="161"/>
                  </a:lnTo>
                  <a:lnTo>
                    <a:pt x="52" y="161"/>
                  </a:lnTo>
                  <a:lnTo>
                    <a:pt x="52" y="69"/>
                  </a:lnTo>
                  <a:lnTo>
                    <a:pt x="114" y="69"/>
                  </a:lnTo>
                  <a:lnTo>
                    <a:pt x="114" y="161"/>
                  </a:lnTo>
                  <a:lnTo>
                    <a:pt x="166" y="161"/>
                  </a:lnTo>
                  <a:lnTo>
                    <a:pt x="166" y="85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70" name="Freeform 24"/>
            <p:cNvSpPr/>
            <p:nvPr/>
          </p:nvSpPr>
          <p:spPr bwMode="auto">
            <a:xfrm>
              <a:off x="9322422" y="1072507"/>
              <a:ext cx="216149" cy="109832"/>
            </a:xfrm>
            <a:custGeom>
              <a:avLst/>
              <a:gdLst>
                <a:gd name="T0" fmla="*/ 40 w 246"/>
                <a:gd name="T1" fmla="*/ 111 h 125"/>
                <a:gd name="T2" fmla="*/ 123 w 246"/>
                <a:gd name="T3" fmla="*/ 45 h 125"/>
                <a:gd name="T4" fmla="*/ 165 w 246"/>
                <a:gd name="T5" fmla="*/ 78 h 125"/>
                <a:gd name="T6" fmla="*/ 206 w 246"/>
                <a:gd name="T7" fmla="*/ 111 h 125"/>
                <a:gd name="T8" fmla="*/ 224 w 246"/>
                <a:gd name="T9" fmla="*/ 125 h 125"/>
                <a:gd name="T10" fmla="*/ 246 w 246"/>
                <a:gd name="T11" fmla="*/ 102 h 125"/>
                <a:gd name="T12" fmla="*/ 206 w 246"/>
                <a:gd name="T13" fmla="*/ 69 h 125"/>
                <a:gd name="T14" fmla="*/ 165 w 246"/>
                <a:gd name="T15" fmla="*/ 36 h 125"/>
                <a:gd name="T16" fmla="*/ 123 w 246"/>
                <a:gd name="T17" fmla="*/ 0 h 125"/>
                <a:gd name="T18" fmla="*/ 0 w 246"/>
                <a:gd name="T19" fmla="*/ 102 h 125"/>
                <a:gd name="T20" fmla="*/ 21 w 246"/>
                <a:gd name="T21" fmla="*/ 125 h 125"/>
                <a:gd name="T22" fmla="*/ 40 w 246"/>
                <a:gd name="T23" fmla="*/ 11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6" h="125">
                  <a:moveTo>
                    <a:pt x="40" y="111"/>
                  </a:moveTo>
                  <a:lnTo>
                    <a:pt x="123" y="45"/>
                  </a:lnTo>
                  <a:lnTo>
                    <a:pt x="165" y="78"/>
                  </a:lnTo>
                  <a:lnTo>
                    <a:pt x="206" y="111"/>
                  </a:lnTo>
                  <a:lnTo>
                    <a:pt x="224" y="125"/>
                  </a:lnTo>
                  <a:lnTo>
                    <a:pt x="246" y="102"/>
                  </a:lnTo>
                  <a:lnTo>
                    <a:pt x="206" y="69"/>
                  </a:lnTo>
                  <a:lnTo>
                    <a:pt x="165" y="36"/>
                  </a:lnTo>
                  <a:lnTo>
                    <a:pt x="123" y="0"/>
                  </a:lnTo>
                  <a:lnTo>
                    <a:pt x="0" y="102"/>
                  </a:lnTo>
                  <a:lnTo>
                    <a:pt x="21" y="125"/>
                  </a:lnTo>
                  <a:lnTo>
                    <a:pt x="40" y="111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sp>
        <p:nvSpPr>
          <p:cNvPr id="171" name="Freeform 25"/>
          <p:cNvSpPr/>
          <p:nvPr/>
        </p:nvSpPr>
        <p:spPr bwMode="auto">
          <a:xfrm>
            <a:off x="8758757" y="2001043"/>
            <a:ext cx="681837" cy="238994"/>
          </a:xfrm>
          <a:custGeom>
            <a:avLst/>
            <a:gdLst>
              <a:gd name="T0" fmla="*/ 250 w 328"/>
              <a:gd name="T1" fmla="*/ 65 h 115"/>
              <a:gd name="T2" fmla="*/ 274 w 328"/>
              <a:gd name="T3" fmla="*/ 115 h 115"/>
              <a:gd name="T4" fmla="*/ 165 w 328"/>
              <a:gd name="T5" fmla="*/ 65 h 115"/>
              <a:gd name="T6" fmla="*/ 24 w 328"/>
              <a:gd name="T7" fmla="*/ 33 h 115"/>
              <a:gd name="T8" fmla="*/ 122 w 328"/>
              <a:gd name="T9" fmla="*/ 0 h 115"/>
              <a:gd name="T10" fmla="*/ 308 w 328"/>
              <a:gd name="T11" fmla="*/ 33 h 115"/>
              <a:gd name="T12" fmla="*/ 250 w 328"/>
              <a:gd name="T13" fmla="*/ 65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8" h="115">
                <a:moveTo>
                  <a:pt x="250" y="65"/>
                </a:moveTo>
                <a:cubicBezTo>
                  <a:pt x="274" y="115"/>
                  <a:pt x="274" y="115"/>
                  <a:pt x="274" y="115"/>
                </a:cubicBezTo>
                <a:cubicBezTo>
                  <a:pt x="165" y="65"/>
                  <a:pt x="165" y="65"/>
                  <a:pt x="165" y="65"/>
                </a:cubicBezTo>
                <a:cubicBezTo>
                  <a:pt x="102" y="61"/>
                  <a:pt x="44" y="48"/>
                  <a:pt x="24" y="33"/>
                </a:cubicBezTo>
                <a:cubicBezTo>
                  <a:pt x="0" y="15"/>
                  <a:pt x="44" y="0"/>
                  <a:pt x="122" y="0"/>
                </a:cubicBezTo>
                <a:cubicBezTo>
                  <a:pt x="201" y="0"/>
                  <a:pt x="284" y="15"/>
                  <a:pt x="308" y="33"/>
                </a:cubicBezTo>
                <a:cubicBezTo>
                  <a:pt x="328" y="48"/>
                  <a:pt x="302" y="61"/>
                  <a:pt x="250" y="65"/>
                </a:cubicBezTo>
                <a:close/>
              </a:path>
            </a:pathLst>
          </a:custGeom>
          <a:solidFill>
            <a:srgbClr val="D0DB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185" name="Group 26"/>
          <p:cNvGrpSpPr/>
          <p:nvPr/>
        </p:nvGrpSpPr>
        <p:grpSpPr>
          <a:xfrm>
            <a:off x="9033776" y="1219918"/>
            <a:ext cx="589578" cy="1020118"/>
            <a:chOff x="8774141" y="586610"/>
            <a:chExt cx="589578" cy="1020118"/>
          </a:xfrm>
        </p:grpSpPr>
        <p:sp>
          <p:nvSpPr>
            <p:cNvPr id="186" name="Oval 27"/>
            <p:cNvSpPr>
              <a:spLocks noChangeArrowheads="1"/>
            </p:cNvSpPr>
            <p:nvPr/>
          </p:nvSpPr>
          <p:spPr bwMode="auto">
            <a:xfrm>
              <a:off x="8774141" y="586610"/>
              <a:ext cx="589578" cy="5895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87" name="Freeform 26"/>
            <p:cNvSpPr/>
            <p:nvPr/>
          </p:nvSpPr>
          <p:spPr bwMode="auto">
            <a:xfrm>
              <a:off x="8969203" y="1008364"/>
              <a:ext cx="199454" cy="598364"/>
            </a:xfrm>
            <a:custGeom>
              <a:avLst/>
              <a:gdLst>
                <a:gd name="T0" fmla="*/ 113 w 227"/>
                <a:gd name="T1" fmla="*/ 681 h 681"/>
                <a:gd name="T2" fmla="*/ 0 w 227"/>
                <a:gd name="T3" fmla="*/ 113 h 681"/>
                <a:gd name="T4" fmla="*/ 94 w 227"/>
                <a:gd name="T5" fmla="*/ 0 h 681"/>
                <a:gd name="T6" fmla="*/ 227 w 227"/>
                <a:gd name="T7" fmla="*/ 113 h 681"/>
                <a:gd name="T8" fmla="*/ 113 w 227"/>
                <a:gd name="T9" fmla="*/ 681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681">
                  <a:moveTo>
                    <a:pt x="113" y="681"/>
                  </a:moveTo>
                  <a:lnTo>
                    <a:pt x="0" y="113"/>
                  </a:lnTo>
                  <a:lnTo>
                    <a:pt x="94" y="0"/>
                  </a:lnTo>
                  <a:lnTo>
                    <a:pt x="227" y="113"/>
                  </a:lnTo>
                  <a:lnTo>
                    <a:pt x="113" y="6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88" name="Oval 28"/>
            <p:cNvSpPr>
              <a:spLocks noChangeArrowheads="1"/>
            </p:cNvSpPr>
            <p:nvPr/>
          </p:nvSpPr>
          <p:spPr bwMode="auto">
            <a:xfrm>
              <a:off x="8836526" y="650752"/>
              <a:ext cx="464808" cy="46305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89" name="TextBox 30"/>
            <p:cNvSpPr txBox="1"/>
            <p:nvPr/>
          </p:nvSpPr>
          <p:spPr>
            <a:xfrm>
              <a:off x="8829405" y="675024"/>
              <a:ext cx="5020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36772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01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36772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10" name="Group 51"/>
          <p:cNvGrpSpPr/>
          <p:nvPr/>
        </p:nvGrpSpPr>
        <p:grpSpPr>
          <a:xfrm>
            <a:off x="1811642" y="1907437"/>
            <a:ext cx="4379234" cy="800682"/>
            <a:chOff x="1811642" y="1907437"/>
            <a:chExt cx="3502279" cy="800682"/>
          </a:xfrm>
        </p:grpSpPr>
        <p:sp>
          <p:nvSpPr>
            <p:cNvPr id="211" name="TextBox 52"/>
            <p:cNvSpPr txBox="1"/>
            <p:nvPr/>
          </p:nvSpPr>
          <p:spPr>
            <a:xfrm>
              <a:off x="1811642" y="190743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Roboto Light"/>
                  <a:ea typeface="+mn-ea"/>
                </a:rPr>
                <a:t>中断跳转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Light"/>
                <a:ea typeface="+mn-ea"/>
              </a:endParaRPr>
            </a:p>
          </p:txBody>
        </p:sp>
        <p:sp>
          <p:nvSpPr>
            <p:cNvPr id="212" name="TextBox 53"/>
            <p:cNvSpPr txBox="1"/>
            <p:nvPr/>
          </p:nvSpPr>
          <p:spPr>
            <a:xfrm>
              <a:off x="1811643" y="2277745"/>
              <a:ext cx="3502278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+mn-cs"/>
                </a:rPr>
                <a:t>跳转到该中断所对应的中断服务程序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13" name="Group 66"/>
          <p:cNvGrpSpPr/>
          <p:nvPr/>
        </p:nvGrpSpPr>
        <p:grpSpPr>
          <a:xfrm>
            <a:off x="1100743" y="1959819"/>
            <a:ext cx="622647" cy="622647"/>
            <a:chOff x="1100743" y="1959819"/>
            <a:chExt cx="622647" cy="622647"/>
          </a:xfrm>
        </p:grpSpPr>
        <p:sp>
          <p:nvSpPr>
            <p:cNvPr id="214" name="Oval 67"/>
            <p:cNvSpPr/>
            <p:nvPr/>
          </p:nvSpPr>
          <p:spPr>
            <a:xfrm>
              <a:off x="1100743" y="1959819"/>
              <a:ext cx="622647" cy="6226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grpSp>
          <p:nvGrpSpPr>
            <p:cNvPr id="215" name="Group 68"/>
            <p:cNvGrpSpPr/>
            <p:nvPr/>
          </p:nvGrpSpPr>
          <p:grpSpPr>
            <a:xfrm>
              <a:off x="1236606" y="2119219"/>
              <a:ext cx="350920" cy="303846"/>
              <a:chOff x="9322422" y="1072507"/>
              <a:chExt cx="216149" cy="187154"/>
            </a:xfrm>
            <a:solidFill>
              <a:schemeClr val="bg1"/>
            </a:solidFill>
          </p:grpSpPr>
          <p:sp>
            <p:nvSpPr>
              <p:cNvPr id="216" name="Freeform 22"/>
              <p:cNvSpPr/>
              <p:nvPr/>
            </p:nvSpPr>
            <p:spPr bwMode="auto">
              <a:xfrm>
                <a:off x="9467400" y="1081293"/>
                <a:ext cx="36024" cy="43054"/>
              </a:xfrm>
              <a:custGeom>
                <a:avLst/>
                <a:gdLst>
                  <a:gd name="T0" fmla="*/ 41 w 41"/>
                  <a:gd name="T1" fmla="*/ 0 h 49"/>
                  <a:gd name="T2" fmla="*/ 0 w 41"/>
                  <a:gd name="T3" fmla="*/ 0 h 49"/>
                  <a:gd name="T4" fmla="*/ 0 w 41"/>
                  <a:gd name="T5" fmla="*/ 16 h 49"/>
                  <a:gd name="T6" fmla="*/ 41 w 41"/>
                  <a:gd name="T7" fmla="*/ 49 h 49"/>
                  <a:gd name="T8" fmla="*/ 41 w 41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9">
                    <a:moveTo>
                      <a:pt x="41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41" y="49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217" name="Freeform 23"/>
              <p:cNvSpPr/>
              <p:nvPr/>
            </p:nvSpPr>
            <p:spPr bwMode="auto">
              <a:xfrm>
                <a:off x="9357568" y="1118197"/>
                <a:ext cx="145857" cy="141464"/>
              </a:xfrm>
              <a:custGeom>
                <a:avLst/>
                <a:gdLst>
                  <a:gd name="T0" fmla="*/ 166 w 166"/>
                  <a:gd name="T1" fmla="*/ 85 h 161"/>
                  <a:gd name="T2" fmla="*/ 166 w 166"/>
                  <a:gd name="T3" fmla="*/ 69 h 161"/>
                  <a:gd name="T4" fmla="*/ 125 w 166"/>
                  <a:gd name="T5" fmla="*/ 36 h 161"/>
                  <a:gd name="T6" fmla="*/ 83 w 166"/>
                  <a:gd name="T7" fmla="*/ 0 h 161"/>
                  <a:gd name="T8" fmla="*/ 0 w 166"/>
                  <a:gd name="T9" fmla="*/ 69 h 161"/>
                  <a:gd name="T10" fmla="*/ 0 w 166"/>
                  <a:gd name="T11" fmla="*/ 161 h 161"/>
                  <a:gd name="T12" fmla="*/ 52 w 166"/>
                  <a:gd name="T13" fmla="*/ 161 h 161"/>
                  <a:gd name="T14" fmla="*/ 52 w 166"/>
                  <a:gd name="T15" fmla="*/ 69 h 161"/>
                  <a:gd name="T16" fmla="*/ 114 w 166"/>
                  <a:gd name="T17" fmla="*/ 69 h 161"/>
                  <a:gd name="T18" fmla="*/ 114 w 166"/>
                  <a:gd name="T19" fmla="*/ 161 h 161"/>
                  <a:gd name="T20" fmla="*/ 166 w 166"/>
                  <a:gd name="T21" fmla="*/ 161 h 161"/>
                  <a:gd name="T22" fmla="*/ 166 w 166"/>
                  <a:gd name="T23" fmla="*/ 8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6" h="161">
                    <a:moveTo>
                      <a:pt x="166" y="85"/>
                    </a:moveTo>
                    <a:lnTo>
                      <a:pt x="166" y="69"/>
                    </a:lnTo>
                    <a:lnTo>
                      <a:pt x="125" y="36"/>
                    </a:lnTo>
                    <a:lnTo>
                      <a:pt x="83" y="0"/>
                    </a:lnTo>
                    <a:lnTo>
                      <a:pt x="0" y="69"/>
                    </a:lnTo>
                    <a:lnTo>
                      <a:pt x="0" y="161"/>
                    </a:lnTo>
                    <a:lnTo>
                      <a:pt x="52" y="161"/>
                    </a:lnTo>
                    <a:lnTo>
                      <a:pt x="52" y="69"/>
                    </a:lnTo>
                    <a:lnTo>
                      <a:pt x="114" y="69"/>
                    </a:lnTo>
                    <a:lnTo>
                      <a:pt x="114" y="161"/>
                    </a:lnTo>
                    <a:lnTo>
                      <a:pt x="166" y="161"/>
                    </a:lnTo>
                    <a:lnTo>
                      <a:pt x="166" y="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218" name="Freeform 24"/>
              <p:cNvSpPr/>
              <p:nvPr/>
            </p:nvSpPr>
            <p:spPr bwMode="auto">
              <a:xfrm>
                <a:off x="9322422" y="1072507"/>
                <a:ext cx="216149" cy="109832"/>
              </a:xfrm>
              <a:custGeom>
                <a:avLst/>
                <a:gdLst>
                  <a:gd name="T0" fmla="*/ 40 w 246"/>
                  <a:gd name="T1" fmla="*/ 111 h 125"/>
                  <a:gd name="T2" fmla="*/ 123 w 246"/>
                  <a:gd name="T3" fmla="*/ 45 h 125"/>
                  <a:gd name="T4" fmla="*/ 165 w 246"/>
                  <a:gd name="T5" fmla="*/ 78 h 125"/>
                  <a:gd name="T6" fmla="*/ 206 w 246"/>
                  <a:gd name="T7" fmla="*/ 111 h 125"/>
                  <a:gd name="T8" fmla="*/ 224 w 246"/>
                  <a:gd name="T9" fmla="*/ 125 h 125"/>
                  <a:gd name="T10" fmla="*/ 246 w 246"/>
                  <a:gd name="T11" fmla="*/ 102 h 125"/>
                  <a:gd name="T12" fmla="*/ 206 w 246"/>
                  <a:gd name="T13" fmla="*/ 69 h 125"/>
                  <a:gd name="T14" fmla="*/ 165 w 246"/>
                  <a:gd name="T15" fmla="*/ 36 h 125"/>
                  <a:gd name="T16" fmla="*/ 123 w 246"/>
                  <a:gd name="T17" fmla="*/ 0 h 125"/>
                  <a:gd name="T18" fmla="*/ 0 w 246"/>
                  <a:gd name="T19" fmla="*/ 102 h 125"/>
                  <a:gd name="T20" fmla="*/ 21 w 246"/>
                  <a:gd name="T21" fmla="*/ 125 h 125"/>
                  <a:gd name="T22" fmla="*/ 40 w 246"/>
                  <a:gd name="T23" fmla="*/ 111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6" h="125">
                    <a:moveTo>
                      <a:pt x="40" y="111"/>
                    </a:moveTo>
                    <a:lnTo>
                      <a:pt x="123" y="45"/>
                    </a:lnTo>
                    <a:lnTo>
                      <a:pt x="165" y="78"/>
                    </a:lnTo>
                    <a:lnTo>
                      <a:pt x="206" y="111"/>
                    </a:lnTo>
                    <a:lnTo>
                      <a:pt x="224" y="125"/>
                    </a:lnTo>
                    <a:lnTo>
                      <a:pt x="246" y="102"/>
                    </a:lnTo>
                    <a:lnTo>
                      <a:pt x="206" y="69"/>
                    </a:lnTo>
                    <a:lnTo>
                      <a:pt x="165" y="36"/>
                    </a:lnTo>
                    <a:lnTo>
                      <a:pt x="123" y="0"/>
                    </a:lnTo>
                    <a:lnTo>
                      <a:pt x="0" y="102"/>
                    </a:lnTo>
                    <a:lnTo>
                      <a:pt x="21" y="125"/>
                    </a:lnTo>
                    <a:lnTo>
                      <a:pt x="4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6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GPIO-EXTI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ectangle 52"/>
          <p:cNvSpPr/>
          <p:nvPr/>
        </p:nvSpPr>
        <p:spPr>
          <a:xfrm>
            <a:off x="3873407" y="1071641"/>
            <a:ext cx="418106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HAL</a:t>
            </a:r>
            <a:r>
              <a:rPr lang="zh-CN" altLang="en-US" sz="2800" b="1" dirty="0">
                <a:latin typeface="+mn-ea"/>
                <a:ea typeface="+mn-ea"/>
              </a:rPr>
              <a:t>库外部中断处理流程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5498" y="1104044"/>
            <a:ext cx="688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ISR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09102" y="2093733"/>
          <a:ext cx="11337120" cy="4512176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5566784"/>
                <a:gridCol w="5770336"/>
              </a:tblGrid>
              <a:tr h="564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dirty="0">
                          <a:effectLst/>
                          <a:latin typeface="+mn-ea"/>
                          <a:ea typeface="+mn-ea"/>
                        </a:rPr>
                        <a:t>外部中断线</a:t>
                      </a:r>
                      <a:endParaRPr lang="zh-CN" sz="20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dirty="0">
                          <a:effectLst/>
                          <a:latin typeface="+mn-ea"/>
                          <a:ea typeface="+mn-ea"/>
                        </a:rPr>
                        <a:t>中断服务程序的函数名称</a:t>
                      </a:r>
                      <a:endParaRPr lang="zh-CN" sz="20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dirty="0">
                          <a:effectLst/>
                          <a:latin typeface="+mn-ea"/>
                          <a:ea typeface="+mn-ea"/>
                        </a:rPr>
                        <a:t>外部中断线</a:t>
                      </a:r>
                      <a:r>
                        <a:rPr lang="en-US" sz="2000" b="1" dirty="0">
                          <a:effectLst/>
                          <a:latin typeface="+mn-ea"/>
                          <a:ea typeface="+mn-ea"/>
                        </a:rPr>
                        <a:t>0(EXTI Line 0) </a:t>
                      </a:r>
                      <a:endParaRPr lang="zh-CN" sz="20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ea"/>
                          <a:ea typeface="+mn-ea"/>
                        </a:rPr>
                        <a:t>EXTI0_IRQHandler</a:t>
                      </a:r>
                      <a:endParaRPr lang="zh-CN" sz="2000" b="1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dirty="0">
                          <a:effectLst/>
                          <a:latin typeface="+mn-ea"/>
                          <a:ea typeface="+mn-ea"/>
                        </a:rPr>
                        <a:t>外部中断线</a:t>
                      </a:r>
                      <a:r>
                        <a:rPr lang="en-US" sz="2000" b="1" dirty="0">
                          <a:effectLst/>
                          <a:latin typeface="+mn-ea"/>
                          <a:ea typeface="+mn-ea"/>
                        </a:rPr>
                        <a:t>1(EXTI Line 1) </a:t>
                      </a:r>
                      <a:endParaRPr lang="zh-CN" sz="20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ea"/>
                          <a:ea typeface="+mn-ea"/>
                        </a:rPr>
                        <a:t>EXTI1_IRQHandler</a:t>
                      </a:r>
                      <a:endParaRPr lang="zh-CN" sz="2000" b="1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dirty="0">
                          <a:effectLst/>
                          <a:latin typeface="+mn-ea"/>
                          <a:ea typeface="+mn-ea"/>
                        </a:rPr>
                        <a:t>外部中断线</a:t>
                      </a:r>
                      <a:r>
                        <a:rPr lang="en-US" sz="2000" b="1" dirty="0">
                          <a:effectLst/>
                          <a:latin typeface="+mn-ea"/>
                          <a:ea typeface="+mn-ea"/>
                        </a:rPr>
                        <a:t>2(EXTI Line 2) </a:t>
                      </a:r>
                      <a:endParaRPr lang="zh-CN" sz="20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n-ea"/>
                          <a:ea typeface="+mn-ea"/>
                        </a:rPr>
                        <a:t>EXTI2_IRQHandler</a:t>
                      </a:r>
                      <a:endParaRPr lang="zh-CN" sz="20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>
                          <a:effectLst/>
                          <a:latin typeface="+mn-ea"/>
                          <a:ea typeface="+mn-ea"/>
                        </a:rPr>
                        <a:t>外部中断线</a:t>
                      </a:r>
                      <a:r>
                        <a:rPr lang="en-US" sz="2000" b="1">
                          <a:effectLst/>
                          <a:latin typeface="+mn-ea"/>
                          <a:ea typeface="+mn-ea"/>
                        </a:rPr>
                        <a:t>3(EXTI Line 3) </a:t>
                      </a:r>
                      <a:endParaRPr lang="zh-CN" sz="2000" b="1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n-ea"/>
                          <a:ea typeface="+mn-ea"/>
                        </a:rPr>
                        <a:t>EXTI3_IRQHandler</a:t>
                      </a:r>
                      <a:endParaRPr lang="zh-CN" sz="20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>
                          <a:effectLst/>
                          <a:latin typeface="+mn-ea"/>
                          <a:ea typeface="+mn-ea"/>
                        </a:rPr>
                        <a:t>外部中断线</a:t>
                      </a:r>
                      <a:r>
                        <a:rPr lang="en-US" sz="2000" b="1">
                          <a:effectLst/>
                          <a:latin typeface="+mn-ea"/>
                          <a:ea typeface="+mn-ea"/>
                        </a:rPr>
                        <a:t>4(EXTI Line 4)</a:t>
                      </a:r>
                      <a:endParaRPr lang="zh-CN" sz="2000" b="1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n-ea"/>
                          <a:ea typeface="+mn-ea"/>
                        </a:rPr>
                        <a:t>EXTI4_IRQHandler</a:t>
                      </a:r>
                      <a:endParaRPr lang="zh-CN" sz="20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>
                          <a:effectLst/>
                          <a:latin typeface="+mn-ea"/>
                          <a:ea typeface="+mn-ea"/>
                        </a:rPr>
                        <a:t>外部中断线</a:t>
                      </a:r>
                      <a:r>
                        <a:rPr lang="en-US" sz="2000" b="1"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zh-CN" sz="2000" b="1">
                          <a:effectLst/>
                          <a:latin typeface="+mn-ea"/>
                          <a:ea typeface="+mn-ea"/>
                        </a:rPr>
                        <a:t>～</a:t>
                      </a:r>
                      <a:r>
                        <a:rPr lang="en-US" sz="2000" b="1">
                          <a:effectLst/>
                          <a:latin typeface="+mn-ea"/>
                          <a:ea typeface="+mn-ea"/>
                        </a:rPr>
                        <a:t>9(EXTI Line[9:5] )</a:t>
                      </a:r>
                      <a:endParaRPr lang="zh-CN" sz="2000" b="1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n-ea"/>
                          <a:ea typeface="+mn-ea"/>
                        </a:rPr>
                        <a:t>EXTI9_5_IRQHandler</a:t>
                      </a:r>
                      <a:endParaRPr lang="zh-CN" sz="20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40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>
                          <a:effectLst/>
                          <a:latin typeface="+mn-ea"/>
                          <a:ea typeface="+mn-ea"/>
                        </a:rPr>
                        <a:t>外部中断线</a:t>
                      </a:r>
                      <a:r>
                        <a:rPr lang="en-US" sz="2000" b="1"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zh-CN" sz="2000" b="1">
                          <a:effectLst/>
                          <a:latin typeface="+mn-ea"/>
                          <a:ea typeface="+mn-ea"/>
                        </a:rPr>
                        <a:t>～</a:t>
                      </a:r>
                      <a:r>
                        <a:rPr lang="en-US" sz="2000" b="1">
                          <a:effectLst/>
                          <a:latin typeface="+mn-ea"/>
                          <a:ea typeface="+mn-ea"/>
                        </a:rPr>
                        <a:t>15(EXTI Line[15:10] )</a:t>
                      </a:r>
                      <a:endParaRPr lang="zh-CN" sz="2000" b="1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n-ea"/>
                          <a:ea typeface="+mn-ea"/>
                        </a:rPr>
                        <a:t>EXTI15_10_IRQHandler</a:t>
                      </a:r>
                      <a:endParaRPr lang="zh-CN" sz="20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2" name="Rectangle 52"/>
          <p:cNvSpPr/>
          <p:nvPr/>
        </p:nvSpPr>
        <p:spPr>
          <a:xfrm>
            <a:off x="3456421" y="1071641"/>
            <a:ext cx="544248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外部中断所对应的中断服务程序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4725547" y="1650004"/>
            <a:ext cx="2904230" cy="807169"/>
          </a:xfrm>
          <a:prstGeom prst="wedgeRoundRectCallout">
            <a:avLst>
              <a:gd name="adj1" fmla="val 41927"/>
              <a:gd name="adj2" fmla="val 109560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引脚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PC0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对应的</a:t>
            </a:r>
            <a:endParaRPr lang="en-US" altLang="zh-CN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外部中断服务程序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7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408191" y="2767387"/>
            <a:ext cx="3253524" cy="3811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标注 14"/>
          <p:cNvSpPr/>
          <p:nvPr/>
        </p:nvSpPr>
        <p:spPr>
          <a:xfrm>
            <a:off x="4725547" y="4804411"/>
            <a:ext cx="3039423" cy="807169"/>
          </a:xfrm>
          <a:prstGeom prst="wedgeRoundRectCallout">
            <a:avLst>
              <a:gd name="adj1" fmla="val 41927"/>
              <a:gd name="adj2" fmla="val 109560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引脚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PC13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对应的</a:t>
            </a:r>
            <a:endParaRPr lang="en-US" altLang="zh-CN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外部中断服务程序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408191" y="6143492"/>
            <a:ext cx="3253524" cy="3811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00701" y="110404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处理流程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163" name="Group 4"/>
          <p:cNvGrpSpPr/>
          <p:nvPr/>
        </p:nvGrpSpPr>
        <p:grpSpPr>
          <a:xfrm>
            <a:off x="6766597" y="1338537"/>
            <a:ext cx="5279209" cy="5459086"/>
            <a:chOff x="6506962" y="705229"/>
            <a:chExt cx="5279209" cy="5459086"/>
          </a:xfrm>
        </p:grpSpPr>
        <p:sp>
          <p:nvSpPr>
            <p:cNvPr id="164" name="Freeform 5"/>
            <p:cNvSpPr/>
            <p:nvPr/>
          </p:nvSpPr>
          <p:spPr bwMode="auto">
            <a:xfrm>
              <a:off x="6506962" y="705229"/>
              <a:ext cx="5279209" cy="5459086"/>
            </a:xfrm>
            <a:custGeom>
              <a:avLst/>
              <a:gdLst>
                <a:gd name="connsiteX0" fmla="*/ 3859967 w 5879683"/>
                <a:gd name="connsiteY0" fmla="*/ 0 h 6080019"/>
                <a:gd name="connsiteX1" fmla="*/ 4112189 w 5879683"/>
                <a:gd name="connsiteY1" fmla="*/ 1506708 h 6080019"/>
                <a:gd name="connsiteX2" fmla="*/ 2712241 w 5879683"/>
                <a:gd name="connsiteY2" fmla="*/ 2332968 h 6080019"/>
                <a:gd name="connsiteX3" fmla="*/ 606535 w 5879683"/>
                <a:gd name="connsiteY3" fmla="*/ 4372000 h 6080019"/>
                <a:gd name="connsiteX4" fmla="*/ 1316921 w 5879683"/>
                <a:gd name="connsiteY4" fmla="*/ 5047820 h 6080019"/>
                <a:gd name="connsiteX5" fmla="*/ 4723998 w 5879683"/>
                <a:gd name="connsiteY5" fmla="*/ 5435664 h 6080019"/>
                <a:gd name="connsiteX6" fmla="*/ 4808310 w 5879683"/>
                <a:gd name="connsiteY6" fmla="*/ 5429676 h 6080019"/>
                <a:gd name="connsiteX7" fmla="*/ 4961760 w 5879683"/>
                <a:gd name="connsiteY7" fmla="*/ 5207111 h 6080019"/>
                <a:gd name="connsiteX8" fmla="*/ 5879683 w 5879683"/>
                <a:gd name="connsiteY8" fmla="*/ 5581914 h 6080019"/>
                <a:gd name="connsiteX9" fmla="*/ 4359923 w 5879683"/>
                <a:gd name="connsiteY9" fmla="*/ 6080019 h 6080019"/>
                <a:gd name="connsiteX10" fmla="*/ 4478454 w 5879683"/>
                <a:gd name="connsiteY10" fmla="*/ 5908101 h 6080019"/>
                <a:gd name="connsiteX11" fmla="*/ 4184148 w 5879683"/>
                <a:gd name="connsiteY11" fmla="*/ 5922625 h 6080019"/>
                <a:gd name="connsiteX12" fmla="*/ 1205851 w 5879683"/>
                <a:gd name="connsiteY12" fmla="*/ 5552371 h 6080019"/>
                <a:gd name="connsiteX13" fmla="*/ 625046 w 5879683"/>
                <a:gd name="connsiteY13" fmla="*/ 5223719 h 6080019"/>
                <a:gd name="connsiteX14" fmla="*/ 264068 w 5879683"/>
                <a:gd name="connsiteY14" fmla="*/ 3453163 h 6080019"/>
                <a:gd name="connsiteX15" fmla="*/ 3019998 w 5879683"/>
                <a:gd name="connsiteY15" fmla="*/ 2011259 h 6080019"/>
                <a:gd name="connsiteX16" fmla="*/ 3816002 w 5879683"/>
                <a:gd name="connsiteY16" fmla="*/ 1564570 h 6080019"/>
                <a:gd name="connsiteX17" fmla="*/ 3859967 w 5879683"/>
                <a:gd name="connsiteY17" fmla="*/ 0 h 608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79683" h="6080019">
                  <a:moveTo>
                    <a:pt x="3859967" y="0"/>
                  </a:moveTo>
                  <a:cubicBezTo>
                    <a:pt x="4362097" y="358740"/>
                    <a:pt x="4642087" y="941982"/>
                    <a:pt x="4112189" y="1506708"/>
                  </a:cubicBezTo>
                  <a:cubicBezTo>
                    <a:pt x="3762781" y="1877021"/>
                    <a:pt x="3175034" y="2136239"/>
                    <a:pt x="2712241" y="2332968"/>
                  </a:cubicBezTo>
                  <a:cubicBezTo>
                    <a:pt x="1997227" y="2633847"/>
                    <a:pt x="171510" y="3247176"/>
                    <a:pt x="606535" y="4372000"/>
                  </a:cubicBezTo>
                  <a:cubicBezTo>
                    <a:pt x="729175" y="4686765"/>
                    <a:pt x="1029990" y="4897381"/>
                    <a:pt x="1316921" y="5047820"/>
                  </a:cubicBezTo>
                  <a:cubicBezTo>
                    <a:pt x="2186827" y="5499139"/>
                    <a:pt x="3628218" y="5507004"/>
                    <a:pt x="4723998" y="5435664"/>
                  </a:cubicBezTo>
                  <a:lnTo>
                    <a:pt x="4808310" y="5429676"/>
                  </a:lnTo>
                  <a:lnTo>
                    <a:pt x="4961760" y="5207111"/>
                  </a:lnTo>
                  <a:lnTo>
                    <a:pt x="5879683" y="5581914"/>
                  </a:lnTo>
                  <a:lnTo>
                    <a:pt x="4359923" y="6080019"/>
                  </a:lnTo>
                  <a:lnTo>
                    <a:pt x="4478454" y="5908101"/>
                  </a:lnTo>
                  <a:lnTo>
                    <a:pt x="4184148" y="5922625"/>
                  </a:lnTo>
                  <a:cubicBezTo>
                    <a:pt x="3187544" y="5964741"/>
                    <a:pt x="2102801" y="5947275"/>
                    <a:pt x="1205851" y="5552371"/>
                  </a:cubicBezTo>
                  <a:cubicBezTo>
                    <a:pt x="1002222" y="5462107"/>
                    <a:pt x="807849" y="5353328"/>
                    <a:pt x="625046" y="5223719"/>
                  </a:cubicBezTo>
                  <a:cubicBezTo>
                    <a:pt x="276" y="4774715"/>
                    <a:pt x="-221864" y="4103524"/>
                    <a:pt x="264068" y="3453163"/>
                  </a:cubicBezTo>
                  <a:cubicBezTo>
                    <a:pt x="743058" y="2809745"/>
                    <a:pt x="2263332" y="2351484"/>
                    <a:pt x="3019998" y="2011259"/>
                  </a:cubicBezTo>
                  <a:cubicBezTo>
                    <a:pt x="3293046" y="1888593"/>
                    <a:pt x="3577663" y="1745097"/>
                    <a:pt x="3816002" y="1564570"/>
                  </a:cubicBezTo>
                  <a:cubicBezTo>
                    <a:pt x="4491679" y="1057705"/>
                    <a:pt x="4359783" y="460576"/>
                    <a:pt x="3859967" y="0"/>
                  </a:cubicBez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5" name="Freeform 6"/>
            <p:cNvSpPr/>
            <p:nvPr/>
          </p:nvSpPr>
          <p:spPr bwMode="auto">
            <a:xfrm>
              <a:off x="6726851" y="793973"/>
              <a:ext cx="4081232" cy="5055161"/>
            </a:xfrm>
            <a:custGeom>
              <a:avLst/>
              <a:gdLst>
                <a:gd name="connsiteX0" fmla="*/ 2256537 w 4545444"/>
                <a:gd name="connsiteY0" fmla="*/ 5459202 h 5630150"/>
                <a:gd name="connsiteX1" fmla="*/ 2494614 w 4545444"/>
                <a:gd name="connsiteY1" fmla="*/ 5490324 h 5630150"/>
                <a:gd name="connsiteX2" fmla="*/ 4501279 w 4545444"/>
                <a:gd name="connsiteY2" fmla="*/ 5522041 h 5630150"/>
                <a:gd name="connsiteX3" fmla="*/ 4545249 w 4545444"/>
                <a:gd name="connsiteY3" fmla="*/ 5561385 h 5630150"/>
                <a:gd name="connsiteX4" fmla="*/ 4505907 w 4545444"/>
                <a:gd name="connsiteY4" fmla="*/ 5607672 h 5630150"/>
                <a:gd name="connsiteX5" fmla="*/ 2419318 w 4545444"/>
                <a:gd name="connsiteY5" fmla="*/ 5557726 h 5630150"/>
                <a:gd name="connsiteX6" fmla="*/ 2235390 w 4545444"/>
                <a:gd name="connsiteY6" fmla="*/ 5531069 h 5630150"/>
                <a:gd name="connsiteX7" fmla="*/ 618660 w 4545444"/>
                <a:gd name="connsiteY7" fmla="*/ 4907146 h 5630150"/>
                <a:gd name="connsiteX8" fmla="*/ 632400 w 4545444"/>
                <a:gd name="connsiteY8" fmla="*/ 4917588 h 5630150"/>
                <a:gd name="connsiteX9" fmla="*/ 1856847 w 4545444"/>
                <a:gd name="connsiteY9" fmla="*/ 5391925 h 5630150"/>
                <a:gd name="connsiteX10" fmla="*/ 2034852 w 4545444"/>
                <a:gd name="connsiteY10" fmla="*/ 5423658 h 5630150"/>
                <a:gd name="connsiteX11" fmla="*/ 2014093 w 4545444"/>
                <a:gd name="connsiteY11" fmla="*/ 5495358 h 5630150"/>
                <a:gd name="connsiteX12" fmla="*/ 1758065 w 4545444"/>
                <a:gd name="connsiteY12" fmla="*/ 5445168 h 5630150"/>
                <a:gd name="connsiteX13" fmla="*/ 623058 w 4545444"/>
                <a:gd name="connsiteY13" fmla="*/ 4995217 h 5630150"/>
                <a:gd name="connsiteX14" fmla="*/ 574601 w 4545444"/>
                <a:gd name="connsiteY14" fmla="*/ 4959683 h 5630150"/>
                <a:gd name="connsiteX15" fmla="*/ 56894 w 4545444"/>
                <a:gd name="connsiteY15" fmla="*/ 3655972 h 5630150"/>
                <a:gd name="connsiteX16" fmla="*/ 114769 w 4545444"/>
                <a:gd name="connsiteY16" fmla="*/ 3681320 h 5630150"/>
                <a:gd name="connsiteX17" fmla="*/ 80108 w 4545444"/>
                <a:gd name="connsiteY17" fmla="*/ 3791413 h 5630150"/>
                <a:gd name="connsiteX18" fmla="*/ 203845 w 4545444"/>
                <a:gd name="connsiteY18" fmla="*/ 4459754 h 5630150"/>
                <a:gd name="connsiteX19" fmla="*/ 432817 w 4545444"/>
                <a:gd name="connsiteY19" fmla="*/ 4753361 h 5630150"/>
                <a:gd name="connsiteX20" fmla="*/ 437043 w 4545444"/>
                <a:gd name="connsiteY20" fmla="*/ 4757128 h 5630150"/>
                <a:gd name="connsiteX21" fmla="*/ 393339 w 4545444"/>
                <a:gd name="connsiteY21" fmla="*/ 4809243 h 5630150"/>
                <a:gd name="connsiteX22" fmla="*/ 316280 w 4545444"/>
                <a:gd name="connsiteY22" fmla="*/ 4730599 h 5630150"/>
                <a:gd name="connsiteX23" fmla="*/ 102021 w 4545444"/>
                <a:gd name="connsiteY23" fmla="*/ 4404210 h 5630150"/>
                <a:gd name="connsiteX24" fmla="*/ 42457 w 4545444"/>
                <a:gd name="connsiteY24" fmla="*/ 3693267 h 5630150"/>
                <a:gd name="connsiteX25" fmla="*/ 929004 w 4545444"/>
                <a:gd name="connsiteY25" fmla="*/ 2786814 h 5630150"/>
                <a:gd name="connsiteX26" fmla="*/ 956746 w 4545444"/>
                <a:gd name="connsiteY26" fmla="*/ 2834023 h 5630150"/>
                <a:gd name="connsiteX27" fmla="*/ 807170 w 4545444"/>
                <a:gd name="connsiteY27" fmla="*/ 2926453 h 5630150"/>
                <a:gd name="connsiteX28" fmla="*/ 289168 w 4545444"/>
                <a:gd name="connsiteY28" fmla="*/ 3374474 h 5630150"/>
                <a:gd name="connsiteX29" fmla="*/ 202845 w 4545444"/>
                <a:gd name="connsiteY29" fmla="*/ 3497409 h 5630150"/>
                <a:gd name="connsiteX30" fmla="*/ 145829 w 4545444"/>
                <a:gd name="connsiteY30" fmla="*/ 3472437 h 5630150"/>
                <a:gd name="connsiteX31" fmla="*/ 199129 w 4545444"/>
                <a:gd name="connsiteY31" fmla="*/ 3391464 h 5630150"/>
                <a:gd name="connsiteX32" fmla="*/ 889422 w 4545444"/>
                <a:gd name="connsiteY32" fmla="*/ 2808754 h 5630150"/>
                <a:gd name="connsiteX33" fmla="*/ 1866690 w 4545444"/>
                <a:gd name="connsiteY33" fmla="*/ 2342652 h 5630150"/>
                <a:gd name="connsiteX34" fmla="*/ 1887488 w 4545444"/>
                <a:gd name="connsiteY34" fmla="*/ 2393291 h 5630150"/>
                <a:gd name="connsiteX35" fmla="*/ 1840098 w 4545444"/>
                <a:gd name="connsiteY35" fmla="*/ 2412028 h 5630150"/>
                <a:gd name="connsiteX36" fmla="*/ 1553013 w 4545444"/>
                <a:gd name="connsiteY36" fmla="*/ 2531900 h 5630150"/>
                <a:gd name="connsiteX37" fmla="*/ 1263822 w 4545444"/>
                <a:gd name="connsiteY37" fmla="*/ 2668275 h 5630150"/>
                <a:gd name="connsiteX38" fmla="*/ 1050436 w 4545444"/>
                <a:gd name="connsiteY38" fmla="*/ 2783374 h 5630150"/>
                <a:gd name="connsiteX39" fmla="*/ 1022313 w 4545444"/>
                <a:gd name="connsiteY39" fmla="*/ 2735091 h 5630150"/>
                <a:gd name="connsiteX40" fmla="*/ 1139549 w 4545444"/>
                <a:gd name="connsiteY40" fmla="*/ 2670106 h 5630150"/>
                <a:gd name="connsiteX41" fmla="*/ 1666136 w 4545444"/>
                <a:gd name="connsiteY41" fmla="*/ 2425016 h 5630150"/>
                <a:gd name="connsiteX42" fmla="*/ 2691412 w 4545444"/>
                <a:gd name="connsiteY42" fmla="*/ 2019045 h 5630150"/>
                <a:gd name="connsiteX43" fmla="*/ 2709493 w 4545444"/>
                <a:gd name="connsiteY43" fmla="*/ 2058447 h 5630150"/>
                <a:gd name="connsiteX44" fmla="*/ 2515802 w 4545444"/>
                <a:gd name="connsiteY44" fmla="*/ 2143103 h 5630150"/>
                <a:gd name="connsiteX45" fmla="*/ 1999688 w 4545444"/>
                <a:gd name="connsiteY45" fmla="*/ 2348928 h 5630150"/>
                <a:gd name="connsiteX46" fmla="*/ 1967235 w 4545444"/>
                <a:gd name="connsiteY46" fmla="*/ 2361760 h 5630150"/>
                <a:gd name="connsiteX47" fmla="*/ 1946919 w 4545444"/>
                <a:gd name="connsiteY47" fmla="*/ 2310047 h 5630150"/>
                <a:gd name="connsiteX48" fmla="*/ 2182498 w 4545444"/>
                <a:gd name="connsiteY48" fmla="*/ 2217829 h 5630150"/>
                <a:gd name="connsiteX49" fmla="*/ 2634236 w 4545444"/>
                <a:gd name="connsiteY49" fmla="*/ 2042495 h 5630150"/>
                <a:gd name="connsiteX50" fmla="*/ 3419929 w 4545444"/>
                <a:gd name="connsiteY50" fmla="*/ 1652893 h 5630150"/>
                <a:gd name="connsiteX51" fmla="*/ 3435936 w 4545444"/>
                <a:gd name="connsiteY51" fmla="*/ 1679865 h 5630150"/>
                <a:gd name="connsiteX52" fmla="*/ 3366230 w 4545444"/>
                <a:gd name="connsiteY52" fmla="*/ 1725659 h 5630150"/>
                <a:gd name="connsiteX53" fmla="*/ 2868625 w 4545444"/>
                <a:gd name="connsiteY53" fmla="*/ 1988895 h 5630150"/>
                <a:gd name="connsiteX54" fmla="*/ 2779467 w 4545444"/>
                <a:gd name="connsiteY54" fmla="*/ 2027864 h 5630150"/>
                <a:gd name="connsiteX55" fmla="*/ 2761652 w 4545444"/>
                <a:gd name="connsiteY55" fmla="*/ 1989574 h 5630150"/>
                <a:gd name="connsiteX56" fmla="*/ 2818870 w 4545444"/>
                <a:gd name="connsiteY56" fmla="*/ 1964884 h 5630150"/>
                <a:gd name="connsiteX57" fmla="*/ 3218283 w 4545444"/>
                <a:gd name="connsiteY57" fmla="*/ 1771311 h 5630150"/>
                <a:gd name="connsiteX58" fmla="*/ 3856693 w 4545444"/>
                <a:gd name="connsiteY58" fmla="*/ 1280930 h 5630150"/>
                <a:gd name="connsiteX59" fmla="*/ 3878857 w 4545444"/>
                <a:gd name="connsiteY59" fmla="*/ 1298486 h 5630150"/>
                <a:gd name="connsiteX60" fmla="*/ 3876698 w 4545444"/>
                <a:gd name="connsiteY60" fmla="*/ 1301552 h 5630150"/>
                <a:gd name="connsiteX61" fmla="*/ 3514716 w 4545444"/>
                <a:gd name="connsiteY61" fmla="*/ 1628110 h 5630150"/>
                <a:gd name="connsiteX62" fmla="*/ 3492103 w 4545444"/>
                <a:gd name="connsiteY62" fmla="*/ 1642966 h 5630150"/>
                <a:gd name="connsiteX63" fmla="*/ 3475028 w 4545444"/>
                <a:gd name="connsiteY63" fmla="*/ 1614196 h 5630150"/>
                <a:gd name="connsiteX64" fmla="*/ 3617263 w 4545444"/>
                <a:gd name="connsiteY64" fmla="*/ 1513296 h 5630150"/>
                <a:gd name="connsiteX65" fmla="*/ 3790149 w 4545444"/>
                <a:gd name="connsiteY65" fmla="*/ 1356801 h 5630150"/>
                <a:gd name="connsiteX66" fmla="*/ 4049529 w 4545444"/>
                <a:gd name="connsiteY66" fmla="*/ 911879 h 5630150"/>
                <a:gd name="connsiteX67" fmla="*/ 4075412 w 4545444"/>
                <a:gd name="connsiteY67" fmla="*/ 916031 h 5630150"/>
                <a:gd name="connsiteX68" fmla="*/ 4071869 w 4545444"/>
                <a:gd name="connsiteY68" fmla="*/ 931641 h 5630150"/>
                <a:gd name="connsiteX69" fmla="*/ 3962076 w 4545444"/>
                <a:gd name="connsiteY69" fmla="*/ 1180319 h 5630150"/>
                <a:gd name="connsiteX70" fmla="*/ 3914053 w 4545444"/>
                <a:gd name="connsiteY70" fmla="*/ 1248509 h 5630150"/>
                <a:gd name="connsiteX71" fmla="*/ 3893587 w 4545444"/>
                <a:gd name="connsiteY71" fmla="*/ 1232095 h 5630150"/>
                <a:gd name="connsiteX72" fmla="*/ 3931196 w 4545444"/>
                <a:gd name="connsiteY72" fmla="*/ 1180211 h 5630150"/>
                <a:gd name="connsiteX73" fmla="*/ 4029829 w 4545444"/>
                <a:gd name="connsiteY73" fmla="*/ 982194 h 5630150"/>
                <a:gd name="connsiteX74" fmla="*/ 4087808 w 4545444"/>
                <a:gd name="connsiteY74" fmla="*/ 593511 h 5630150"/>
                <a:gd name="connsiteX75" fmla="*/ 4093474 w 4545444"/>
                <a:gd name="connsiteY75" fmla="*/ 622281 h 5630150"/>
                <a:gd name="connsiteX76" fmla="*/ 4089935 w 4545444"/>
                <a:gd name="connsiteY76" fmla="*/ 852043 h 5630150"/>
                <a:gd name="connsiteX77" fmla="*/ 4087219 w 4545444"/>
                <a:gd name="connsiteY77" fmla="*/ 864013 h 5630150"/>
                <a:gd name="connsiteX78" fmla="*/ 4061852 w 4545444"/>
                <a:gd name="connsiteY78" fmla="*/ 860755 h 5630150"/>
                <a:gd name="connsiteX79" fmla="*/ 4075471 w 4545444"/>
                <a:gd name="connsiteY79" fmla="*/ 761421 h 5630150"/>
                <a:gd name="connsiteX80" fmla="*/ 4074987 w 4545444"/>
                <a:gd name="connsiteY80" fmla="*/ 646404 h 5630150"/>
                <a:gd name="connsiteX81" fmla="*/ 4067029 w 4545444"/>
                <a:gd name="connsiteY81" fmla="*/ 597339 h 5630150"/>
                <a:gd name="connsiteX82" fmla="*/ 4011395 w 4545444"/>
                <a:gd name="connsiteY82" fmla="*/ 373947 h 5630150"/>
                <a:gd name="connsiteX83" fmla="*/ 4028427 w 4545444"/>
                <a:gd name="connsiteY83" fmla="*/ 404785 h 5630150"/>
                <a:gd name="connsiteX84" fmla="*/ 4078941 w 4545444"/>
                <a:gd name="connsiteY84" fmla="*/ 548501 h 5630150"/>
                <a:gd name="connsiteX85" fmla="*/ 4080499 w 4545444"/>
                <a:gd name="connsiteY85" fmla="*/ 556408 h 5630150"/>
                <a:gd name="connsiteX86" fmla="*/ 4060972 w 4545444"/>
                <a:gd name="connsiteY86" fmla="*/ 560005 h 5630150"/>
                <a:gd name="connsiteX87" fmla="*/ 4057716 w 4545444"/>
                <a:gd name="connsiteY87" fmla="*/ 539931 h 5630150"/>
                <a:gd name="connsiteX88" fmla="*/ 4025964 w 4545444"/>
                <a:gd name="connsiteY88" fmla="*/ 440563 h 5630150"/>
                <a:gd name="connsiteX89" fmla="*/ 3997595 w 4545444"/>
                <a:gd name="connsiteY89" fmla="*/ 380051 h 5630150"/>
                <a:gd name="connsiteX90" fmla="*/ 3901155 w 4545444"/>
                <a:gd name="connsiteY90" fmla="*/ 197856 h 5630150"/>
                <a:gd name="connsiteX91" fmla="*/ 3951662 w 4545444"/>
                <a:gd name="connsiteY91" fmla="*/ 265789 h 5630150"/>
                <a:gd name="connsiteX92" fmla="*/ 3997798 w 4545444"/>
                <a:gd name="connsiteY92" fmla="*/ 349324 h 5630150"/>
                <a:gd name="connsiteX93" fmla="*/ 3985699 w 4545444"/>
                <a:gd name="connsiteY93" fmla="*/ 354676 h 5630150"/>
                <a:gd name="connsiteX94" fmla="*/ 3982036 w 4545444"/>
                <a:gd name="connsiteY94" fmla="*/ 346863 h 5630150"/>
                <a:gd name="connsiteX95" fmla="*/ 3928236 w 4545444"/>
                <a:gd name="connsiteY95" fmla="*/ 257395 h 5630150"/>
                <a:gd name="connsiteX96" fmla="*/ 3891077 w 4545444"/>
                <a:gd name="connsiteY96" fmla="*/ 204911 h 5630150"/>
                <a:gd name="connsiteX97" fmla="*/ 3831079 w 4545444"/>
                <a:gd name="connsiteY97" fmla="*/ 108914 h 5630150"/>
                <a:gd name="connsiteX98" fmla="*/ 3851464 w 4545444"/>
                <a:gd name="connsiteY98" fmla="*/ 131023 h 5630150"/>
                <a:gd name="connsiteX99" fmla="*/ 3891271 w 4545444"/>
                <a:gd name="connsiteY99" fmla="*/ 184563 h 5630150"/>
                <a:gd name="connsiteX100" fmla="*/ 3881402 w 4545444"/>
                <a:gd name="connsiteY100" fmla="*/ 191248 h 5630150"/>
                <a:gd name="connsiteX101" fmla="*/ 3866868 w 4545444"/>
                <a:gd name="connsiteY101" fmla="*/ 170720 h 5630150"/>
                <a:gd name="connsiteX102" fmla="*/ 3823189 w 4545444"/>
                <a:gd name="connsiteY102" fmla="*/ 115974 h 5630150"/>
                <a:gd name="connsiteX103" fmla="*/ 3730658 w 4545444"/>
                <a:gd name="connsiteY103" fmla="*/ 0 h 5630150"/>
                <a:gd name="connsiteX104" fmla="*/ 3822781 w 4545444"/>
                <a:gd name="connsiteY104" fmla="*/ 99914 h 5630150"/>
                <a:gd name="connsiteX105" fmla="*/ 3814969 w 4545444"/>
                <a:gd name="connsiteY105" fmla="*/ 105670 h 563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545444" h="5630150">
                  <a:moveTo>
                    <a:pt x="2256537" y="5459202"/>
                  </a:moveTo>
                  <a:lnTo>
                    <a:pt x="2494614" y="5490324"/>
                  </a:lnTo>
                  <a:cubicBezTo>
                    <a:pt x="3248051" y="5573048"/>
                    <a:pt x="4008214" y="5552417"/>
                    <a:pt x="4501279" y="5522041"/>
                  </a:cubicBezTo>
                  <a:cubicBezTo>
                    <a:pt x="4524421" y="5522041"/>
                    <a:pt x="4542935" y="5538242"/>
                    <a:pt x="4545249" y="5561385"/>
                  </a:cubicBezTo>
                  <a:cubicBezTo>
                    <a:pt x="4547563" y="5584529"/>
                    <a:pt x="4529049" y="5605358"/>
                    <a:pt x="4505907" y="5607672"/>
                  </a:cubicBezTo>
                  <a:cubicBezTo>
                    <a:pt x="3998668" y="5636023"/>
                    <a:pt x="3202626" y="5653742"/>
                    <a:pt x="2419318" y="5557726"/>
                  </a:cubicBezTo>
                  <a:lnTo>
                    <a:pt x="2235390" y="5531069"/>
                  </a:lnTo>
                  <a:close/>
                  <a:moveTo>
                    <a:pt x="618660" y="4907146"/>
                  </a:moveTo>
                  <a:lnTo>
                    <a:pt x="632400" y="4917588"/>
                  </a:lnTo>
                  <a:cubicBezTo>
                    <a:pt x="956939" y="5146045"/>
                    <a:pt x="1389337" y="5295867"/>
                    <a:pt x="1856847" y="5391925"/>
                  </a:cubicBezTo>
                  <a:lnTo>
                    <a:pt x="2034852" y="5423658"/>
                  </a:lnTo>
                  <a:lnTo>
                    <a:pt x="2014093" y="5495358"/>
                  </a:lnTo>
                  <a:lnTo>
                    <a:pt x="1758065" y="5445168"/>
                  </a:lnTo>
                  <a:cubicBezTo>
                    <a:pt x="1328685" y="5348354"/>
                    <a:pt x="931595" y="5204783"/>
                    <a:pt x="623058" y="4995217"/>
                  </a:cubicBezTo>
                  <a:lnTo>
                    <a:pt x="574601" y="4959683"/>
                  </a:lnTo>
                  <a:close/>
                  <a:moveTo>
                    <a:pt x="56894" y="3655972"/>
                  </a:moveTo>
                  <a:lnTo>
                    <a:pt x="114769" y="3681320"/>
                  </a:lnTo>
                  <a:lnTo>
                    <a:pt x="80108" y="3791413"/>
                  </a:lnTo>
                  <a:cubicBezTo>
                    <a:pt x="36211" y="3992545"/>
                    <a:pt x="66151" y="4215012"/>
                    <a:pt x="203845" y="4459754"/>
                  </a:cubicBezTo>
                  <a:cubicBezTo>
                    <a:pt x="264592" y="4567588"/>
                    <a:pt x="341815" y="4665151"/>
                    <a:pt x="432817" y="4753361"/>
                  </a:cubicBezTo>
                  <a:lnTo>
                    <a:pt x="437043" y="4757128"/>
                  </a:lnTo>
                  <a:lnTo>
                    <a:pt x="393339" y="4809243"/>
                  </a:lnTo>
                  <a:lnTo>
                    <a:pt x="316280" y="4730599"/>
                  </a:lnTo>
                  <a:cubicBezTo>
                    <a:pt x="228451" y="4632436"/>
                    <a:pt x="156043" y="4523978"/>
                    <a:pt x="102021" y="4404210"/>
                  </a:cubicBezTo>
                  <a:cubicBezTo>
                    <a:pt x="-16002" y="4141676"/>
                    <a:pt x="-25657" y="3905829"/>
                    <a:pt x="42457" y="3693267"/>
                  </a:cubicBezTo>
                  <a:close/>
                  <a:moveTo>
                    <a:pt x="929004" y="2786814"/>
                  </a:moveTo>
                  <a:lnTo>
                    <a:pt x="956746" y="2834023"/>
                  </a:lnTo>
                  <a:lnTo>
                    <a:pt x="807170" y="2926453"/>
                  </a:lnTo>
                  <a:cubicBezTo>
                    <a:pt x="608715" y="3055790"/>
                    <a:pt x="424743" y="3204817"/>
                    <a:pt x="289168" y="3374474"/>
                  </a:cubicBezTo>
                  <a:lnTo>
                    <a:pt x="202845" y="3497409"/>
                  </a:lnTo>
                  <a:lnTo>
                    <a:pt x="145829" y="3472437"/>
                  </a:lnTo>
                  <a:lnTo>
                    <a:pt x="199129" y="3391464"/>
                  </a:lnTo>
                  <a:cubicBezTo>
                    <a:pt x="360399" y="3169649"/>
                    <a:pt x="606694" y="2977213"/>
                    <a:pt x="889422" y="2808754"/>
                  </a:cubicBezTo>
                  <a:close/>
                  <a:moveTo>
                    <a:pt x="1866690" y="2342652"/>
                  </a:moveTo>
                  <a:lnTo>
                    <a:pt x="1887488" y="2393291"/>
                  </a:lnTo>
                  <a:lnTo>
                    <a:pt x="1840098" y="2412028"/>
                  </a:lnTo>
                  <a:cubicBezTo>
                    <a:pt x="1736774" y="2453321"/>
                    <a:pt x="1640084" y="2493135"/>
                    <a:pt x="1553013" y="2531900"/>
                  </a:cubicBezTo>
                  <a:cubicBezTo>
                    <a:pt x="1462182" y="2572691"/>
                    <a:pt x="1364371" y="2618110"/>
                    <a:pt x="1263822" y="2668275"/>
                  </a:cubicBezTo>
                  <a:lnTo>
                    <a:pt x="1050436" y="2783374"/>
                  </a:lnTo>
                  <a:lnTo>
                    <a:pt x="1022313" y="2735091"/>
                  </a:lnTo>
                  <a:lnTo>
                    <a:pt x="1139549" y="2670106"/>
                  </a:lnTo>
                  <a:cubicBezTo>
                    <a:pt x="1310738" y="2581420"/>
                    <a:pt x="1489289" y="2500060"/>
                    <a:pt x="1666136" y="2425016"/>
                  </a:cubicBezTo>
                  <a:close/>
                  <a:moveTo>
                    <a:pt x="2691412" y="2019045"/>
                  </a:moveTo>
                  <a:lnTo>
                    <a:pt x="2709493" y="2058447"/>
                  </a:lnTo>
                  <a:lnTo>
                    <a:pt x="2515802" y="2143103"/>
                  </a:lnTo>
                  <a:cubicBezTo>
                    <a:pt x="2338903" y="2216486"/>
                    <a:pt x="2163509" y="2284612"/>
                    <a:pt x="1999688" y="2348928"/>
                  </a:cubicBezTo>
                  <a:lnTo>
                    <a:pt x="1967235" y="2361760"/>
                  </a:lnTo>
                  <a:lnTo>
                    <a:pt x="1946919" y="2310047"/>
                  </a:lnTo>
                  <a:lnTo>
                    <a:pt x="2182498" y="2217829"/>
                  </a:lnTo>
                  <a:cubicBezTo>
                    <a:pt x="2346871" y="2154412"/>
                    <a:pt x="2500473" y="2096303"/>
                    <a:pt x="2634236" y="2042495"/>
                  </a:cubicBezTo>
                  <a:close/>
                  <a:moveTo>
                    <a:pt x="3419929" y="1652893"/>
                  </a:moveTo>
                  <a:lnTo>
                    <a:pt x="3435936" y="1679865"/>
                  </a:lnTo>
                  <a:lnTo>
                    <a:pt x="3366230" y="1725659"/>
                  </a:lnTo>
                  <a:cubicBezTo>
                    <a:pt x="3212281" y="1820595"/>
                    <a:pt x="3043056" y="1907857"/>
                    <a:pt x="2868625" y="1988895"/>
                  </a:cubicBezTo>
                  <a:lnTo>
                    <a:pt x="2779467" y="2027864"/>
                  </a:lnTo>
                  <a:lnTo>
                    <a:pt x="2761652" y="1989574"/>
                  </a:lnTo>
                  <a:lnTo>
                    <a:pt x="2818870" y="1964884"/>
                  </a:lnTo>
                  <a:cubicBezTo>
                    <a:pt x="2942679" y="1909918"/>
                    <a:pt x="3080517" y="1845984"/>
                    <a:pt x="3218283" y="1771311"/>
                  </a:cubicBezTo>
                  <a:close/>
                  <a:moveTo>
                    <a:pt x="3856693" y="1280930"/>
                  </a:moveTo>
                  <a:lnTo>
                    <a:pt x="3878857" y="1298486"/>
                  </a:lnTo>
                  <a:lnTo>
                    <a:pt x="3876698" y="1301552"/>
                  </a:lnTo>
                  <a:cubicBezTo>
                    <a:pt x="3781380" y="1419528"/>
                    <a:pt x="3657364" y="1527897"/>
                    <a:pt x="3514716" y="1628110"/>
                  </a:cubicBezTo>
                  <a:lnTo>
                    <a:pt x="3492103" y="1642966"/>
                  </a:lnTo>
                  <a:lnTo>
                    <a:pt x="3475028" y="1614196"/>
                  </a:lnTo>
                  <a:lnTo>
                    <a:pt x="3617263" y="1513296"/>
                  </a:lnTo>
                  <a:cubicBezTo>
                    <a:pt x="3679023" y="1464333"/>
                    <a:pt x="3737239" y="1412242"/>
                    <a:pt x="3790149" y="1356801"/>
                  </a:cubicBezTo>
                  <a:close/>
                  <a:moveTo>
                    <a:pt x="4049529" y="911879"/>
                  </a:moveTo>
                  <a:lnTo>
                    <a:pt x="4075412" y="916031"/>
                  </a:lnTo>
                  <a:lnTo>
                    <a:pt x="4071869" y="931641"/>
                  </a:lnTo>
                  <a:cubicBezTo>
                    <a:pt x="4049346" y="1012031"/>
                    <a:pt x="4013278" y="1094833"/>
                    <a:pt x="3962076" y="1180319"/>
                  </a:cubicBezTo>
                  <a:lnTo>
                    <a:pt x="3914053" y="1248509"/>
                  </a:lnTo>
                  <a:lnTo>
                    <a:pt x="3893587" y="1232095"/>
                  </a:lnTo>
                  <a:lnTo>
                    <a:pt x="3931196" y="1180211"/>
                  </a:lnTo>
                  <a:cubicBezTo>
                    <a:pt x="3971731" y="1117849"/>
                    <a:pt x="4005196" y="1051917"/>
                    <a:pt x="4029829" y="982194"/>
                  </a:cubicBezTo>
                  <a:close/>
                  <a:moveTo>
                    <a:pt x="4087808" y="593511"/>
                  </a:moveTo>
                  <a:lnTo>
                    <a:pt x="4093474" y="622281"/>
                  </a:lnTo>
                  <a:cubicBezTo>
                    <a:pt x="4104254" y="696733"/>
                    <a:pt x="4103603" y="773228"/>
                    <a:pt x="4089935" y="852043"/>
                  </a:cubicBezTo>
                  <a:lnTo>
                    <a:pt x="4087219" y="864013"/>
                  </a:lnTo>
                  <a:lnTo>
                    <a:pt x="4061852" y="860755"/>
                  </a:lnTo>
                  <a:lnTo>
                    <a:pt x="4075471" y="761421"/>
                  </a:lnTo>
                  <a:cubicBezTo>
                    <a:pt x="4078364" y="721499"/>
                    <a:pt x="4078075" y="683239"/>
                    <a:pt x="4074987" y="646404"/>
                  </a:cubicBezTo>
                  <a:lnTo>
                    <a:pt x="4067029" y="597339"/>
                  </a:lnTo>
                  <a:close/>
                  <a:moveTo>
                    <a:pt x="4011395" y="373947"/>
                  </a:moveTo>
                  <a:lnTo>
                    <a:pt x="4028427" y="404785"/>
                  </a:lnTo>
                  <a:cubicBezTo>
                    <a:pt x="4049797" y="451877"/>
                    <a:pt x="4066792" y="499755"/>
                    <a:pt x="4078941" y="548501"/>
                  </a:cubicBezTo>
                  <a:lnTo>
                    <a:pt x="4080499" y="556408"/>
                  </a:lnTo>
                  <a:lnTo>
                    <a:pt x="4060972" y="560005"/>
                  </a:lnTo>
                  <a:lnTo>
                    <a:pt x="4057716" y="539931"/>
                  </a:lnTo>
                  <a:cubicBezTo>
                    <a:pt x="4049418" y="505704"/>
                    <a:pt x="4038706" y="472661"/>
                    <a:pt x="4025964" y="440563"/>
                  </a:cubicBezTo>
                  <a:lnTo>
                    <a:pt x="3997595" y="380051"/>
                  </a:lnTo>
                  <a:close/>
                  <a:moveTo>
                    <a:pt x="3901155" y="197856"/>
                  </a:moveTo>
                  <a:lnTo>
                    <a:pt x="3951662" y="265789"/>
                  </a:lnTo>
                  <a:lnTo>
                    <a:pt x="3997798" y="349324"/>
                  </a:lnTo>
                  <a:lnTo>
                    <a:pt x="3985699" y="354676"/>
                  </a:lnTo>
                  <a:lnTo>
                    <a:pt x="3982036" y="346863"/>
                  </a:lnTo>
                  <a:cubicBezTo>
                    <a:pt x="3965620" y="316415"/>
                    <a:pt x="3947559" y="286672"/>
                    <a:pt x="3928236" y="257395"/>
                  </a:cubicBezTo>
                  <a:lnTo>
                    <a:pt x="3891077" y="204911"/>
                  </a:lnTo>
                  <a:close/>
                  <a:moveTo>
                    <a:pt x="3831079" y="108914"/>
                  </a:moveTo>
                  <a:lnTo>
                    <a:pt x="3851464" y="131023"/>
                  </a:lnTo>
                  <a:lnTo>
                    <a:pt x="3891271" y="184563"/>
                  </a:lnTo>
                  <a:lnTo>
                    <a:pt x="3881402" y="191248"/>
                  </a:lnTo>
                  <a:lnTo>
                    <a:pt x="3866868" y="170720"/>
                  </a:lnTo>
                  <a:lnTo>
                    <a:pt x="3823189" y="115974"/>
                  </a:lnTo>
                  <a:close/>
                  <a:moveTo>
                    <a:pt x="3730658" y="0"/>
                  </a:moveTo>
                  <a:lnTo>
                    <a:pt x="3822781" y="99914"/>
                  </a:lnTo>
                  <a:lnTo>
                    <a:pt x="3814969" y="1056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6" name="Freeform 21"/>
            <p:cNvSpPr/>
            <p:nvPr/>
          </p:nvSpPr>
          <p:spPr bwMode="auto">
            <a:xfrm>
              <a:off x="10527058" y="5580009"/>
              <a:ext cx="471838" cy="430541"/>
            </a:xfrm>
            <a:custGeom>
              <a:avLst/>
              <a:gdLst>
                <a:gd name="T0" fmla="*/ 0 w 537"/>
                <a:gd name="T1" fmla="*/ 490 h 490"/>
                <a:gd name="T2" fmla="*/ 339 w 537"/>
                <a:gd name="T3" fmla="*/ 0 h 490"/>
                <a:gd name="T4" fmla="*/ 537 w 537"/>
                <a:gd name="T5" fmla="*/ 130 h 490"/>
                <a:gd name="T6" fmla="*/ 433 w 537"/>
                <a:gd name="T7" fmla="*/ 426 h 490"/>
                <a:gd name="T8" fmla="*/ 0 w 537"/>
                <a:gd name="T9" fmla="*/ 49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7" h="490">
                  <a:moveTo>
                    <a:pt x="0" y="490"/>
                  </a:moveTo>
                  <a:lnTo>
                    <a:pt x="339" y="0"/>
                  </a:lnTo>
                  <a:lnTo>
                    <a:pt x="537" y="130"/>
                  </a:lnTo>
                  <a:lnTo>
                    <a:pt x="433" y="426"/>
                  </a:lnTo>
                  <a:lnTo>
                    <a:pt x="0" y="49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grpSp>
        <p:nvGrpSpPr>
          <p:cNvPr id="167" name="Group 8"/>
          <p:cNvGrpSpPr/>
          <p:nvPr/>
        </p:nvGrpSpPr>
        <p:grpSpPr>
          <a:xfrm>
            <a:off x="9582057" y="1705815"/>
            <a:ext cx="216149" cy="187154"/>
            <a:chOff x="9322422" y="1072507"/>
            <a:chExt cx="216149" cy="187154"/>
          </a:xfrm>
        </p:grpSpPr>
        <p:sp>
          <p:nvSpPr>
            <p:cNvPr id="168" name="Freeform 22"/>
            <p:cNvSpPr/>
            <p:nvPr/>
          </p:nvSpPr>
          <p:spPr bwMode="auto">
            <a:xfrm>
              <a:off x="9467400" y="1081293"/>
              <a:ext cx="36024" cy="43054"/>
            </a:xfrm>
            <a:custGeom>
              <a:avLst/>
              <a:gdLst>
                <a:gd name="T0" fmla="*/ 41 w 41"/>
                <a:gd name="T1" fmla="*/ 0 h 49"/>
                <a:gd name="T2" fmla="*/ 0 w 41"/>
                <a:gd name="T3" fmla="*/ 0 h 49"/>
                <a:gd name="T4" fmla="*/ 0 w 41"/>
                <a:gd name="T5" fmla="*/ 16 h 49"/>
                <a:gd name="T6" fmla="*/ 41 w 41"/>
                <a:gd name="T7" fmla="*/ 49 h 49"/>
                <a:gd name="T8" fmla="*/ 41 w 41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9">
                  <a:moveTo>
                    <a:pt x="41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41" y="49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9" name="Freeform 23"/>
            <p:cNvSpPr/>
            <p:nvPr/>
          </p:nvSpPr>
          <p:spPr bwMode="auto">
            <a:xfrm>
              <a:off x="9357568" y="1118197"/>
              <a:ext cx="145857" cy="141464"/>
            </a:xfrm>
            <a:custGeom>
              <a:avLst/>
              <a:gdLst>
                <a:gd name="T0" fmla="*/ 166 w 166"/>
                <a:gd name="T1" fmla="*/ 85 h 161"/>
                <a:gd name="T2" fmla="*/ 166 w 166"/>
                <a:gd name="T3" fmla="*/ 69 h 161"/>
                <a:gd name="T4" fmla="*/ 125 w 166"/>
                <a:gd name="T5" fmla="*/ 36 h 161"/>
                <a:gd name="T6" fmla="*/ 83 w 166"/>
                <a:gd name="T7" fmla="*/ 0 h 161"/>
                <a:gd name="T8" fmla="*/ 0 w 166"/>
                <a:gd name="T9" fmla="*/ 69 h 161"/>
                <a:gd name="T10" fmla="*/ 0 w 166"/>
                <a:gd name="T11" fmla="*/ 161 h 161"/>
                <a:gd name="T12" fmla="*/ 52 w 166"/>
                <a:gd name="T13" fmla="*/ 161 h 161"/>
                <a:gd name="T14" fmla="*/ 52 w 166"/>
                <a:gd name="T15" fmla="*/ 69 h 161"/>
                <a:gd name="T16" fmla="*/ 114 w 166"/>
                <a:gd name="T17" fmla="*/ 69 h 161"/>
                <a:gd name="T18" fmla="*/ 114 w 166"/>
                <a:gd name="T19" fmla="*/ 161 h 161"/>
                <a:gd name="T20" fmla="*/ 166 w 166"/>
                <a:gd name="T21" fmla="*/ 161 h 161"/>
                <a:gd name="T22" fmla="*/ 166 w 166"/>
                <a:gd name="T23" fmla="*/ 85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6" h="161">
                  <a:moveTo>
                    <a:pt x="166" y="85"/>
                  </a:moveTo>
                  <a:lnTo>
                    <a:pt x="166" y="69"/>
                  </a:lnTo>
                  <a:lnTo>
                    <a:pt x="125" y="36"/>
                  </a:lnTo>
                  <a:lnTo>
                    <a:pt x="83" y="0"/>
                  </a:lnTo>
                  <a:lnTo>
                    <a:pt x="0" y="69"/>
                  </a:lnTo>
                  <a:lnTo>
                    <a:pt x="0" y="161"/>
                  </a:lnTo>
                  <a:lnTo>
                    <a:pt x="52" y="161"/>
                  </a:lnTo>
                  <a:lnTo>
                    <a:pt x="52" y="69"/>
                  </a:lnTo>
                  <a:lnTo>
                    <a:pt x="114" y="69"/>
                  </a:lnTo>
                  <a:lnTo>
                    <a:pt x="114" y="161"/>
                  </a:lnTo>
                  <a:lnTo>
                    <a:pt x="166" y="161"/>
                  </a:lnTo>
                  <a:lnTo>
                    <a:pt x="166" y="85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70" name="Freeform 24"/>
            <p:cNvSpPr/>
            <p:nvPr/>
          </p:nvSpPr>
          <p:spPr bwMode="auto">
            <a:xfrm>
              <a:off x="9322422" y="1072507"/>
              <a:ext cx="216149" cy="109832"/>
            </a:xfrm>
            <a:custGeom>
              <a:avLst/>
              <a:gdLst>
                <a:gd name="T0" fmla="*/ 40 w 246"/>
                <a:gd name="T1" fmla="*/ 111 h 125"/>
                <a:gd name="T2" fmla="*/ 123 w 246"/>
                <a:gd name="T3" fmla="*/ 45 h 125"/>
                <a:gd name="T4" fmla="*/ 165 w 246"/>
                <a:gd name="T5" fmla="*/ 78 h 125"/>
                <a:gd name="T6" fmla="*/ 206 w 246"/>
                <a:gd name="T7" fmla="*/ 111 h 125"/>
                <a:gd name="T8" fmla="*/ 224 w 246"/>
                <a:gd name="T9" fmla="*/ 125 h 125"/>
                <a:gd name="T10" fmla="*/ 246 w 246"/>
                <a:gd name="T11" fmla="*/ 102 h 125"/>
                <a:gd name="T12" fmla="*/ 206 w 246"/>
                <a:gd name="T13" fmla="*/ 69 h 125"/>
                <a:gd name="T14" fmla="*/ 165 w 246"/>
                <a:gd name="T15" fmla="*/ 36 h 125"/>
                <a:gd name="T16" fmla="*/ 123 w 246"/>
                <a:gd name="T17" fmla="*/ 0 h 125"/>
                <a:gd name="T18" fmla="*/ 0 w 246"/>
                <a:gd name="T19" fmla="*/ 102 h 125"/>
                <a:gd name="T20" fmla="*/ 21 w 246"/>
                <a:gd name="T21" fmla="*/ 125 h 125"/>
                <a:gd name="T22" fmla="*/ 40 w 246"/>
                <a:gd name="T23" fmla="*/ 11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6" h="125">
                  <a:moveTo>
                    <a:pt x="40" y="111"/>
                  </a:moveTo>
                  <a:lnTo>
                    <a:pt x="123" y="45"/>
                  </a:lnTo>
                  <a:lnTo>
                    <a:pt x="165" y="78"/>
                  </a:lnTo>
                  <a:lnTo>
                    <a:pt x="206" y="111"/>
                  </a:lnTo>
                  <a:lnTo>
                    <a:pt x="224" y="125"/>
                  </a:lnTo>
                  <a:lnTo>
                    <a:pt x="246" y="102"/>
                  </a:lnTo>
                  <a:lnTo>
                    <a:pt x="206" y="69"/>
                  </a:lnTo>
                  <a:lnTo>
                    <a:pt x="165" y="36"/>
                  </a:lnTo>
                  <a:lnTo>
                    <a:pt x="123" y="0"/>
                  </a:lnTo>
                  <a:lnTo>
                    <a:pt x="0" y="102"/>
                  </a:lnTo>
                  <a:lnTo>
                    <a:pt x="21" y="125"/>
                  </a:lnTo>
                  <a:lnTo>
                    <a:pt x="40" y="111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sp>
        <p:nvSpPr>
          <p:cNvPr id="171" name="Freeform 25"/>
          <p:cNvSpPr/>
          <p:nvPr/>
        </p:nvSpPr>
        <p:spPr bwMode="auto">
          <a:xfrm>
            <a:off x="8758757" y="2001043"/>
            <a:ext cx="681837" cy="238994"/>
          </a:xfrm>
          <a:custGeom>
            <a:avLst/>
            <a:gdLst>
              <a:gd name="T0" fmla="*/ 250 w 328"/>
              <a:gd name="T1" fmla="*/ 65 h 115"/>
              <a:gd name="T2" fmla="*/ 274 w 328"/>
              <a:gd name="T3" fmla="*/ 115 h 115"/>
              <a:gd name="T4" fmla="*/ 165 w 328"/>
              <a:gd name="T5" fmla="*/ 65 h 115"/>
              <a:gd name="T6" fmla="*/ 24 w 328"/>
              <a:gd name="T7" fmla="*/ 33 h 115"/>
              <a:gd name="T8" fmla="*/ 122 w 328"/>
              <a:gd name="T9" fmla="*/ 0 h 115"/>
              <a:gd name="T10" fmla="*/ 308 w 328"/>
              <a:gd name="T11" fmla="*/ 33 h 115"/>
              <a:gd name="T12" fmla="*/ 250 w 328"/>
              <a:gd name="T13" fmla="*/ 65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8" h="115">
                <a:moveTo>
                  <a:pt x="250" y="65"/>
                </a:moveTo>
                <a:cubicBezTo>
                  <a:pt x="274" y="115"/>
                  <a:pt x="274" y="115"/>
                  <a:pt x="274" y="115"/>
                </a:cubicBezTo>
                <a:cubicBezTo>
                  <a:pt x="165" y="65"/>
                  <a:pt x="165" y="65"/>
                  <a:pt x="165" y="65"/>
                </a:cubicBezTo>
                <a:cubicBezTo>
                  <a:pt x="102" y="61"/>
                  <a:pt x="44" y="48"/>
                  <a:pt x="24" y="33"/>
                </a:cubicBezTo>
                <a:cubicBezTo>
                  <a:pt x="0" y="15"/>
                  <a:pt x="44" y="0"/>
                  <a:pt x="122" y="0"/>
                </a:cubicBezTo>
                <a:cubicBezTo>
                  <a:pt x="201" y="0"/>
                  <a:pt x="284" y="15"/>
                  <a:pt x="308" y="33"/>
                </a:cubicBezTo>
                <a:cubicBezTo>
                  <a:pt x="328" y="48"/>
                  <a:pt x="302" y="61"/>
                  <a:pt x="250" y="65"/>
                </a:cubicBezTo>
                <a:close/>
              </a:path>
            </a:pathLst>
          </a:custGeom>
          <a:solidFill>
            <a:srgbClr val="D0DB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172" name="Group 13"/>
          <p:cNvGrpSpPr/>
          <p:nvPr/>
        </p:nvGrpSpPr>
        <p:grpSpPr>
          <a:xfrm>
            <a:off x="8557545" y="2241795"/>
            <a:ext cx="201212" cy="168702"/>
            <a:chOff x="8297910" y="1608487"/>
            <a:chExt cx="201212" cy="168702"/>
          </a:xfrm>
        </p:grpSpPr>
        <p:sp>
          <p:nvSpPr>
            <p:cNvPr id="173" name="Freeform 29"/>
            <p:cNvSpPr/>
            <p:nvPr/>
          </p:nvSpPr>
          <p:spPr bwMode="auto">
            <a:xfrm>
              <a:off x="8297910" y="1725348"/>
              <a:ext cx="201212" cy="51841"/>
            </a:xfrm>
            <a:custGeom>
              <a:avLst/>
              <a:gdLst>
                <a:gd name="T0" fmla="*/ 149 w 229"/>
                <a:gd name="T1" fmla="*/ 31 h 59"/>
                <a:gd name="T2" fmla="*/ 78 w 229"/>
                <a:gd name="T3" fmla="*/ 31 h 59"/>
                <a:gd name="T4" fmla="*/ 78 w 229"/>
                <a:gd name="T5" fmla="*/ 0 h 59"/>
                <a:gd name="T6" fmla="*/ 0 w 229"/>
                <a:gd name="T7" fmla="*/ 0 h 59"/>
                <a:gd name="T8" fmla="*/ 0 w 229"/>
                <a:gd name="T9" fmla="*/ 59 h 59"/>
                <a:gd name="T10" fmla="*/ 229 w 229"/>
                <a:gd name="T11" fmla="*/ 59 h 59"/>
                <a:gd name="T12" fmla="*/ 229 w 229"/>
                <a:gd name="T13" fmla="*/ 0 h 59"/>
                <a:gd name="T14" fmla="*/ 149 w 229"/>
                <a:gd name="T15" fmla="*/ 0 h 59"/>
                <a:gd name="T16" fmla="*/ 149 w 229"/>
                <a:gd name="T17" fmla="*/ 3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59">
                  <a:moveTo>
                    <a:pt x="149" y="31"/>
                  </a:moveTo>
                  <a:lnTo>
                    <a:pt x="78" y="31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59"/>
                  </a:lnTo>
                  <a:lnTo>
                    <a:pt x="229" y="59"/>
                  </a:lnTo>
                  <a:lnTo>
                    <a:pt x="229" y="0"/>
                  </a:lnTo>
                  <a:lnTo>
                    <a:pt x="149" y="0"/>
                  </a:lnTo>
                  <a:lnTo>
                    <a:pt x="149" y="31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74" name="Rectangle 30"/>
            <p:cNvSpPr>
              <a:spLocks noChangeArrowheads="1"/>
            </p:cNvSpPr>
            <p:nvPr/>
          </p:nvSpPr>
          <p:spPr bwMode="auto">
            <a:xfrm>
              <a:off x="8378746" y="1725348"/>
              <a:ext cx="37782" cy="16694"/>
            </a:xfrm>
            <a:prstGeom prst="rect">
              <a:avLst/>
            </a:pr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75" name="Freeform 31"/>
            <p:cNvSpPr>
              <a:spLocks noEditPoints="1"/>
            </p:cNvSpPr>
            <p:nvPr/>
          </p:nvSpPr>
          <p:spPr bwMode="auto">
            <a:xfrm>
              <a:off x="8297910" y="1608487"/>
              <a:ext cx="201212" cy="106317"/>
            </a:xfrm>
            <a:custGeom>
              <a:avLst/>
              <a:gdLst>
                <a:gd name="T0" fmla="*/ 170 w 229"/>
                <a:gd name="T1" fmla="*/ 0 h 121"/>
                <a:gd name="T2" fmla="*/ 114 w 229"/>
                <a:gd name="T3" fmla="*/ 0 h 121"/>
                <a:gd name="T4" fmla="*/ 114 w 229"/>
                <a:gd name="T5" fmla="*/ 19 h 121"/>
                <a:gd name="T6" fmla="*/ 151 w 229"/>
                <a:gd name="T7" fmla="*/ 19 h 121"/>
                <a:gd name="T8" fmla="*/ 151 w 229"/>
                <a:gd name="T9" fmla="*/ 43 h 121"/>
                <a:gd name="T10" fmla="*/ 114 w 229"/>
                <a:gd name="T11" fmla="*/ 43 h 121"/>
                <a:gd name="T12" fmla="*/ 114 w 229"/>
                <a:gd name="T13" fmla="*/ 121 h 121"/>
                <a:gd name="T14" fmla="*/ 149 w 229"/>
                <a:gd name="T15" fmla="*/ 121 h 121"/>
                <a:gd name="T16" fmla="*/ 229 w 229"/>
                <a:gd name="T17" fmla="*/ 121 h 121"/>
                <a:gd name="T18" fmla="*/ 229 w 229"/>
                <a:gd name="T19" fmla="*/ 43 h 121"/>
                <a:gd name="T20" fmla="*/ 170 w 229"/>
                <a:gd name="T21" fmla="*/ 43 h 121"/>
                <a:gd name="T22" fmla="*/ 170 w 229"/>
                <a:gd name="T23" fmla="*/ 0 h 121"/>
                <a:gd name="T24" fmla="*/ 114 w 229"/>
                <a:gd name="T25" fmla="*/ 0 h 121"/>
                <a:gd name="T26" fmla="*/ 57 w 229"/>
                <a:gd name="T27" fmla="*/ 0 h 121"/>
                <a:gd name="T28" fmla="*/ 57 w 229"/>
                <a:gd name="T29" fmla="*/ 43 h 121"/>
                <a:gd name="T30" fmla="*/ 0 w 229"/>
                <a:gd name="T31" fmla="*/ 43 h 121"/>
                <a:gd name="T32" fmla="*/ 0 w 229"/>
                <a:gd name="T33" fmla="*/ 121 h 121"/>
                <a:gd name="T34" fmla="*/ 78 w 229"/>
                <a:gd name="T35" fmla="*/ 121 h 121"/>
                <a:gd name="T36" fmla="*/ 114 w 229"/>
                <a:gd name="T37" fmla="*/ 121 h 121"/>
                <a:gd name="T38" fmla="*/ 114 w 229"/>
                <a:gd name="T39" fmla="*/ 43 h 121"/>
                <a:gd name="T40" fmla="*/ 78 w 229"/>
                <a:gd name="T41" fmla="*/ 43 h 121"/>
                <a:gd name="T42" fmla="*/ 78 w 229"/>
                <a:gd name="T43" fmla="*/ 43 h 121"/>
                <a:gd name="T44" fmla="*/ 78 w 229"/>
                <a:gd name="T45" fmla="*/ 19 h 121"/>
                <a:gd name="T46" fmla="*/ 114 w 229"/>
                <a:gd name="T47" fmla="*/ 19 h 121"/>
                <a:gd name="T48" fmla="*/ 114 w 229"/>
                <a:gd name="T4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9" h="121">
                  <a:moveTo>
                    <a:pt x="170" y="0"/>
                  </a:moveTo>
                  <a:lnTo>
                    <a:pt x="114" y="0"/>
                  </a:lnTo>
                  <a:lnTo>
                    <a:pt x="114" y="19"/>
                  </a:lnTo>
                  <a:lnTo>
                    <a:pt x="151" y="19"/>
                  </a:lnTo>
                  <a:lnTo>
                    <a:pt x="151" y="43"/>
                  </a:lnTo>
                  <a:lnTo>
                    <a:pt x="114" y="43"/>
                  </a:lnTo>
                  <a:lnTo>
                    <a:pt x="114" y="121"/>
                  </a:lnTo>
                  <a:lnTo>
                    <a:pt x="149" y="121"/>
                  </a:lnTo>
                  <a:lnTo>
                    <a:pt x="229" y="121"/>
                  </a:lnTo>
                  <a:lnTo>
                    <a:pt x="229" y="43"/>
                  </a:lnTo>
                  <a:lnTo>
                    <a:pt x="170" y="43"/>
                  </a:lnTo>
                  <a:lnTo>
                    <a:pt x="170" y="0"/>
                  </a:lnTo>
                  <a:close/>
                  <a:moveTo>
                    <a:pt x="114" y="0"/>
                  </a:moveTo>
                  <a:lnTo>
                    <a:pt x="57" y="0"/>
                  </a:lnTo>
                  <a:lnTo>
                    <a:pt x="57" y="43"/>
                  </a:lnTo>
                  <a:lnTo>
                    <a:pt x="0" y="43"/>
                  </a:lnTo>
                  <a:lnTo>
                    <a:pt x="0" y="121"/>
                  </a:lnTo>
                  <a:lnTo>
                    <a:pt x="78" y="121"/>
                  </a:lnTo>
                  <a:lnTo>
                    <a:pt x="114" y="121"/>
                  </a:lnTo>
                  <a:lnTo>
                    <a:pt x="114" y="43"/>
                  </a:lnTo>
                  <a:lnTo>
                    <a:pt x="78" y="43"/>
                  </a:lnTo>
                  <a:lnTo>
                    <a:pt x="78" y="43"/>
                  </a:lnTo>
                  <a:lnTo>
                    <a:pt x="78" y="19"/>
                  </a:lnTo>
                  <a:lnTo>
                    <a:pt x="114" y="19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sp>
        <p:nvSpPr>
          <p:cNvPr id="176" name="Freeform 32"/>
          <p:cNvSpPr/>
          <p:nvPr/>
        </p:nvSpPr>
        <p:spPr bwMode="auto">
          <a:xfrm>
            <a:off x="7620899" y="2456186"/>
            <a:ext cx="915558" cy="376064"/>
          </a:xfrm>
          <a:custGeom>
            <a:avLst/>
            <a:gdLst>
              <a:gd name="T0" fmla="*/ 333 w 441"/>
              <a:gd name="T1" fmla="*/ 102 h 181"/>
              <a:gd name="T2" fmla="*/ 356 w 441"/>
              <a:gd name="T3" fmla="*/ 181 h 181"/>
              <a:gd name="T4" fmla="*/ 217 w 441"/>
              <a:gd name="T5" fmla="*/ 102 h 181"/>
              <a:gd name="T6" fmla="*/ 30 w 441"/>
              <a:gd name="T7" fmla="*/ 52 h 181"/>
              <a:gd name="T8" fmla="*/ 170 w 441"/>
              <a:gd name="T9" fmla="*/ 0 h 181"/>
              <a:gd name="T10" fmla="*/ 417 w 441"/>
              <a:gd name="T11" fmla="*/ 52 h 181"/>
              <a:gd name="T12" fmla="*/ 333 w 441"/>
              <a:gd name="T13" fmla="*/ 10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1" h="181">
                <a:moveTo>
                  <a:pt x="333" y="102"/>
                </a:moveTo>
                <a:cubicBezTo>
                  <a:pt x="356" y="181"/>
                  <a:pt x="356" y="181"/>
                  <a:pt x="356" y="181"/>
                </a:cubicBezTo>
                <a:cubicBezTo>
                  <a:pt x="217" y="102"/>
                  <a:pt x="217" y="102"/>
                  <a:pt x="217" y="102"/>
                </a:cubicBezTo>
                <a:cubicBezTo>
                  <a:pt x="132" y="95"/>
                  <a:pt x="54" y="76"/>
                  <a:pt x="30" y="52"/>
                </a:cubicBezTo>
                <a:cubicBezTo>
                  <a:pt x="0" y="23"/>
                  <a:pt x="63" y="0"/>
                  <a:pt x="170" y="0"/>
                </a:cubicBezTo>
                <a:cubicBezTo>
                  <a:pt x="277" y="0"/>
                  <a:pt x="387" y="23"/>
                  <a:pt x="417" y="52"/>
                </a:cubicBezTo>
                <a:cubicBezTo>
                  <a:pt x="441" y="76"/>
                  <a:pt x="405" y="95"/>
                  <a:pt x="333" y="102"/>
                </a:cubicBezTo>
                <a:close/>
              </a:path>
            </a:pathLst>
          </a:custGeom>
          <a:solidFill>
            <a:srgbClr val="D0DB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185" name="Group 26"/>
          <p:cNvGrpSpPr/>
          <p:nvPr/>
        </p:nvGrpSpPr>
        <p:grpSpPr>
          <a:xfrm>
            <a:off x="9033776" y="1219918"/>
            <a:ext cx="589578" cy="1020118"/>
            <a:chOff x="8774141" y="586610"/>
            <a:chExt cx="589578" cy="1020118"/>
          </a:xfrm>
        </p:grpSpPr>
        <p:sp>
          <p:nvSpPr>
            <p:cNvPr id="186" name="Oval 27"/>
            <p:cNvSpPr>
              <a:spLocks noChangeArrowheads="1"/>
            </p:cNvSpPr>
            <p:nvPr/>
          </p:nvSpPr>
          <p:spPr bwMode="auto">
            <a:xfrm>
              <a:off x="8774141" y="586610"/>
              <a:ext cx="589578" cy="5895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87" name="Freeform 26"/>
            <p:cNvSpPr/>
            <p:nvPr/>
          </p:nvSpPr>
          <p:spPr bwMode="auto">
            <a:xfrm>
              <a:off x="8969203" y="1008364"/>
              <a:ext cx="199454" cy="598364"/>
            </a:xfrm>
            <a:custGeom>
              <a:avLst/>
              <a:gdLst>
                <a:gd name="T0" fmla="*/ 113 w 227"/>
                <a:gd name="T1" fmla="*/ 681 h 681"/>
                <a:gd name="T2" fmla="*/ 0 w 227"/>
                <a:gd name="T3" fmla="*/ 113 h 681"/>
                <a:gd name="T4" fmla="*/ 94 w 227"/>
                <a:gd name="T5" fmla="*/ 0 h 681"/>
                <a:gd name="T6" fmla="*/ 227 w 227"/>
                <a:gd name="T7" fmla="*/ 113 h 681"/>
                <a:gd name="T8" fmla="*/ 113 w 227"/>
                <a:gd name="T9" fmla="*/ 681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681">
                  <a:moveTo>
                    <a:pt x="113" y="681"/>
                  </a:moveTo>
                  <a:lnTo>
                    <a:pt x="0" y="113"/>
                  </a:lnTo>
                  <a:lnTo>
                    <a:pt x="94" y="0"/>
                  </a:lnTo>
                  <a:lnTo>
                    <a:pt x="227" y="113"/>
                  </a:lnTo>
                  <a:lnTo>
                    <a:pt x="113" y="6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88" name="Oval 28"/>
            <p:cNvSpPr>
              <a:spLocks noChangeArrowheads="1"/>
            </p:cNvSpPr>
            <p:nvPr/>
          </p:nvSpPr>
          <p:spPr bwMode="auto">
            <a:xfrm>
              <a:off x="8836526" y="650752"/>
              <a:ext cx="464808" cy="46305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89" name="TextBox 30"/>
            <p:cNvSpPr txBox="1"/>
            <p:nvPr/>
          </p:nvSpPr>
          <p:spPr>
            <a:xfrm>
              <a:off x="8818940" y="693183"/>
              <a:ext cx="5020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36772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01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36772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190" name="Group 31"/>
          <p:cNvGrpSpPr/>
          <p:nvPr/>
        </p:nvGrpSpPr>
        <p:grpSpPr>
          <a:xfrm>
            <a:off x="7959181" y="1439582"/>
            <a:ext cx="803970" cy="1392669"/>
            <a:chOff x="7699546" y="806274"/>
            <a:chExt cx="803970" cy="1392669"/>
          </a:xfrm>
        </p:grpSpPr>
        <p:sp>
          <p:nvSpPr>
            <p:cNvPr id="191" name="Freeform 33"/>
            <p:cNvSpPr/>
            <p:nvPr/>
          </p:nvSpPr>
          <p:spPr bwMode="auto">
            <a:xfrm>
              <a:off x="7965778" y="1380036"/>
              <a:ext cx="271504" cy="818907"/>
            </a:xfrm>
            <a:custGeom>
              <a:avLst/>
              <a:gdLst>
                <a:gd name="T0" fmla="*/ 153 w 309"/>
                <a:gd name="T1" fmla="*/ 932 h 932"/>
                <a:gd name="T2" fmla="*/ 0 w 309"/>
                <a:gd name="T3" fmla="*/ 156 h 932"/>
                <a:gd name="T4" fmla="*/ 127 w 309"/>
                <a:gd name="T5" fmla="*/ 0 h 932"/>
                <a:gd name="T6" fmla="*/ 309 w 309"/>
                <a:gd name="T7" fmla="*/ 156 h 932"/>
                <a:gd name="T8" fmla="*/ 153 w 309"/>
                <a:gd name="T9" fmla="*/ 93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932">
                  <a:moveTo>
                    <a:pt x="153" y="932"/>
                  </a:moveTo>
                  <a:lnTo>
                    <a:pt x="0" y="156"/>
                  </a:lnTo>
                  <a:lnTo>
                    <a:pt x="127" y="0"/>
                  </a:lnTo>
                  <a:lnTo>
                    <a:pt x="309" y="156"/>
                  </a:lnTo>
                  <a:lnTo>
                    <a:pt x="153" y="9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92" name="Oval 34"/>
            <p:cNvSpPr>
              <a:spLocks noChangeArrowheads="1"/>
            </p:cNvSpPr>
            <p:nvPr/>
          </p:nvSpPr>
          <p:spPr bwMode="auto">
            <a:xfrm>
              <a:off x="7699546" y="806274"/>
              <a:ext cx="803970" cy="8048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93" name="Oval 35"/>
            <p:cNvSpPr>
              <a:spLocks noChangeArrowheads="1"/>
            </p:cNvSpPr>
            <p:nvPr/>
          </p:nvSpPr>
          <p:spPr bwMode="auto">
            <a:xfrm>
              <a:off x="7784775" y="891503"/>
              <a:ext cx="633511" cy="63439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94" name="TextBox 35"/>
            <p:cNvSpPr txBox="1"/>
            <p:nvPr/>
          </p:nvSpPr>
          <p:spPr>
            <a:xfrm>
              <a:off x="7820043" y="977865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5C8B6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02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5C8B6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10" name="Group 51"/>
          <p:cNvGrpSpPr/>
          <p:nvPr/>
        </p:nvGrpSpPr>
        <p:grpSpPr>
          <a:xfrm>
            <a:off x="1811642" y="1907437"/>
            <a:ext cx="4379234" cy="800682"/>
            <a:chOff x="1811642" y="1907437"/>
            <a:chExt cx="3502279" cy="800682"/>
          </a:xfrm>
        </p:grpSpPr>
        <p:sp>
          <p:nvSpPr>
            <p:cNvPr id="211" name="TextBox 52"/>
            <p:cNvSpPr txBox="1"/>
            <p:nvPr/>
          </p:nvSpPr>
          <p:spPr>
            <a:xfrm>
              <a:off x="1811642" y="190743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Roboto Light"/>
                  <a:ea typeface="+mn-ea"/>
                </a:rPr>
                <a:t>中断跳转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Light"/>
                <a:ea typeface="+mn-ea"/>
              </a:endParaRPr>
            </a:p>
          </p:txBody>
        </p:sp>
        <p:sp>
          <p:nvSpPr>
            <p:cNvPr id="212" name="TextBox 53"/>
            <p:cNvSpPr txBox="1"/>
            <p:nvPr/>
          </p:nvSpPr>
          <p:spPr>
            <a:xfrm>
              <a:off x="1811643" y="2277745"/>
              <a:ext cx="3502278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+mn-cs"/>
                </a:rPr>
                <a:t>跳转到该中断所对应的中断服务程序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13" name="Group 66"/>
          <p:cNvGrpSpPr/>
          <p:nvPr/>
        </p:nvGrpSpPr>
        <p:grpSpPr>
          <a:xfrm>
            <a:off x="1100743" y="1959819"/>
            <a:ext cx="622647" cy="622647"/>
            <a:chOff x="1100743" y="1959819"/>
            <a:chExt cx="622647" cy="622647"/>
          </a:xfrm>
        </p:grpSpPr>
        <p:sp>
          <p:nvSpPr>
            <p:cNvPr id="214" name="Oval 67"/>
            <p:cNvSpPr/>
            <p:nvPr/>
          </p:nvSpPr>
          <p:spPr>
            <a:xfrm>
              <a:off x="1100743" y="1959819"/>
              <a:ext cx="622647" cy="6226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grpSp>
          <p:nvGrpSpPr>
            <p:cNvPr id="215" name="Group 68"/>
            <p:cNvGrpSpPr/>
            <p:nvPr/>
          </p:nvGrpSpPr>
          <p:grpSpPr>
            <a:xfrm>
              <a:off x="1236606" y="2119219"/>
              <a:ext cx="350920" cy="303846"/>
              <a:chOff x="9322422" y="1072507"/>
              <a:chExt cx="216149" cy="187154"/>
            </a:xfrm>
            <a:solidFill>
              <a:schemeClr val="bg1"/>
            </a:solidFill>
          </p:grpSpPr>
          <p:sp>
            <p:nvSpPr>
              <p:cNvPr id="216" name="Freeform 22"/>
              <p:cNvSpPr/>
              <p:nvPr/>
            </p:nvSpPr>
            <p:spPr bwMode="auto">
              <a:xfrm>
                <a:off x="9467400" y="1081293"/>
                <a:ext cx="36024" cy="43054"/>
              </a:xfrm>
              <a:custGeom>
                <a:avLst/>
                <a:gdLst>
                  <a:gd name="T0" fmla="*/ 41 w 41"/>
                  <a:gd name="T1" fmla="*/ 0 h 49"/>
                  <a:gd name="T2" fmla="*/ 0 w 41"/>
                  <a:gd name="T3" fmla="*/ 0 h 49"/>
                  <a:gd name="T4" fmla="*/ 0 w 41"/>
                  <a:gd name="T5" fmla="*/ 16 h 49"/>
                  <a:gd name="T6" fmla="*/ 41 w 41"/>
                  <a:gd name="T7" fmla="*/ 49 h 49"/>
                  <a:gd name="T8" fmla="*/ 41 w 41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9">
                    <a:moveTo>
                      <a:pt x="41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41" y="49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217" name="Freeform 23"/>
              <p:cNvSpPr/>
              <p:nvPr/>
            </p:nvSpPr>
            <p:spPr bwMode="auto">
              <a:xfrm>
                <a:off x="9357568" y="1118197"/>
                <a:ext cx="145857" cy="141464"/>
              </a:xfrm>
              <a:custGeom>
                <a:avLst/>
                <a:gdLst>
                  <a:gd name="T0" fmla="*/ 166 w 166"/>
                  <a:gd name="T1" fmla="*/ 85 h 161"/>
                  <a:gd name="T2" fmla="*/ 166 w 166"/>
                  <a:gd name="T3" fmla="*/ 69 h 161"/>
                  <a:gd name="T4" fmla="*/ 125 w 166"/>
                  <a:gd name="T5" fmla="*/ 36 h 161"/>
                  <a:gd name="T6" fmla="*/ 83 w 166"/>
                  <a:gd name="T7" fmla="*/ 0 h 161"/>
                  <a:gd name="T8" fmla="*/ 0 w 166"/>
                  <a:gd name="T9" fmla="*/ 69 h 161"/>
                  <a:gd name="T10" fmla="*/ 0 w 166"/>
                  <a:gd name="T11" fmla="*/ 161 h 161"/>
                  <a:gd name="T12" fmla="*/ 52 w 166"/>
                  <a:gd name="T13" fmla="*/ 161 h 161"/>
                  <a:gd name="T14" fmla="*/ 52 w 166"/>
                  <a:gd name="T15" fmla="*/ 69 h 161"/>
                  <a:gd name="T16" fmla="*/ 114 w 166"/>
                  <a:gd name="T17" fmla="*/ 69 h 161"/>
                  <a:gd name="T18" fmla="*/ 114 w 166"/>
                  <a:gd name="T19" fmla="*/ 161 h 161"/>
                  <a:gd name="T20" fmla="*/ 166 w 166"/>
                  <a:gd name="T21" fmla="*/ 161 h 161"/>
                  <a:gd name="T22" fmla="*/ 166 w 166"/>
                  <a:gd name="T23" fmla="*/ 8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6" h="161">
                    <a:moveTo>
                      <a:pt x="166" y="85"/>
                    </a:moveTo>
                    <a:lnTo>
                      <a:pt x="166" y="69"/>
                    </a:lnTo>
                    <a:lnTo>
                      <a:pt x="125" y="36"/>
                    </a:lnTo>
                    <a:lnTo>
                      <a:pt x="83" y="0"/>
                    </a:lnTo>
                    <a:lnTo>
                      <a:pt x="0" y="69"/>
                    </a:lnTo>
                    <a:lnTo>
                      <a:pt x="0" y="161"/>
                    </a:lnTo>
                    <a:lnTo>
                      <a:pt x="52" y="161"/>
                    </a:lnTo>
                    <a:lnTo>
                      <a:pt x="52" y="69"/>
                    </a:lnTo>
                    <a:lnTo>
                      <a:pt x="114" y="69"/>
                    </a:lnTo>
                    <a:lnTo>
                      <a:pt x="114" y="161"/>
                    </a:lnTo>
                    <a:lnTo>
                      <a:pt x="166" y="161"/>
                    </a:lnTo>
                    <a:lnTo>
                      <a:pt x="166" y="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218" name="Freeform 24"/>
              <p:cNvSpPr/>
              <p:nvPr/>
            </p:nvSpPr>
            <p:spPr bwMode="auto">
              <a:xfrm>
                <a:off x="9322422" y="1072507"/>
                <a:ext cx="216149" cy="109832"/>
              </a:xfrm>
              <a:custGeom>
                <a:avLst/>
                <a:gdLst>
                  <a:gd name="T0" fmla="*/ 40 w 246"/>
                  <a:gd name="T1" fmla="*/ 111 h 125"/>
                  <a:gd name="T2" fmla="*/ 123 w 246"/>
                  <a:gd name="T3" fmla="*/ 45 h 125"/>
                  <a:gd name="T4" fmla="*/ 165 w 246"/>
                  <a:gd name="T5" fmla="*/ 78 h 125"/>
                  <a:gd name="T6" fmla="*/ 206 w 246"/>
                  <a:gd name="T7" fmla="*/ 111 h 125"/>
                  <a:gd name="T8" fmla="*/ 224 w 246"/>
                  <a:gd name="T9" fmla="*/ 125 h 125"/>
                  <a:gd name="T10" fmla="*/ 246 w 246"/>
                  <a:gd name="T11" fmla="*/ 102 h 125"/>
                  <a:gd name="T12" fmla="*/ 206 w 246"/>
                  <a:gd name="T13" fmla="*/ 69 h 125"/>
                  <a:gd name="T14" fmla="*/ 165 w 246"/>
                  <a:gd name="T15" fmla="*/ 36 h 125"/>
                  <a:gd name="T16" fmla="*/ 123 w 246"/>
                  <a:gd name="T17" fmla="*/ 0 h 125"/>
                  <a:gd name="T18" fmla="*/ 0 w 246"/>
                  <a:gd name="T19" fmla="*/ 102 h 125"/>
                  <a:gd name="T20" fmla="*/ 21 w 246"/>
                  <a:gd name="T21" fmla="*/ 125 h 125"/>
                  <a:gd name="T22" fmla="*/ 40 w 246"/>
                  <a:gd name="T23" fmla="*/ 111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6" h="125">
                    <a:moveTo>
                      <a:pt x="40" y="111"/>
                    </a:moveTo>
                    <a:lnTo>
                      <a:pt x="123" y="45"/>
                    </a:lnTo>
                    <a:lnTo>
                      <a:pt x="165" y="78"/>
                    </a:lnTo>
                    <a:lnTo>
                      <a:pt x="206" y="111"/>
                    </a:lnTo>
                    <a:lnTo>
                      <a:pt x="224" y="125"/>
                    </a:lnTo>
                    <a:lnTo>
                      <a:pt x="246" y="102"/>
                    </a:lnTo>
                    <a:lnTo>
                      <a:pt x="206" y="69"/>
                    </a:lnTo>
                    <a:lnTo>
                      <a:pt x="165" y="36"/>
                    </a:lnTo>
                    <a:lnTo>
                      <a:pt x="123" y="0"/>
                    </a:lnTo>
                    <a:lnTo>
                      <a:pt x="0" y="102"/>
                    </a:lnTo>
                    <a:lnTo>
                      <a:pt x="21" y="125"/>
                    </a:lnTo>
                    <a:lnTo>
                      <a:pt x="4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9" name="Group 54"/>
          <p:cNvGrpSpPr/>
          <p:nvPr/>
        </p:nvGrpSpPr>
        <p:grpSpPr>
          <a:xfrm>
            <a:off x="1811641" y="2790688"/>
            <a:ext cx="4308845" cy="1247963"/>
            <a:chOff x="1811642" y="2790688"/>
            <a:chExt cx="3502278" cy="1247963"/>
          </a:xfrm>
        </p:grpSpPr>
        <p:sp>
          <p:nvSpPr>
            <p:cNvPr id="70" name="TextBox 55"/>
            <p:cNvSpPr txBox="1"/>
            <p:nvPr/>
          </p:nvSpPr>
          <p:spPr>
            <a:xfrm>
              <a:off x="1814754" y="2790688"/>
              <a:ext cx="2646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rPr>
                <a:t>执行中断服务程序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1" name="TextBox 56"/>
            <p:cNvSpPr txBox="1"/>
            <p:nvPr/>
          </p:nvSpPr>
          <p:spPr>
            <a:xfrm>
              <a:off x="1811642" y="3207654"/>
              <a:ext cx="350227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noProof="0" dirty="0">
                  <a:latin typeface="+mn-ea"/>
                  <a:ea typeface="+mn-ea"/>
                </a:rPr>
                <a:t>执行在</a:t>
              </a:r>
              <a:r>
                <a:rPr lang="en-US" altLang="zh-CN" sz="2000" b="1" dirty="0">
                  <a:latin typeface="+mn-ea"/>
                  <a:ea typeface="+mn-ea"/>
                </a:rPr>
                <a:t>stm32f4xx_it.c</a:t>
              </a:r>
              <a:r>
                <a:rPr lang="zh-CN" altLang="en-US" sz="2000" b="1" dirty="0">
                  <a:latin typeface="+mn-ea"/>
                  <a:ea typeface="+mn-ea"/>
                </a:rPr>
                <a:t>文件中对应的中断服务程序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100743" y="2816840"/>
            <a:ext cx="622647" cy="622647"/>
            <a:chOff x="1100743" y="2816840"/>
            <a:chExt cx="622647" cy="622647"/>
          </a:xfrm>
        </p:grpSpPr>
        <p:sp>
          <p:nvSpPr>
            <p:cNvPr id="73" name="Oval 73"/>
            <p:cNvSpPr/>
            <p:nvPr/>
          </p:nvSpPr>
          <p:spPr>
            <a:xfrm>
              <a:off x="1100743" y="2816840"/>
              <a:ext cx="622647" cy="6226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1248731" y="2973201"/>
              <a:ext cx="326670" cy="273890"/>
              <a:chOff x="8297910" y="1608487"/>
              <a:chExt cx="201212" cy="168702"/>
            </a:xfrm>
            <a:solidFill>
              <a:schemeClr val="bg1"/>
            </a:solidFill>
          </p:grpSpPr>
          <p:sp>
            <p:nvSpPr>
              <p:cNvPr id="75" name="Freeform 29"/>
              <p:cNvSpPr/>
              <p:nvPr/>
            </p:nvSpPr>
            <p:spPr bwMode="auto">
              <a:xfrm>
                <a:off x="8297910" y="1725348"/>
                <a:ext cx="201212" cy="51841"/>
              </a:xfrm>
              <a:custGeom>
                <a:avLst/>
                <a:gdLst>
                  <a:gd name="T0" fmla="*/ 149 w 229"/>
                  <a:gd name="T1" fmla="*/ 31 h 59"/>
                  <a:gd name="T2" fmla="*/ 78 w 229"/>
                  <a:gd name="T3" fmla="*/ 31 h 59"/>
                  <a:gd name="T4" fmla="*/ 78 w 229"/>
                  <a:gd name="T5" fmla="*/ 0 h 59"/>
                  <a:gd name="T6" fmla="*/ 0 w 229"/>
                  <a:gd name="T7" fmla="*/ 0 h 59"/>
                  <a:gd name="T8" fmla="*/ 0 w 229"/>
                  <a:gd name="T9" fmla="*/ 59 h 59"/>
                  <a:gd name="T10" fmla="*/ 229 w 229"/>
                  <a:gd name="T11" fmla="*/ 59 h 59"/>
                  <a:gd name="T12" fmla="*/ 229 w 229"/>
                  <a:gd name="T13" fmla="*/ 0 h 59"/>
                  <a:gd name="T14" fmla="*/ 149 w 229"/>
                  <a:gd name="T15" fmla="*/ 0 h 59"/>
                  <a:gd name="T16" fmla="*/ 149 w 229"/>
                  <a:gd name="T17" fmla="*/ 3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9" h="59">
                    <a:moveTo>
                      <a:pt x="149" y="31"/>
                    </a:moveTo>
                    <a:lnTo>
                      <a:pt x="78" y="31"/>
                    </a:lnTo>
                    <a:lnTo>
                      <a:pt x="78" y="0"/>
                    </a:lnTo>
                    <a:lnTo>
                      <a:pt x="0" y="0"/>
                    </a:lnTo>
                    <a:lnTo>
                      <a:pt x="0" y="59"/>
                    </a:lnTo>
                    <a:lnTo>
                      <a:pt x="229" y="59"/>
                    </a:lnTo>
                    <a:lnTo>
                      <a:pt x="229" y="0"/>
                    </a:lnTo>
                    <a:lnTo>
                      <a:pt x="149" y="0"/>
                    </a:lnTo>
                    <a:lnTo>
                      <a:pt x="149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76" name="Rectangle 30"/>
              <p:cNvSpPr>
                <a:spLocks noChangeArrowheads="1"/>
              </p:cNvSpPr>
              <p:nvPr/>
            </p:nvSpPr>
            <p:spPr bwMode="auto">
              <a:xfrm>
                <a:off x="8378746" y="1725348"/>
                <a:ext cx="37782" cy="166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77" name="Freeform 31"/>
              <p:cNvSpPr>
                <a:spLocks noEditPoints="1"/>
              </p:cNvSpPr>
              <p:nvPr/>
            </p:nvSpPr>
            <p:spPr bwMode="auto">
              <a:xfrm>
                <a:off x="8297910" y="1608487"/>
                <a:ext cx="201212" cy="106317"/>
              </a:xfrm>
              <a:custGeom>
                <a:avLst/>
                <a:gdLst>
                  <a:gd name="T0" fmla="*/ 170 w 229"/>
                  <a:gd name="T1" fmla="*/ 0 h 121"/>
                  <a:gd name="T2" fmla="*/ 114 w 229"/>
                  <a:gd name="T3" fmla="*/ 0 h 121"/>
                  <a:gd name="T4" fmla="*/ 114 w 229"/>
                  <a:gd name="T5" fmla="*/ 19 h 121"/>
                  <a:gd name="T6" fmla="*/ 151 w 229"/>
                  <a:gd name="T7" fmla="*/ 19 h 121"/>
                  <a:gd name="T8" fmla="*/ 151 w 229"/>
                  <a:gd name="T9" fmla="*/ 43 h 121"/>
                  <a:gd name="T10" fmla="*/ 114 w 229"/>
                  <a:gd name="T11" fmla="*/ 43 h 121"/>
                  <a:gd name="T12" fmla="*/ 114 w 229"/>
                  <a:gd name="T13" fmla="*/ 121 h 121"/>
                  <a:gd name="T14" fmla="*/ 149 w 229"/>
                  <a:gd name="T15" fmla="*/ 121 h 121"/>
                  <a:gd name="T16" fmla="*/ 229 w 229"/>
                  <a:gd name="T17" fmla="*/ 121 h 121"/>
                  <a:gd name="T18" fmla="*/ 229 w 229"/>
                  <a:gd name="T19" fmla="*/ 43 h 121"/>
                  <a:gd name="T20" fmla="*/ 170 w 229"/>
                  <a:gd name="T21" fmla="*/ 43 h 121"/>
                  <a:gd name="T22" fmla="*/ 170 w 229"/>
                  <a:gd name="T23" fmla="*/ 0 h 121"/>
                  <a:gd name="T24" fmla="*/ 114 w 229"/>
                  <a:gd name="T25" fmla="*/ 0 h 121"/>
                  <a:gd name="T26" fmla="*/ 57 w 229"/>
                  <a:gd name="T27" fmla="*/ 0 h 121"/>
                  <a:gd name="T28" fmla="*/ 57 w 229"/>
                  <a:gd name="T29" fmla="*/ 43 h 121"/>
                  <a:gd name="T30" fmla="*/ 0 w 229"/>
                  <a:gd name="T31" fmla="*/ 43 h 121"/>
                  <a:gd name="T32" fmla="*/ 0 w 229"/>
                  <a:gd name="T33" fmla="*/ 121 h 121"/>
                  <a:gd name="T34" fmla="*/ 78 w 229"/>
                  <a:gd name="T35" fmla="*/ 121 h 121"/>
                  <a:gd name="T36" fmla="*/ 114 w 229"/>
                  <a:gd name="T37" fmla="*/ 121 h 121"/>
                  <a:gd name="T38" fmla="*/ 114 w 229"/>
                  <a:gd name="T39" fmla="*/ 43 h 121"/>
                  <a:gd name="T40" fmla="*/ 78 w 229"/>
                  <a:gd name="T41" fmla="*/ 43 h 121"/>
                  <a:gd name="T42" fmla="*/ 78 w 229"/>
                  <a:gd name="T43" fmla="*/ 43 h 121"/>
                  <a:gd name="T44" fmla="*/ 78 w 229"/>
                  <a:gd name="T45" fmla="*/ 19 h 121"/>
                  <a:gd name="T46" fmla="*/ 114 w 229"/>
                  <a:gd name="T47" fmla="*/ 19 h 121"/>
                  <a:gd name="T48" fmla="*/ 114 w 229"/>
                  <a:gd name="T49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29" h="121">
                    <a:moveTo>
                      <a:pt x="170" y="0"/>
                    </a:moveTo>
                    <a:lnTo>
                      <a:pt x="114" y="0"/>
                    </a:lnTo>
                    <a:lnTo>
                      <a:pt x="114" y="19"/>
                    </a:lnTo>
                    <a:lnTo>
                      <a:pt x="151" y="19"/>
                    </a:lnTo>
                    <a:lnTo>
                      <a:pt x="151" y="43"/>
                    </a:lnTo>
                    <a:lnTo>
                      <a:pt x="114" y="43"/>
                    </a:lnTo>
                    <a:lnTo>
                      <a:pt x="114" y="121"/>
                    </a:lnTo>
                    <a:lnTo>
                      <a:pt x="149" y="121"/>
                    </a:lnTo>
                    <a:lnTo>
                      <a:pt x="229" y="121"/>
                    </a:lnTo>
                    <a:lnTo>
                      <a:pt x="229" y="43"/>
                    </a:lnTo>
                    <a:lnTo>
                      <a:pt x="170" y="43"/>
                    </a:lnTo>
                    <a:lnTo>
                      <a:pt x="170" y="0"/>
                    </a:lnTo>
                    <a:close/>
                    <a:moveTo>
                      <a:pt x="114" y="0"/>
                    </a:moveTo>
                    <a:lnTo>
                      <a:pt x="57" y="0"/>
                    </a:lnTo>
                    <a:lnTo>
                      <a:pt x="57" y="43"/>
                    </a:lnTo>
                    <a:lnTo>
                      <a:pt x="0" y="43"/>
                    </a:lnTo>
                    <a:lnTo>
                      <a:pt x="0" y="121"/>
                    </a:lnTo>
                    <a:lnTo>
                      <a:pt x="78" y="121"/>
                    </a:lnTo>
                    <a:lnTo>
                      <a:pt x="114" y="121"/>
                    </a:lnTo>
                    <a:lnTo>
                      <a:pt x="114" y="43"/>
                    </a:lnTo>
                    <a:lnTo>
                      <a:pt x="78" y="43"/>
                    </a:lnTo>
                    <a:lnTo>
                      <a:pt x="78" y="43"/>
                    </a:lnTo>
                    <a:lnTo>
                      <a:pt x="78" y="19"/>
                    </a:lnTo>
                    <a:lnTo>
                      <a:pt x="114" y="19"/>
                    </a:lnTo>
                    <a:lnTo>
                      <a:pt x="11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</p:grpSp>
      </p:grpSp>
      <p:sp>
        <p:nvSpPr>
          <p:cNvPr id="55" name="Rectangle 52"/>
          <p:cNvSpPr/>
          <p:nvPr/>
        </p:nvSpPr>
        <p:spPr>
          <a:xfrm>
            <a:off x="3873407" y="1071641"/>
            <a:ext cx="418106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HAL</a:t>
            </a:r>
            <a:r>
              <a:rPr lang="zh-CN" altLang="en-US" sz="2800" b="1" dirty="0">
                <a:latin typeface="+mn-ea"/>
                <a:ea typeface="+mn-ea"/>
              </a:rPr>
              <a:t>库外部中断处理流程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sp>
        <p:nvSpPr>
          <p:cNvPr id="57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5498" y="1104044"/>
            <a:ext cx="688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ISR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22" name="Rectangle 52"/>
          <p:cNvSpPr/>
          <p:nvPr/>
        </p:nvSpPr>
        <p:spPr>
          <a:xfrm>
            <a:off x="2563306" y="272744"/>
            <a:ext cx="706538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stm32f4xx_it.c</a:t>
            </a:r>
            <a:r>
              <a:rPr lang="zh-CN" altLang="en-US" sz="2800" b="1" dirty="0">
                <a:latin typeface="+mn-ea"/>
                <a:ea typeface="+mn-ea"/>
              </a:rPr>
              <a:t>文件中的外部中断服务程序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2242" y="1041505"/>
            <a:ext cx="11847516" cy="526297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* @brief This function handles EXTI line0 interrupt.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*/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6699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void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EXTI0_IRQHandler(</a:t>
            </a:r>
            <a:r>
              <a:rPr lang="en-US" altLang="zh-CN" sz="2400" b="1" dirty="0">
                <a:solidFill>
                  <a:srgbClr val="006699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void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 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{ 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 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HAL_GPIO_EXTI_IRQHandler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(GPIO_PIN_0);  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调用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外部中断通用处理</a:t>
            </a:r>
            <a:r>
              <a:rPr lang="zh-CN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函数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} 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* @brief This function handles EXTI line[15:10] interrupts.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*/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6699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void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EXTI15_10_IRQHandler(</a:t>
            </a:r>
            <a:r>
              <a:rPr lang="en-US" altLang="zh-CN" sz="2400" b="1" dirty="0">
                <a:solidFill>
                  <a:srgbClr val="006699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void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 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{  </a:t>
            </a:r>
            <a:endParaRPr lang="zh-CN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 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HAL_GPIO_EXTI_IRQHandler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(GPIO_PIN_13); 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调用外部中断通用处理函数</a:t>
            </a:r>
            <a:endParaRPr lang="zh-CN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}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  </a:t>
            </a:r>
            <a:endParaRPr lang="zh-CN" altLang="zh-CN" sz="2400" dirty="0">
              <a:solidFill>
                <a:srgbClr val="000000"/>
              </a:solidFill>
              <a:effectLst/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49502" y="2907773"/>
            <a:ext cx="6584773" cy="451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49502" y="5431898"/>
            <a:ext cx="6584773" cy="451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标注 8"/>
          <p:cNvSpPr/>
          <p:nvPr/>
        </p:nvSpPr>
        <p:spPr>
          <a:xfrm>
            <a:off x="6784572" y="1952543"/>
            <a:ext cx="3481217" cy="622294"/>
          </a:xfrm>
          <a:prstGeom prst="wedgeRoundRectCallout">
            <a:avLst>
              <a:gd name="adj1" fmla="val -42939"/>
              <a:gd name="adj2" fmla="val 101305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外部中断通用处理函数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6784573" y="4450630"/>
            <a:ext cx="3481216" cy="622294"/>
          </a:xfrm>
          <a:prstGeom prst="wedgeRoundRectCallout">
            <a:avLst>
              <a:gd name="adj1" fmla="val -42939"/>
              <a:gd name="adj2" fmla="val 101305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外部中断通用处理函数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08583" y="4734623"/>
            <a:ext cx="4513573" cy="451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08583" y="2132530"/>
            <a:ext cx="4513573" cy="451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00701" y="110404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处理流程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163" name="Group 4"/>
          <p:cNvGrpSpPr/>
          <p:nvPr/>
        </p:nvGrpSpPr>
        <p:grpSpPr>
          <a:xfrm>
            <a:off x="6766597" y="1338537"/>
            <a:ext cx="5279209" cy="5459086"/>
            <a:chOff x="6506962" y="705229"/>
            <a:chExt cx="5279209" cy="5459086"/>
          </a:xfrm>
        </p:grpSpPr>
        <p:sp>
          <p:nvSpPr>
            <p:cNvPr id="164" name="Freeform 5"/>
            <p:cNvSpPr/>
            <p:nvPr/>
          </p:nvSpPr>
          <p:spPr bwMode="auto">
            <a:xfrm>
              <a:off x="6506962" y="705229"/>
              <a:ext cx="5279209" cy="5459086"/>
            </a:xfrm>
            <a:custGeom>
              <a:avLst/>
              <a:gdLst>
                <a:gd name="connsiteX0" fmla="*/ 3859967 w 5879683"/>
                <a:gd name="connsiteY0" fmla="*/ 0 h 6080019"/>
                <a:gd name="connsiteX1" fmla="*/ 4112189 w 5879683"/>
                <a:gd name="connsiteY1" fmla="*/ 1506708 h 6080019"/>
                <a:gd name="connsiteX2" fmla="*/ 2712241 w 5879683"/>
                <a:gd name="connsiteY2" fmla="*/ 2332968 h 6080019"/>
                <a:gd name="connsiteX3" fmla="*/ 606535 w 5879683"/>
                <a:gd name="connsiteY3" fmla="*/ 4372000 h 6080019"/>
                <a:gd name="connsiteX4" fmla="*/ 1316921 w 5879683"/>
                <a:gd name="connsiteY4" fmla="*/ 5047820 h 6080019"/>
                <a:gd name="connsiteX5" fmla="*/ 4723998 w 5879683"/>
                <a:gd name="connsiteY5" fmla="*/ 5435664 h 6080019"/>
                <a:gd name="connsiteX6" fmla="*/ 4808310 w 5879683"/>
                <a:gd name="connsiteY6" fmla="*/ 5429676 h 6080019"/>
                <a:gd name="connsiteX7" fmla="*/ 4961760 w 5879683"/>
                <a:gd name="connsiteY7" fmla="*/ 5207111 h 6080019"/>
                <a:gd name="connsiteX8" fmla="*/ 5879683 w 5879683"/>
                <a:gd name="connsiteY8" fmla="*/ 5581914 h 6080019"/>
                <a:gd name="connsiteX9" fmla="*/ 4359923 w 5879683"/>
                <a:gd name="connsiteY9" fmla="*/ 6080019 h 6080019"/>
                <a:gd name="connsiteX10" fmla="*/ 4478454 w 5879683"/>
                <a:gd name="connsiteY10" fmla="*/ 5908101 h 6080019"/>
                <a:gd name="connsiteX11" fmla="*/ 4184148 w 5879683"/>
                <a:gd name="connsiteY11" fmla="*/ 5922625 h 6080019"/>
                <a:gd name="connsiteX12" fmla="*/ 1205851 w 5879683"/>
                <a:gd name="connsiteY12" fmla="*/ 5552371 h 6080019"/>
                <a:gd name="connsiteX13" fmla="*/ 625046 w 5879683"/>
                <a:gd name="connsiteY13" fmla="*/ 5223719 h 6080019"/>
                <a:gd name="connsiteX14" fmla="*/ 264068 w 5879683"/>
                <a:gd name="connsiteY14" fmla="*/ 3453163 h 6080019"/>
                <a:gd name="connsiteX15" fmla="*/ 3019998 w 5879683"/>
                <a:gd name="connsiteY15" fmla="*/ 2011259 h 6080019"/>
                <a:gd name="connsiteX16" fmla="*/ 3816002 w 5879683"/>
                <a:gd name="connsiteY16" fmla="*/ 1564570 h 6080019"/>
                <a:gd name="connsiteX17" fmla="*/ 3859967 w 5879683"/>
                <a:gd name="connsiteY17" fmla="*/ 0 h 608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79683" h="6080019">
                  <a:moveTo>
                    <a:pt x="3859967" y="0"/>
                  </a:moveTo>
                  <a:cubicBezTo>
                    <a:pt x="4362097" y="358740"/>
                    <a:pt x="4642087" y="941982"/>
                    <a:pt x="4112189" y="1506708"/>
                  </a:cubicBezTo>
                  <a:cubicBezTo>
                    <a:pt x="3762781" y="1877021"/>
                    <a:pt x="3175034" y="2136239"/>
                    <a:pt x="2712241" y="2332968"/>
                  </a:cubicBezTo>
                  <a:cubicBezTo>
                    <a:pt x="1997227" y="2633847"/>
                    <a:pt x="171510" y="3247176"/>
                    <a:pt x="606535" y="4372000"/>
                  </a:cubicBezTo>
                  <a:cubicBezTo>
                    <a:pt x="729175" y="4686765"/>
                    <a:pt x="1029990" y="4897381"/>
                    <a:pt x="1316921" y="5047820"/>
                  </a:cubicBezTo>
                  <a:cubicBezTo>
                    <a:pt x="2186827" y="5499139"/>
                    <a:pt x="3628218" y="5507004"/>
                    <a:pt x="4723998" y="5435664"/>
                  </a:cubicBezTo>
                  <a:lnTo>
                    <a:pt x="4808310" y="5429676"/>
                  </a:lnTo>
                  <a:lnTo>
                    <a:pt x="4961760" y="5207111"/>
                  </a:lnTo>
                  <a:lnTo>
                    <a:pt x="5879683" y="5581914"/>
                  </a:lnTo>
                  <a:lnTo>
                    <a:pt x="4359923" y="6080019"/>
                  </a:lnTo>
                  <a:lnTo>
                    <a:pt x="4478454" y="5908101"/>
                  </a:lnTo>
                  <a:lnTo>
                    <a:pt x="4184148" y="5922625"/>
                  </a:lnTo>
                  <a:cubicBezTo>
                    <a:pt x="3187544" y="5964741"/>
                    <a:pt x="2102801" y="5947275"/>
                    <a:pt x="1205851" y="5552371"/>
                  </a:cubicBezTo>
                  <a:cubicBezTo>
                    <a:pt x="1002222" y="5462107"/>
                    <a:pt x="807849" y="5353328"/>
                    <a:pt x="625046" y="5223719"/>
                  </a:cubicBezTo>
                  <a:cubicBezTo>
                    <a:pt x="276" y="4774715"/>
                    <a:pt x="-221864" y="4103524"/>
                    <a:pt x="264068" y="3453163"/>
                  </a:cubicBezTo>
                  <a:cubicBezTo>
                    <a:pt x="743058" y="2809745"/>
                    <a:pt x="2263332" y="2351484"/>
                    <a:pt x="3019998" y="2011259"/>
                  </a:cubicBezTo>
                  <a:cubicBezTo>
                    <a:pt x="3293046" y="1888593"/>
                    <a:pt x="3577663" y="1745097"/>
                    <a:pt x="3816002" y="1564570"/>
                  </a:cubicBezTo>
                  <a:cubicBezTo>
                    <a:pt x="4491679" y="1057705"/>
                    <a:pt x="4359783" y="460576"/>
                    <a:pt x="3859967" y="0"/>
                  </a:cubicBez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5" name="Freeform 6"/>
            <p:cNvSpPr/>
            <p:nvPr/>
          </p:nvSpPr>
          <p:spPr bwMode="auto">
            <a:xfrm>
              <a:off x="6726851" y="793973"/>
              <a:ext cx="4081232" cy="5055161"/>
            </a:xfrm>
            <a:custGeom>
              <a:avLst/>
              <a:gdLst>
                <a:gd name="connsiteX0" fmla="*/ 2256537 w 4545444"/>
                <a:gd name="connsiteY0" fmla="*/ 5459202 h 5630150"/>
                <a:gd name="connsiteX1" fmla="*/ 2494614 w 4545444"/>
                <a:gd name="connsiteY1" fmla="*/ 5490324 h 5630150"/>
                <a:gd name="connsiteX2" fmla="*/ 4501279 w 4545444"/>
                <a:gd name="connsiteY2" fmla="*/ 5522041 h 5630150"/>
                <a:gd name="connsiteX3" fmla="*/ 4545249 w 4545444"/>
                <a:gd name="connsiteY3" fmla="*/ 5561385 h 5630150"/>
                <a:gd name="connsiteX4" fmla="*/ 4505907 w 4545444"/>
                <a:gd name="connsiteY4" fmla="*/ 5607672 h 5630150"/>
                <a:gd name="connsiteX5" fmla="*/ 2419318 w 4545444"/>
                <a:gd name="connsiteY5" fmla="*/ 5557726 h 5630150"/>
                <a:gd name="connsiteX6" fmla="*/ 2235390 w 4545444"/>
                <a:gd name="connsiteY6" fmla="*/ 5531069 h 5630150"/>
                <a:gd name="connsiteX7" fmla="*/ 618660 w 4545444"/>
                <a:gd name="connsiteY7" fmla="*/ 4907146 h 5630150"/>
                <a:gd name="connsiteX8" fmla="*/ 632400 w 4545444"/>
                <a:gd name="connsiteY8" fmla="*/ 4917588 h 5630150"/>
                <a:gd name="connsiteX9" fmla="*/ 1856847 w 4545444"/>
                <a:gd name="connsiteY9" fmla="*/ 5391925 h 5630150"/>
                <a:gd name="connsiteX10" fmla="*/ 2034852 w 4545444"/>
                <a:gd name="connsiteY10" fmla="*/ 5423658 h 5630150"/>
                <a:gd name="connsiteX11" fmla="*/ 2014093 w 4545444"/>
                <a:gd name="connsiteY11" fmla="*/ 5495358 h 5630150"/>
                <a:gd name="connsiteX12" fmla="*/ 1758065 w 4545444"/>
                <a:gd name="connsiteY12" fmla="*/ 5445168 h 5630150"/>
                <a:gd name="connsiteX13" fmla="*/ 623058 w 4545444"/>
                <a:gd name="connsiteY13" fmla="*/ 4995217 h 5630150"/>
                <a:gd name="connsiteX14" fmla="*/ 574601 w 4545444"/>
                <a:gd name="connsiteY14" fmla="*/ 4959683 h 5630150"/>
                <a:gd name="connsiteX15" fmla="*/ 56894 w 4545444"/>
                <a:gd name="connsiteY15" fmla="*/ 3655972 h 5630150"/>
                <a:gd name="connsiteX16" fmla="*/ 114769 w 4545444"/>
                <a:gd name="connsiteY16" fmla="*/ 3681320 h 5630150"/>
                <a:gd name="connsiteX17" fmla="*/ 80108 w 4545444"/>
                <a:gd name="connsiteY17" fmla="*/ 3791413 h 5630150"/>
                <a:gd name="connsiteX18" fmla="*/ 203845 w 4545444"/>
                <a:gd name="connsiteY18" fmla="*/ 4459754 h 5630150"/>
                <a:gd name="connsiteX19" fmla="*/ 432817 w 4545444"/>
                <a:gd name="connsiteY19" fmla="*/ 4753361 h 5630150"/>
                <a:gd name="connsiteX20" fmla="*/ 437043 w 4545444"/>
                <a:gd name="connsiteY20" fmla="*/ 4757128 h 5630150"/>
                <a:gd name="connsiteX21" fmla="*/ 393339 w 4545444"/>
                <a:gd name="connsiteY21" fmla="*/ 4809243 h 5630150"/>
                <a:gd name="connsiteX22" fmla="*/ 316280 w 4545444"/>
                <a:gd name="connsiteY22" fmla="*/ 4730599 h 5630150"/>
                <a:gd name="connsiteX23" fmla="*/ 102021 w 4545444"/>
                <a:gd name="connsiteY23" fmla="*/ 4404210 h 5630150"/>
                <a:gd name="connsiteX24" fmla="*/ 42457 w 4545444"/>
                <a:gd name="connsiteY24" fmla="*/ 3693267 h 5630150"/>
                <a:gd name="connsiteX25" fmla="*/ 929004 w 4545444"/>
                <a:gd name="connsiteY25" fmla="*/ 2786814 h 5630150"/>
                <a:gd name="connsiteX26" fmla="*/ 956746 w 4545444"/>
                <a:gd name="connsiteY26" fmla="*/ 2834023 h 5630150"/>
                <a:gd name="connsiteX27" fmla="*/ 807170 w 4545444"/>
                <a:gd name="connsiteY27" fmla="*/ 2926453 h 5630150"/>
                <a:gd name="connsiteX28" fmla="*/ 289168 w 4545444"/>
                <a:gd name="connsiteY28" fmla="*/ 3374474 h 5630150"/>
                <a:gd name="connsiteX29" fmla="*/ 202845 w 4545444"/>
                <a:gd name="connsiteY29" fmla="*/ 3497409 h 5630150"/>
                <a:gd name="connsiteX30" fmla="*/ 145829 w 4545444"/>
                <a:gd name="connsiteY30" fmla="*/ 3472437 h 5630150"/>
                <a:gd name="connsiteX31" fmla="*/ 199129 w 4545444"/>
                <a:gd name="connsiteY31" fmla="*/ 3391464 h 5630150"/>
                <a:gd name="connsiteX32" fmla="*/ 889422 w 4545444"/>
                <a:gd name="connsiteY32" fmla="*/ 2808754 h 5630150"/>
                <a:gd name="connsiteX33" fmla="*/ 1866690 w 4545444"/>
                <a:gd name="connsiteY33" fmla="*/ 2342652 h 5630150"/>
                <a:gd name="connsiteX34" fmla="*/ 1887488 w 4545444"/>
                <a:gd name="connsiteY34" fmla="*/ 2393291 h 5630150"/>
                <a:gd name="connsiteX35" fmla="*/ 1840098 w 4545444"/>
                <a:gd name="connsiteY35" fmla="*/ 2412028 h 5630150"/>
                <a:gd name="connsiteX36" fmla="*/ 1553013 w 4545444"/>
                <a:gd name="connsiteY36" fmla="*/ 2531900 h 5630150"/>
                <a:gd name="connsiteX37" fmla="*/ 1263822 w 4545444"/>
                <a:gd name="connsiteY37" fmla="*/ 2668275 h 5630150"/>
                <a:gd name="connsiteX38" fmla="*/ 1050436 w 4545444"/>
                <a:gd name="connsiteY38" fmla="*/ 2783374 h 5630150"/>
                <a:gd name="connsiteX39" fmla="*/ 1022313 w 4545444"/>
                <a:gd name="connsiteY39" fmla="*/ 2735091 h 5630150"/>
                <a:gd name="connsiteX40" fmla="*/ 1139549 w 4545444"/>
                <a:gd name="connsiteY40" fmla="*/ 2670106 h 5630150"/>
                <a:gd name="connsiteX41" fmla="*/ 1666136 w 4545444"/>
                <a:gd name="connsiteY41" fmla="*/ 2425016 h 5630150"/>
                <a:gd name="connsiteX42" fmla="*/ 2691412 w 4545444"/>
                <a:gd name="connsiteY42" fmla="*/ 2019045 h 5630150"/>
                <a:gd name="connsiteX43" fmla="*/ 2709493 w 4545444"/>
                <a:gd name="connsiteY43" fmla="*/ 2058447 h 5630150"/>
                <a:gd name="connsiteX44" fmla="*/ 2515802 w 4545444"/>
                <a:gd name="connsiteY44" fmla="*/ 2143103 h 5630150"/>
                <a:gd name="connsiteX45" fmla="*/ 1999688 w 4545444"/>
                <a:gd name="connsiteY45" fmla="*/ 2348928 h 5630150"/>
                <a:gd name="connsiteX46" fmla="*/ 1967235 w 4545444"/>
                <a:gd name="connsiteY46" fmla="*/ 2361760 h 5630150"/>
                <a:gd name="connsiteX47" fmla="*/ 1946919 w 4545444"/>
                <a:gd name="connsiteY47" fmla="*/ 2310047 h 5630150"/>
                <a:gd name="connsiteX48" fmla="*/ 2182498 w 4545444"/>
                <a:gd name="connsiteY48" fmla="*/ 2217829 h 5630150"/>
                <a:gd name="connsiteX49" fmla="*/ 2634236 w 4545444"/>
                <a:gd name="connsiteY49" fmla="*/ 2042495 h 5630150"/>
                <a:gd name="connsiteX50" fmla="*/ 3419929 w 4545444"/>
                <a:gd name="connsiteY50" fmla="*/ 1652893 h 5630150"/>
                <a:gd name="connsiteX51" fmla="*/ 3435936 w 4545444"/>
                <a:gd name="connsiteY51" fmla="*/ 1679865 h 5630150"/>
                <a:gd name="connsiteX52" fmla="*/ 3366230 w 4545444"/>
                <a:gd name="connsiteY52" fmla="*/ 1725659 h 5630150"/>
                <a:gd name="connsiteX53" fmla="*/ 2868625 w 4545444"/>
                <a:gd name="connsiteY53" fmla="*/ 1988895 h 5630150"/>
                <a:gd name="connsiteX54" fmla="*/ 2779467 w 4545444"/>
                <a:gd name="connsiteY54" fmla="*/ 2027864 h 5630150"/>
                <a:gd name="connsiteX55" fmla="*/ 2761652 w 4545444"/>
                <a:gd name="connsiteY55" fmla="*/ 1989574 h 5630150"/>
                <a:gd name="connsiteX56" fmla="*/ 2818870 w 4545444"/>
                <a:gd name="connsiteY56" fmla="*/ 1964884 h 5630150"/>
                <a:gd name="connsiteX57" fmla="*/ 3218283 w 4545444"/>
                <a:gd name="connsiteY57" fmla="*/ 1771311 h 5630150"/>
                <a:gd name="connsiteX58" fmla="*/ 3856693 w 4545444"/>
                <a:gd name="connsiteY58" fmla="*/ 1280930 h 5630150"/>
                <a:gd name="connsiteX59" fmla="*/ 3878857 w 4545444"/>
                <a:gd name="connsiteY59" fmla="*/ 1298486 h 5630150"/>
                <a:gd name="connsiteX60" fmla="*/ 3876698 w 4545444"/>
                <a:gd name="connsiteY60" fmla="*/ 1301552 h 5630150"/>
                <a:gd name="connsiteX61" fmla="*/ 3514716 w 4545444"/>
                <a:gd name="connsiteY61" fmla="*/ 1628110 h 5630150"/>
                <a:gd name="connsiteX62" fmla="*/ 3492103 w 4545444"/>
                <a:gd name="connsiteY62" fmla="*/ 1642966 h 5630150"/>
                <a:gd name="connsiteX63" fmla="*/ 3475028 w 4545444"/>
                <a:gd name="connsiteY63" fmla="*/ 1614196 h 5630150"/>
                <a:gd name="connsiteX64" fmla="*/ 3617263 w 4545444"/>
                <a:gd name="connsiteY64" fmla="*/ 1513296 h 5630150"/>
                <a:gd name="connsiteX65" fmla="*/ 3790149 w 4545444"/>
                <a:gd name="connsiteY65" fmla="*/ 1356801 h 5630150"/>
                <a:gd name="connsiteX66" fmla="*/ 4049529 w 4545444"/>
                <a:gd name="connsiteY66" fmla="*/ 911879 h 5630150"/>
                <a:gd name="connsiteX67" fmla="*/ 4075412 w 4545444"/>
                <a:gd name="connsiteY67" fmla="*/ 916031 h 5630150"/>
                <a:gd name="connsiteX68" fmla="*/ 4071869 w 4545444"/>
                <a:gd name="connsiteY68" fmla="*/ 931641 h 5630150"/>
                <a:gd name="connsiteX69" fmla="*/ 3962076 w 4545444"/>
                <a:gd name="connsiteY69" fmla="*/ 1180319 h 5630150"/>
                <a:gd name="connsiteX70" fmla="*/ 3914053 w 4545444"/>
                <a:gd name="connsiteY70" fmla="*/ 1248509 h 5630150"/>
                <a:gd name="connsiteX71" fmla="*/ 3893587 w 4545444"/>
                <a:gd name="connsiteY71" fmla="*/ 1232095 h 5630150"/>
                <a:gd name="connsiteX72" fmla="*/ 3931196 w 4545444"/>
                <a:gd name="connsiteY72" fmla="*/ 1180211 h 5630150"/>
                <a:gd name="connsiteX73" fmla="*/ 4029829 w 4545444"/>
                <a:gd name="connsiteY73" fmla="*/ 982194 h 5630150"/>
                <a:gd name="connsiteX74" fmla="*/ 4087808 w 4545444"/>
                <a:gd name="connsiteY74" fmla="*/ 593511 h 5630150"/>
                <a:gd name="connsiteX75" fmla="*/ 4093474 w 4545444"/>
                <a:gd name="connsiteY75" fmla="*/ 622281 h 5630150"/>
                <a:gd name="connsiteX76" fmla="*/ 4089935 w 4545444"/>
                <a:gd name="connsiteY76" fmla="*/ 852043 h 5630150"/>
                <a:gd name="connsiteX77" fmla="*/ 4087219 w 4545444"/>
                <a:gd name="connsiteY77" fmla="*/ 864013 h 5630150"/>
                <a:gd name="connsiteX78" fmla="*/ 4061852 w 4545444"/>
                <a:gd name="connsiteY78" fmla="*/ 860755 h 5630150"/>
                <a:gd name="connsiteX79" fmla="*/ 4075471 w 4545444"/>
                <a:gd name="connsiteY79" fmla="*/ 761421 h 5630150"/>
                <a:gd name="connsiteX80" fmla="*/ 4074987 w 4545444"/>
                <a:gd name="connsiteY80" fmla="*/ 646404 h 5630150"/>
                <a:gd name="connsiteX81" fmla="*/ 4067029 w 4545444"/>
                <a:gd name="connsiteY81" fmla="*/ 597339 h 5630150"/>
                <a:gd name="connsiteX82" fmla="*/ 4011395 w 4545444"/>
                <a:gd name="connsiteY82" fmla="*/ 373947 h 5630150"/>
                <a:gd name="connsiteX83" fmla="*/ 4028427 w 4545444"/>
                <a:gd name="connsiteY83" fmla="*/ 404785 h 5630150"/>
                <a:gd name="connsiteX84" fmla="*/ 4078941 w 4545444"/>
                <a:gd name="connsiteY84" fmla="*/ 548501 h 5630150"/>
                <a:gd name="connsiteX85" fmla="*/ 4080499 w 4545444"/>
                <a:gd name="connsiteY85" fmla="*/ 556408 h 5630150"/>
                <a:gd name="connsiteX86" fmla="*/ 4060972 w 4545444"/>
                <a:gd name="connsiteY86" fmla="*/ 560005 h 5630150"/>
                <a:gd name="connsiteX87" fmla="*/ 4057716 w 4545444"/>
                <a:gd name="connsiteY87" fmla="*/ 539931 h 5630150"/>
                <a:gd name="connsiteX88" fmla="*/ 4025964 w 4545444"/>
                <a:gd name="connsiteY88" fmla="*/ 440563 h 5630150"/>
                <a:gd name="connsiteX89" fmla="*/ 3997595 w 4545444"/>
                <a:gd name="connsiteY89" fmla="*/ 380051 h 5630150"/>
                <a:gd name="connsiteX90" fmla="*/ 3901155 w 4545444"/>
                <a:gd name="connsiteY90" fmla="*/ 197856 h 5630150"/>
                <a:gd name="connsiteX91" fmla="*/ 3951662 w 4545444"/>
                <a:gd name="connsiteY91" fmla="*/ 265789 h 5630150"/>
                <a:gd name="connsiteX92" fmla="*/ 3997798 w 4545444"/>
                <a:gd name="connsiteY92" fmla="*/ 349324 h 5630150"/>
                <a:gd name="connsiteX93" fmla="*/ 3985699 w 4545444"/>
                <a:gd name="connsiteY93" fmla="*/ 354676 h 5630150"/>
                <a:gd name="connsiteX94" fmla="*/ 3982036 w 4545444"/>
                <a:gd name="connsiteY94" fmla="*/ 346863 h 5630150"/>
                <a:gd name="connsiteX95" fmla="*/ 3928236 w 4545444"/>
                <a:gd name="connsiteY95" fmla="*/ 257395 h 5630150"/>
                <a:gd name="connsiteX96" fmla="*/ 3891077 w 4545444"/>
                <a:gd name="connsiteY96" fmla="*/ 204911 h 5630150"/>
                <a:gd name="connsiteX97" fmla="*/ 3831079 w 4545444"/>
                <a:gd name="connsiteY97" fmla="*/ 108914 h 5630150"/>
                <a:gd name="connsiteX98" fmla="*/ 3851464 w 4545444"/>
                <a:gd name="connsiteY98" fmla="*/ 131023 h 5630150"/>
                <a:gd name="connsiteX99" fmla="*/ 3891271 w 4545444"/>
                <a:gd name="connsiteY99" fmla="*/ 184563 h 5630150"/>
                <a:gd name="connsiteX100" fmla="*/ 3881402 w 4545444"/>
                <a:gd name="connsiteY100" fmla="*/ 191248 h 5630150"/>
                <a:gd name="connsiteX101" fmla="*/ 3866868 w 4545444"/>
                <a:gd name="connsiteY101" fmla="*/ 170720 h 5630150"/>
                <a:gd name="connsiteX102" fmla="*/ 3823189 w 4545444"/>
                <a:gd name="connsiteY102" fmla="*/ 115974 h 5630150"/>
                <a:gd name="connsiteX103" fmla="*/ 3730658 w 4545444"/>
                <a:gd name="connsiteY103" fmla="*/ 0 h 5630150"/>
                <a:gd name="connsiteX104" fmla="*/ 3822781 w 4545444"/>
                <a:gd name="connsiteY104" fmla="*/ 99914 h 5630150"/>
                <a:gd name="connsiteX105" fmla="*/ 3814969 w 4545444"/>
                <a:gd name="connsiteY105" fmla="*/ 105670 h 563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545444" h="5630150">
                  <a:moveTo>
                    <a:pt x="2256537" y="5459202"/>
                  </a:moveTo>
                  <a:lnTo>
                    <a:pt x="2494614" y="5490324"/>
                  </a:lnTo>
                  <a:cubicBezTo>
                    <a:pt x="3248051" y="5573048"/>
                    <a:pt x="4008214" y="5552417"/>
                    <a:pt x="4501279" y="5522041"/>
                  </a:cubicBezTo>
                  <a:cubicBezTo>
                    <a:pt x="4524421" y="5522041"/>
                    <a:pt x="4542935" y="5538242"/>
                    <a:pt x="4545249" y="5561385"/>
                  </a:cubicBezTo>
                  <a:cubicBezTo>
                    <a:pt x="4547563" y="5584529"/>
                    <a:pt x="4529049" y="5605358"/>
                    <a:pt x="4505907" y="5607672"/>
                  </a:cubicBezTo>
                  <a:cubicBezTo>
                    <a:pt x="3998668" y="5636023"/>
                    <a:pt x="3202626" y="5653742"/>
                    <a:pt x="2419318" y="5557726"/>
                  </a:cubicBezTo>
                  <a:lnTo>
                    <a:pt x="2235390" y="5531069"/>
                  </a:lnTo>
                  <a:close/>
                  <a:moveTo>
                    <a:pt x="618660" y="4907146"/>
                  </a:moveTo>
                  <a:lnTo>
                    <a:pt x="632400" y="4917588"/>
                  </a:lnTo>
                  <a:cubicBezTo>
                    <a:pt x="956939" y="5146045"/>
                    <a:pt x="1389337" y="5295867"/>
                    <a:pt x="1856847" y="5391925"/>
                  </a:cubicBezTo>
                  <a:lnTo>
                    <a:pt x="2034852" y="5423658"/>
                  </a:lnTo>
                  <a:lnTo>
                    <a:pt x="2014093" y="5495358"/>
                  </a:lnTo>
                  <a:lnTo>
                    <a:pt x="1758065" y="5445168"/>
                  </a:lnTo>
                  <a:cubicBezTo>
                    <a:pt x="1328685" y="5348354"/>
                    <a:pt x="931595" y="5204783"/>
                    <a:pt x="623058" y="4995217"/>
                  </a:cubicBezTo>
                  <a:lnTo>
                    <a:pt x="574601" y="4959683"/>
                  </a:lnTo>
                  <a:close/>
                  <a:moveTo>
                    <a:pt x="56894" y="3655972"/>
                  </a:moveTo>
                  <a:lnTo>
                    <a:pt x="114769" y="3681320"/>
                  </a:lnTo>
                  <a:lnTo>
                    <a:pt x="80108" y="3791413"/>
                  </a:lnTo>
                  <a:cubicBezTo>
                    <a:pt x="36211" y="3992545"/>
                    <a:pt x="66151" y="4215012"/>
                    <a:pt x="203845" y="4459754"/>
                  </a:cubicBezTo>
                  <a:cubicBezTo>
                    <a:pt x="264592" y="4567588"/>
                    <a:pt x="341815" y="4665151"/>
                    <a:pt x="432817" y="4753361"/>
                  </a:cubicBezTo>
                  <a:lnTo>
                    <a:pt x="437043" y="4757128"/>
                  </a:lnTo>
                  <a:lnTo>
                    <a:pt x="393339" y="4809243"/>
                  </a:lnTo>
                  <a:lnTo>
                    <a:pt x="316280" y="4730599"/>
                  </a:lnTo>
                  <a:cubicBezTo>
                    <a:pt x="228451" y="4632436"/>
                    <a:pt x="156043" y="4523978"/>
                    <a:pt x="102021" y="4404210"/>
                  </a:cubicBezTo>
                  <a:cubicBezTo>
                    <a:pt x="-16002" y="4141676"/>
                    <a:pt x="-25657" y="3905829"/>
                    <a:pt x="42457" y="3693267"/>
                  </a:cubicBezTo>
                  <a:close/>
                  <a:moveTo>
                    <a:pt x="929004" y="2786814"/>
                  </a:moveTo>
                  <a:lnTo>
                    <a:pt x="956746" y="2834023"/>
                  </a:lnTo>
                  <a:lnTo>
                    <a:pt x="807170" y="2926453"/>
                  </a:lnTo>
                  <a:cubicBezTo>
                    <a:pt x="608715" y="3055790"/>
                    <a:pt x="424743" y="3204817"/>
                    <a:pt x="289168" y="3374474"/>
                  </a:cubicBezTo>
                  <a:lnTo>
                    <a:pt x="202845" y="3497409"/>
                  </a:lnTo>
                  <a:lnTo>
                    <a:pt x="145829" y="3472437"/>
                  </a:lnTo>
                  <a:lnTo>
                    <a:pt x="199129" y="3391464"/>
                  </a:lnTo>
                  <a:cubicBezTo>
                    <a:pt x="360399" y="3169649"/>
                    <a:pt x="606694" y="2977213"/>
                    <a:pt x="889422" y="2808754"/>
                  </a:cubicBezTo>
                  <a:close/>
                  <a:moveTo>
                    <a:pt x="1866690" y="2342652"/>
                  </a:moveTo>
                  <a:lnTo>
                    <a:pt x="1887488" y="2393291"/>
                  </a:lnTo>
                  <a:lnTo>
                    <a:pt x="1840098" y="2412028"/>
                  </a:lnTo>
                  <a:cubicBezTo>
                    <a:pt x="1736774" y="2453321"/>
                    <a:pt x="1640084" y="2493135"/>
                    <a:pt x="1553013" y="2531900"/>
                  </a:cubicBezTo>
                  <a:cubicBezTo>
                    <a:pt x="1462182" y="2572691"/>
                    <a:pt x="1364371" y="2618110"/>
                    <a:pt x="1263822" y="2668275"/>
                  </a:cubicBezTo>
                  <a:lnTo>
                    <a:pt x="1050436" y="2783374"/>
                  </a:lnTo>
                  <a:lnTo>
                    <a:pt x="1022313" y="2735091"/>
                  </a:lnTo>
                  <a:lnTo>
                    <a:pt x="1139549" y="2670106"/>
                  </a:lnTo>
                  <a:cubicBezTo>
                    <a:pt x="1310738" y="2581420"/>
                    <a:pt x="1489289" y="2500060"/>
                    <a:pt x="1666136" y="2425016"/>
                  </a:cubicBezTo>
                  <a:close/>
                  <a:moveTo>
                    <a:pt x="2691412" y="2019045"/>
                  </a:moveTo>
                  <a:lnTo>
                    <a:pt x="2709493" y="2058447"/>
                  </a:lnTo>
                  <a:lnTo>
                    <a:pt x="2515802" y="2143103"/>
                  </a:lnTo>
                  <a:cubicBezTo>
                    <a:pt x="2338903" y="2216486"/>
                    <a:pt x="2163509" y="2284612"/>
                    <a:pt x="1999688" y="2348928"/>
                  </a:cubicBezTo>
                  <a:lnTo>
                    <a:pt x="1967235" y="2361760"/>
                  </a:lnTo>
                  <a:lnTo>
                    <a:pt x="1946919" y="2310047"/>
                  </a:lnTo>
                  <a:lnTo>
                    <a:pt x="2182498" y="2217829"/>
                  </a:lnTo>
                  <a:cubicBezTo>
                    <a:pt x="2346871" y="2154412"/>
                    <a:pt x="2500473" y="2096303"/>
                    <a:pt x="2634236" y="2042495"/>
                  </a:cubicBezTo>
                  <a:close/>
                  <a:moveTo>
                    <a:pt x="3419929" y="1652893"/>
                  </a:moveTo>
                  <a:lnTo>
                    <a:pt x="3435936" y="1679865"/>
                  </a:lnTo>
                  <a:lnTo>
                    <a:pt x="3366230" y="1725659"/>
                  </a:lnTo>
                  <a:cubicBezTo>
                    <a:pt x="3212281" y="1820595"/>
                    <a:pt x="3043056" y="1907857"/>
                    <a:pt x="2868625" y="1988895"/>
                  </a:cubicBezTo>
                  <a:lnTo>
                    <a:pt x="2779467" y="2027864"/>
                  </a:lnTo>
                  <a:lnTo>
                    <a:pt x="2761652" y="1989574"/>
                  </a:lnTo>
                  <a:lnTo>
                    <a:pt x="2818870" y="1964884"/>
                  </a:lnTo>
                  <a:cubicBezTo>
                    <a:pt x="2942679" y="1909918"/>
                    <a:pt x="3080517" y="1845984"/>
                    <a:pt x="3218283" y="1771311"/>
                  </a:cubicBezTo>
                  <a:close/>
                  <a:moveTo>
                    <a:pt x="3856693" y="1280930"/>
                  </a:moveTo>
                  <a:lnTo>
                    <a:pt x="3878857" y="1298486"/>
                  </a:lnTo>
                  <a:lnTo>
                    <a:pt x="3876698" y="1301552"/>
                  </a:lnTo>
                  <a:cubicBezTo>
                    <a:pt x="3781380" y="1419528"/>
                    <a:pt x="3657364" y="1527897"/>
                    <a:pt x="3514716" y="1628110"/>
                  </a:cubicBezTo>
                  <a:lnTo>
                    <a:pt x="3492103" y="1642966"/>
                  </a:lnTo>
                  <a:lnTo>
                    <a:pt x="3475028" y="1614196"/>
                  </a:lnTo>
                  <a:lnTo>
                    <a:pt x="3617263" y="1513296"/>
                  </a:lnTo>
                  <a:cubicBezTo>
                    <a:pt x="3679023" y="1464333"/>
                    <a:pt x="3737239" y="1412242"/>
                    <a:pt x="3790149" y="1356801"/>
                  </a:cubicBezTo>
                  <a:close/>
                  <a:moveTo>
                    <a:pt x="4049529" y="911879"/>
                  </a:moveTo>
                  <a:lnTo>
                    <a:pt x="4075412" y="916031"/>
                  </a:lnTo>
                  <a:lnTo>
                    <a:pt x="4071869" y="931641"/>
                  </a:lnTo>
                  <a:cubicBezTo>
                    <a:pt x="4049346" y="1012031"/>
                    <a:pt x="4013278" y="1094833"/>
                    <a:pt x="3962076" y="1180319"/>
                  </a:cubicBezTo>
                  <a:lnTo>
                    <a:pt x="3914053" y="1248509"/>
                  </a:lnTo>
                  <a:lnTo>
                    <a:pt x="3893587" y="1232095"/>
                  </a:lnTo>
                  <a:lnTo>
                    <a:pt x="3931196" y="1180211"/>
                  </a:lnTo>
                  <a:cubicBezTo>
                    <a:pt x="3971731" y="1117849"/>
                    <a:pt x="4005196" y="1051917"/>
                    <a:pt x="4029829" y="982194"/>
                  </a:cubicBezTo>
                  <a:close/>
                  <a:moveTo>
                    <a:pt x="4087808" y="593511"/>
                  </a:moveTo>
                  <a:lnTo>
                    <a:pt x="4093474" y="622281"/>
                  </a:lnTo>
                  <a:cubicBezTo>
                    <a:pt x="4104254" y="696733"/>
                    <a:pt x="4103603" y="773228"/>
                    <a:pt x="4089935" y="852043"/>
                  </a:cubicBezTo>
                  <a:lnTo>
                    <a:pt x="4087219" y="864013"/>
                  </a:lnTo>
                  <a:lnTo>
                    <a:pt x="4061852" y="860755"/>
                  </a:lnTo>
                  <a:lnTo>
                    <a:pt x="4075471" y="761421"/>
                  </a:lnTo>
                  <a:cubicBezTo>
                    <a:pt x="4078364" y="721499"/>
                    <a:pt x="4078075" y="683239"/>
                    <a:pt x="4074987" y="646404"/>
                  </a:cubicBezTo>
                  <a:lnTo>
                    <a:pt x="4067029" y="597339"/>
                  </a:lnTo>
                  <a:close/>
                  <a:moveTo>
                    <a:pt x="4011395" y="373947"/>
                  </a:moveTo>
                  <a:lnTo>
                    <a:pt x="4028427" y="404785"/>
                  </a:lnTo>
                  <a:cubicBezTo>
                    <a:pt x="4049797" y="451877"/>
                    <a:pt x="4066792" y="499755"/>
                    <a:pt x="4078941" y="548501"/>
                  </a:cubicBezTo>
                  <a:lnTo>
                    <a:pt x="4080499" y="556408"/>
                  </a:lnTo>
                  <a:lnTo>
                    <a:pt x="4060972" y="560005"/>
                  </a:lnTo>
                  <a:lnTo>
                    <a:pt x="4057716" y="539931"/>
                  </a:lnTo>
                  <a:cubicBezTo>
                    <a:pt x="4049418" y="505704"/>
                    <a:pt x="4038706" y="472661"/>
                    <a:pt x="4025964" y="440563"/>
                  </a:cubicBezTo>
                  <a:lnTo>
                    <a:pt x="3997595" y="380051"/>
                  </a:lnTo>
                  <a:close/>
                  <a:moveTo>
                    <a:pt x="3901155" y="197856"/>
                  </a:moveTo>
                  <a:lnTo>
                    <a:pt x="3951662" y="265789"/>
                  </a:lnTo>
                  <a:lnTo>
                    <a:pt x="3997798" y="349324"/>
                  </a:lnTo>
                  <a:lnTo>
                    <a:pt x="3985699" y="354676"/>
                  </a:lnTo>
                  <a:lnTo>
                    <a:pt x="3982036" y="346863"/>
                  </a:lnTo>
                  <a:cubicBezTo>
                    <a:pt x="3965620" y="316415"/>
                    <a:pt x="3947559" y="286672"/>
                    <a:pt x="3928236" y="257395"/>
                  </a:cubicBezTo>
                  <a:lnTo>
                    <a:pt x="3891077" y="204911"/>
                  </a:lnTo>
                  <a:close/>
                  <a:moveTo>
                    <a:pt x="3831079" y="108914"/>
                  </a:moveTo>
                  <a:lnTo>
                    <a:pt x="3851464" y="131023"/>
                  </a:lnTo>
                  <a:lnTo>
                    <a:pt x="3891271" y="184563"/>
                  </a:lnTo>
                  <a:lnTo>
                    <a:pt x="3881402" y="191248"/>
                  </a:lnTo>
                  <a:lnTo>
                    <a:pt x="3866868" y="170720"/>
                  </a:lnTo>
                  <a:lnTo>
                    <a:pt x="3823189" y="115974"/>
                  </a:lnTo>
                  <a:close/>
                  <a:moveTo>
                    <a:pt x="3730658" y="0"/>
                  </a:moveTo>
                  <a:lnTo>
                    <a:pt x="3822781" y="99914"/>
                  </a:lnTo>
                  <a:lnTo>
                    <a:pt x="3814969" y="1056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6" name="Freeform 21"/>
            <p:cNvSpPr/>
            <p:nvPr/>
          </p:nvSpPr>
          <p:spPr bwMode="auto">
            <a:xfrm>
              <a:off x="10527058" y="5580009"/>
              <a:ext cx="471838" cy="430541"/>
            </a:xfrm>
            <a:custGeom>
              <a:avLst/>
              <a:gdLst>
                <a:gd name="T0" fmla="*/ 0 w 537"/>
                <a:gd name="T1" fmla="*/ 490 h 490"/>
                <a:gd name="T2" fmla="*/ 339 w 537"/>
                <a:gd name="T3" fmla="*/ 0 h 490"/>
                <a:gd name="T4" fmla="*/ 537 w 537"/>
                <a:gd name="T5" fmla="*/ 130 h 490"/>
                <a:gd name="T6" fmla="*/ 433 w 537"/>
                <a:gd name="T7" fmla="*/ 426 h 490"/>
                <a:gd name="T8" fmla="*/ 0 w 537"/>
                <a:gd name="T9" fmla="*/ 49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7" h="490">
                  <a:moveTo>
                    <a:pt x="0" y="490"/>
                  </a:moveTo>
                  <a:lnTo>
                    <a:pt x="339" y="0"/>
                  </a:lnTo>
                  <a:lnTo>
                    <a:pt x="537" y="130"/>
                  </a:lnTo>
                  <a:lnTo>
                    <a:pt x="433" y="426"/>
                  </a:lnTo>
                  <a:lnTo>
                    <a:pt x="0" y="49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grpSp>
        <p:nvGrpSpPr>
          <p:cNvPr id="167" name="Group 8"/>
          <p:cNvGrpSpPr/>
          <p:nvPr/>
        </p:nvGrpSpPr>
        <p:grpSpPr>
          <a:xfrm>
            <a:off x="9582057" y="1705815"/>
            <a:ext cx="216149" cy="187154"/>
            <a:chOff x="9322422" y="1072507"/>
            <a:chExt cx="216149" cy="187154"/>
          </a:xfrm>
        </p:grpSpPr>
        <p:sp>
          <p:nvSpPr>
            <p:cNvPr id="168" name="Freeform 22"/>
            <p:cNvSpPr/>
            <p:nvPr/>
          </p:nvSpPr>
          <p:spPr bwMode="auto">
            <a:xfrm>
              <a:off x="9467400" y="1081293"/>
              <a:ext cx="36024" cy="43054"/>
            </a:xfrm>
            <a:custGeom>
              <a:avLst/>
              <a:gdLst>
                <a:gd name="T0" fmla="*/ 41 w 41"/>
                <a:gd name="T1" fmla="*/ 0 h 49"/>
                <a:gd name="T2" fmla="*/ 0 w 41"/>
                <a:gd name="T3" fmla="*/ 0 h 49"/>
                <a:gd name="T4" fmla="*/ 0 w 41"/>
                <a:gd name="T5" fmla="*/ 16 h 49"/>
                <a:gd name="T6" fmla="*/ 41 w 41"/>
                <a:gd name="T7" fmla="*/ 49 h 49"/>
                <a:gd name="T8" fmla="*/ 41 w 41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9">
                  <a:moveTo>
                    <a:pt x="41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41" y="49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9" name="Freeform 23"/>
            <p:cNvSpPr/>
            <p:nvPr/>
          </p:nvSpPr>
          <p:spPr bwMode="auto">
            <a:xfrm>
              <a:off x="9357568" y="1118197"/>
              <a:ext cx="145857" cy="141464"/>
            </a:xfrm>
            <a:custGeom>
              <a:avLst/>
              <a:gdLst>
                <a:gd name="T0" fmla="*/ 166 w 166"/>
                <a:gd name="T1" fmla="*/ 85 h 161"/>
                <a:gd name="T2" fmla="*/ 166 w 166"/>
                <a:gd name="T3" fmla="*/ 69 h 161"/>
                <a:gd name="T4" fmla="*/ 125 w 166"/>
                <a:gd name="T5" fmla="*/ 36 h 161"/>
                <a:gd name="T6" fmla="*/ 83 w 166"/>
                <a:gd name="T7" fmla="*/ 0 h 161"/>
                <a:gd name="T8" fmla="*/ 0 w 166"/>
                <a:gd name="T9" fmla="*/ 69 h 161"/>
                <a:gd name="T10" fmla="*/ 0 w 166"/>
                <a:gd name="T11" fmla="*/ 161 h 161"/>
                <a:gd name="T12" fmla="*/ 52 w 166"/>
                <a:gd name="T13" fmla="*/ 161 h 161"/>
                <a:gd name="T14" fmla="*/ 52 w 166"/>
                <a:gd name="T15" fmla="*/ 69 h 161"/>
                <a:gd name="T16" fmla="*/ 114 w 166"/>
                <a:gd name="T17" fmla="*/ 69 h 161"/>
                <a:gd name="T18" fmla="*/ 114 w 166"/>
                <a:gd name="T19" fmla="*/ 161 h 161"/>
                <a:gd name="T20" fmla="*/ 166 w 166"/>
                <a:gd name="T21" fmla="*/ 161 h 161"/>
                <a:gd name="T22" fmla="*/ 166 w 166"/>
                <a:gd name="T23" fmla="*/ 85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6" h="161">
                  <a:moveTo>
                    <a:pt x="166" y="85"/>
                  </a:moveTo>
                  <a:lnTo>
                    <a:pt x="166" y="69"/>
                  </a:lnTo>
                  <a:lnTo>
                    <a:pt x="125" y="36"/>
                  </a:lnTo>
                  <a:lnTo>
                    <a:pt x="83" y="0"/>
                  </a:lnTo>
                  <a:lnTo>
                    <a:pt x="0" y="69"/>
                  </a:lnTo>
                  <a:lnTo>
                    <a:pt x="0" y="161"/>
                  </a:lnTo>
                  <a:lnTo>
                    <a:pt x="52" y="161"/>
                  </a:lnTo>
                  <a:lnTo>
                    <a:pt x="52" y="69"/>
                  </a:lnTo>
                  <a:lnTo>
                    <a:pt x="114" y="69"/>
                  </a:lnTo>
                  <a:lnTo>
                    <a:pt x="114" y="161"/>
                  </a:lnTo>
                  <a:lnTo>
                    <a:pt x="166" y="161"/>
                  </a:lnTo>
                  <a:lnTo>
                    <a:pt x="166" y="85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70" name="Freeform 24"/>
            <p:cNvSpPr/>
            <p:nvPr/>
          </p:nvSpPr>
          <p:spPr bwMode="auto">
            <a:xfrm>
              <a:off x="9322422" y="1072507"/>
              <a:ext cx="216149" cy="109832"/>
            </a:xfrm>
            <a:custGeom>
              <a:avLst/>
              <a:gdLst>
                <a:gd name="T0" fmla="*/ 40 w 246"/>
                <a:gd name="T1" fmla="*/ 111 h 125"/>
                <a:gd name="T2" fmla="*/ 123 w 246"/>
                <a:gd name="T3" fmla="*/ 45 h 125"/>
                <a:gd name="T4" fmla="*/ 165 w 246"/>
                <a:gd name="T5" fmla="*/ 78 h 125"/>
                <a:gd name="T6" fmla="*/ 206 w 246"/>
                <a:gd name="T7" fmla="*/ 111 h 125"/>
                <a:gd name="T8" fmla="*/ 224 w 246"/>
                <a:gd name="T9" fmla="*/ 125 h 125"/>
                <a:gd name="T10" fmla="*/ 246 w 246"/>
                <a:gd name="T11" fmla="*/ 102 h 125"/>
                <a:gd name="T12" fmla="*/ 206 w 246"/>
                <a:gd name="T13" fmla="*/ 69 h 125"/>
                <a:gd name="T14" fmla="*/ 165 w 246"/>
                <a:gd name="T15" fmla="*/ 36 h 125"/>
                <a:gd name="T16" fmla="*/ 123 w 246"/>
                <a:gd name="T17" fmla="*/ 0 h 125"/>
                <a:gd name="T18" fmla="*/ 0 w 246"/>
                <a:gd name="T19" fmla="*/ 102 h 125"/>
                <a:gd name="T20" fmla="*/ 21 w 246"/>
                <a:gd name="T21" fmla="*/ 125 h 125"/>
                <a:gd name="T22" fmla="*/ 40 w 246"/>
                <a:gd name="T23" fmla="*/ 11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6" h="125">
                  <a:moveTo>
                    <a:pt x="40" y="111"/>
                  </a:moveTo>
                  <a:lnTo>
                    <a:pt x="123" y="45"/>
                  </a:lnTo>
                  <a:lnTo>
                    <a:pt x="165" y="78"/>
                  </a:lnTo>
                  <a:lnTo>
                    <a:pt x="206" y="111"/>
                  </a:lnTo>
                  <a:lnTo>
                    <a:pt x="224" y="125"/>
                  </a:lnTo>
                  <a:lnTo>
                    <a:pt x="246" y="102"/>
                  </a:lnTo>
                  <a:lnTo>
                    <a:pt x="206" y="69"/>
                  </a:lnTo>
                  <a:lnTo>
                    <a:pt x="165" y="36"/>
                  </a:lnTo>
                  <a:lnTo>
                    <a:pt x="123" y="0"/>
                  </a:lnTo>
                  <a:lnTo>
                    <a:pt x="0" y="102"/>
                  </a:lnTo>
                  <a:lnTo>
                    <a:pt x="21" y="125"/>
                  </a:lnTo>
                  <a:lnTo>
                    <a:pt x="40" y="111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sp>
        <p:nvSpPr>
          <p:cNvPr id="171" name="Freeform 25"/>
          <p:cNvSpPr/>
          <p:nvPr/>
        </p:nvSpPr>
        <p:spPr bwMode="auto">
          <a:xfrm>
            <a:off x="8758757" y="2001043"/>
            <a:ext cx="681837" cy="238994"/>
          </a:xfrm>
          <a:custGeom>
            <a:avLst/>
            <a:gdLst>
              <a:gd name="T0" fmla="*/ 250 w 328"/>
              <a:gd name="T1" fmla="*/ 65 h 115"/>
              <a:gd name="T2" fmla="*/ 274 w 328"/>
              <a:gd name="T3" fmla="*/ 115 h 115"/>
              <a:gd name="T4" fmla="*/ 165 w 328"/>
              <a:gd name="T5" fmla="*/ 65 h 115"/>
              <a:gd name="T6" fmla="*/ 24 w 328"/>
              <a:gd name="T7" fmla="*/ 33 h 115"/>
              <a:gd name="T8" fmla="*/ 122 w 328"/>
              <a:gd name="T9" fmla="*/ 0 h 115"/>
              <a:gd name="T10" fmla="*/ 308 w 328"/>
              <a:gd name="T11" fmla="*/ 33 h 115"/>
              <a:gd name="T12" fmla="*/ 250 w 328"/>
              <a:gd name="T13" fmla="*/ 65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8" h="115">
                <a:moveTo>
                  <a:pt x="250" y="65"/>
                </a:moveTo>
                <a:cubicBezTo>
                  <a:pt x="274" y="115"/>
                  <a:pt x="274" y="115"/>
                  <a:pt x="274" y="115"/>
                </a:cubicBezTo>
                <a:cubicBezTo>
                  <a:pt x="165" y="65"/>
                  <a:pt x="165" y="65"/>
                  <a:pt x="165" y="65"/>
                </a:cubicBezTo>
                <a:cubicBezTo>
                  <a:pt x="102" y="61"/>
                  <a:pt x="44" y="48"/>
                  <a:pt x="24" y="33"/>
                </a:cubicBezTo>
                <a:cubicBezTo>
                  <a:pt x="0" y="15"/>
                  <a:pt x="44" y="0"/>
                  <a:pt x="122" y="0"/>
                </a:cubicBezTo>
                <a:cubicBezTo>
                  <a:pt x="201" y="0"/>
                  <a:pt x="284" y="15"/>
                  <a:pt x="308" y="33"/>
                </a:cubicBezTo>
                <a:cubicBezTo>
                  <a:pt x="328" y="48"/>
                  <a:pt x="302" y="61"/>
                  <a:pt x="250" y="65"/>
                </a:cubicBezTo>
                <a:close/>
              </a:path>
            </a:pathLst>
          </a:custGeom>
          <a:solidFill>
            <a:srgbClr val="D0DB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172" name="Group 13"/>
          <p:cNvGrpSpPr/>
          <p:nvPr/>
        </p:nvGrpSpPr>
        <p:grpSpPr>
          <a:xfrm>
            <a:off x="8557545" y="2241795"/>
            <a:ext cx="201212" cy="168702"/>
            <a:chOff x="8297910" y="1608487"/>
            <a:chExt cx="201212" cy="168702"/>
          </a:xfrm>
        </p:grpSpPr>
        <p:sp>
          <p:nvSpPr>
            <p:cNvPr id="173" name="Freeform 29"/>
            <p:cNvSpPr/>
            <p:nvPr/>
          </p:nvSpPr>
          <p:spPr bwMode="auto">
            <a:xfrm>
              <a:off x="8297910" y="1725348"/>
              <a:ext cx="201212" cy="51841"/>
            </a:xfrm>
            <a:custGeom>
              <a:avLst/>
              <a:gdLst>
                <a:gd name="T0" fmla="*/ 149 w 229"/>
                <a:gd name="T1" fmla="*/ 31 h 59"/>
                <a:gd name="T2" fmla="*/ 78 w 229"/>
                <a:gd name="T3" fmla="*/ 31 h 59"/>
                <a:gd name="T4" fmla="*/ 78 w 229"/>
                <a:gd name="T5" fmla="*/ 0 h 59"/>
                <a:gd name="T6" fmla="*/ 0 w 229"/>
                <a:gd name="T7" fmla="*/ 0 h 59"/>
                <a:gd name="T8" fmla="*/ 0 w 229"/>
                <a:gd name="T9" fmla="*/ 59 h 59"/>
                <a:gd name="T10" fmla="*/ 229 w 229"/>
                <a:gd name="T11" fmla="*/ 59 h 59"/>
                <a:gd name="T12" fmla="*/ 229 w 229"/>
                <a:gd name="T13" fmla="*/ 0 h 59"/>
                <a:gd name="T14" fmla="*/ 149 w 229"/>
                <a:gd name="T15" fmla="*/ 0 h 59"/>
                <a:gd name="T16" fmla="*/ 149 w 229"/>
                <a:gd name="T17" fmla="*/ 3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59">
                  <a:moveTo>
                    <a:pt x="149" y="31"/>
                  </a:moveTo>
                  <a:lnTo>
                    <a:pt x="78" y="31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59"/>
                  </a:lnTo>
                  <a:lnTo>
                    <a:pt x="229" y="59"/>
                  </a:lnTo>
                  <a:lnTo>
                    <a:pt x="229" y="0"/>
                  </a:lnTo>
                  <a:lnTo>
                    <a:pt x="149" y="0"/>
                  </a:lnTo>
                  <a:lnTo>
                    <a:pt x="149" y="31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74" name="Rectangle 30"/>
            <p:cNvSpPr>
              <a:spLocks noChangeArrowheads="1"/>
            </p:cNvSpPr>
            <p:nvPr/>
          </p:nvSpPr>
          <p:spPr bwMode="auto">
            <a:xfrm>
              <a:off x="8378746" y="1725348"/>
              <a:ext cx="37782" cy="16694"/>
            </a:xfrm>
            <a:prstGeom prst="rect">
              <a:avLst/>
            </a:pr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75" name="Freeform 31"/>
            <p:cNvSpPr>
              <a:spLocks noEditPoints="1"/>
            </p:cNvSpPr>
            <p:nvPr/>
          </p:nvSpPr>
          <p:spPr bwMode="auto">
            <a:xfrm>
              <a:off x="8297910" y="1608487"/>
              <a:ext cx="201212" cy="106317"/>
            </a:xfrm>
            <a:custGeom>
              <a:avLst/>
              <a:gdLst>
                <a:gd name="T0" fmla="*/ 170 w 229"/>
                <a:gd name="T1" fmla="*/ 0 h 121"/>
                <a:gd name="T2" fmla="*/ 114 w 229"/>
                <a:gd name="T3" fmla="*/ 0 h 121"/>
                <a:gd name="T4" fmla="*/ 114 w 229"/>
                <a:gd name="T5" fmla="*/ 19 h 121"/>
                <a:gd name="T6" fmla="*/ 151 w 229"/>
                <a:gd name="T7" fmla="*/ 19 h 121"/>
                <a:gd name="T8" fmla="*/ 151 w 229"/>
                <a:gd name="T9" fmla="*/ 43 h 121"/>
                <a:gd name="T10" fmla="*/ 114 w 229"/>
                <a:gd name="T11" fmla="*/ 43 h 121"/>
                <a:gd name="T12" fmla="*/ 114 w 229"/>
                <a:gd name="T13" fmla="*/ 121 h 121"/>
                <a:gd name="T14" fmla="*/ 149 w 229"/>
                <a:gd name="T15" fmla="*/ 121 h 121"/>
                <a:gd name="T16" fmla="*/ 229 w 229"/>
                <a:gd name="T17" fmla="*/ 121 h 121"/>
                <a:gd name="T18" fmla="*/ 229 w 229"/>
                <a:gd name="T19" fmla="*/ 43 h 121"/>
                <a:gd name="T20" fmla="*/ 170 w 229"/>
                <a:gd name="T21" fmla="*/ 43 h 121"/>
                <a:gd name="T22" fmla="*/ 170 w 229"/>
                <a:gd name="T23" fmla="*/ 0 h 121"/>
                <a:gd name="T24" fmla="*/ 114 w 229"/>
                <a:gd name="T25" fmla="*/ 0 h 121"/>
                <a:gd name="T26" fmla="*/ 57 w 229"/>
                <a:gd name="T27" fmla="*/ 0 h 121"/>
                <a:gd name="T28" fmla="*/ 57 w 229"/>
                <a:gd name="T29" fmla="*/ 43 h 121"/>
                <a:gd name="T30" fmla="*/ 0 w 229"/>
                <a:gd name="T31" fmla="*/ 43 h 121"/>
                <a:gd name="T32" fmla="*/ 0 w 229"/>
                <a:gd name="T33" fmla="*/ 121 h 121"/>
                <a:gd name="T34" fmla="*/ 78 w 229"/>
                <a:gd name="T35" fmla="*/ 121 h 121"/>
                <a:gd name="T36" fmla="*/ 114 w 229"/>
                <a:gd name="T37" fmla="*/ 121 h 121"/>
                <a:gd name="T38" fmla="*/ 114 w 229"/>
                <a:gd name="T39" fmla="*/ 43 h 121"/>
                <a:gd name="T40" fmla="*/ 78 w 229"/>
                <a:gd name="T41" fmla="*/ 43 h 121"/>
                <a:gd name="T42" fmla="*/ 78 w 229"/>
                <a:gd name="T43" fmla="*/ 43 h 121"/>
                <a:gd name="T44" fmla="*/ 78 w 229"/>
                <a:gd name="T45" fmla="*/ 19 h 121"/>
                <a:gd name="T46" fmla="*/ 114 w 229"/>
                <a:gd name="T47" fmla="*/ 19 h 121"/>
                <a:gd name="T48" fmla="*/ 114 w 229"/>
                <a:gd name="T4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9" h="121">
                  <a:moveTo>
                    <a:pt x="170" y="0"/>
                  </a:moveTo>
                  <a:lnTo>
                    <a:pt x="114" y="0"/>
                  </a:lnTo>
                  <a:lnTo>
                    <a:pt x="114" y="19"/>
                  </a:lnTo>
                  <a:lnTo>
                    <a:pt x="151" y="19"/>
                  </a:lnTo>
                  <a:lnTo>
                    <a:pt x="151" y="43"/>
                  </a:lnTo>
                  <a:lnTo>
                    <a:pt x="114" y="43"/>
                  </a:lnTo>
                  <a:lnTo>
                    <a:pt x="114" y="121"/>
                  </a:lnTo>
                  <a:lnTo>
                    <a:pt x="149" y="121"/>
                  </a:lnTo>
                  <a:lnTo>
                    <a:pt x="229" y="121"/>
                  </a:lnTo>
                  <a:lnTo>
                    <a:pt x="229" y="43"/>
                  </a:lnTo>
                  <a:lnTo>
                    <a:pt x="170" y="43"/>
                  </a:lnTo>
                  <a:lnTo>
                    <a:pt x="170" y="0"/>
                  </a:lnTo>
                  <a:close/>
                  <a:moveTo>
                    <a:pt x="114" y="0"/>
                  </a:moveTo>
                  <a:lnTo>
                    <a:pt x="57" y="0"/>
                  </a:lnTo>
                  <a:lnTo>
                    <a:pt x="57" y="43"/>
                  </a:lnTo>
                  <a:lnTo>
                    <a:pt x="0" y="43"/>
                  </a:lnTo>
                  <a:lnTo>
                    <a:pt x="0" y="121"/>
                  </a:lnTo>
                  <a:lnTo>
                    <a:pt x="78" y="121"/>
                  </a:lnTo>
                  <a:lnTo>
                    <a:pt x="114" y="121"/>
                  </a:lnTo>
                  <a:lnTo>
                    <a:pt x="114" y="43"/>
                  </a:lnTo>
                  <a:lnTo>
                    <a:pt x="78" y="43"/>
                  </a:lnTo>
                  <a:lnTo>
                    <a:pt x="78" y="43"/>
                  </a:lnTo>
                  <a:lnTo>
                    <a:pt x="78" y="19"/>
                  </a:lnTo>
                  <a:lnTo>
                    <a:pt x="114" y="19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sp>
        <p:nvSpPr>
          <p:cNvPr id="176" name="Freeform 32"/>
          <p:cNvSpPr/>
          <p:nvPr/>
        </p:nvSpPr>
        <p:spPr bwMode="auto">
          <a:xfrm>
            <a:off x="7620899" y="2456186"/>
            <a:ext cx="915558" cy="376064"/>
          </a:xfrm>
          <a:custGeom>
            <a:avLst/>
            <a:gdLst>
              <a:gd name="T0" fmla="*/ 333 w 441"/>
              <a:gd name="T1" fmla="*/ 102 h 181"/>
              <a:gd name="T2" fmla="*/ 356 w 441"/>
              <a:gd name="T3" fmla="*/ 181 h 181"/>
              <a:gd name="T4" fmla="*/ 217 w 441"/>
              <a:gd name="T5" fmla="*/ 102 h 181"/>
              <a:gd name="T6" fmla="*/ 30 w 441"/>
              <a:gd name="T7" fmla="*/ 52 h 181"/>
              <a:gd name="T8" fmla="*/ 170 w 441"/>
              <a:gd name="T9" fmla="*/ 0 h 181"/>
              <a:gd name="T10" fmla="*/ 417 w 441"/>
              <a:gd name="T11" fmla="*/ 52 h 181"/>
              <a:gd name="T12" fmla="*/ 333 w 441"/>
              <a:gd name="T13" fmla="*/ 10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1" h="181">
                <a:moveTo>
                  <a:pt x="333" y="102"/>
                </a:moveTo>
                <a:cubicBezTo>
                  <a:pt x="356" y="181"/>
                  <a:pt x="356" y="181"/>
                  <a:pt x="356" y="181"/>
                </a:cubicBezTo>
                <a:cubicBezTo>
                  <a:pt x="217" y="102"/>
                  <a:pt x="217" y="102"/>
                  <a:pt x="217" y="102"/>
                </a:cubicBezTo>
                <a:cubicBezTo>
                  <a:pt x="132" y="95"/>
                  <a:pt x="54" y="76"/>
                  <a:pt x="30" y="52"/>
                </a:cubicBezTo>
                <a:cubicBezTo>
                  <a:pt x="0" y="23"/>
                  <a:pt x="63" y="0"/>
                  <a:pt x="170" y="0"/>
                </a:cubicBezTo>
                <a:cubicBezTo>
                  <a:pt x="277" y="0"/>
                  <a:pt x="387" y="23"/>
                  <a:pt x="417" y="52"/>
                </a:cubicBezTo>
                <a:cubicBezTo>
                  <a:pt x="441" y="76"/>
                  <a:pt x="405" y="95"/>
                  <a:pt x="333" y="102"/>
                </a:cubicBezTo>
                <a:close/>
              </a:path>
            </a:pathLst>
          </a:custGeom>
          <a:solidFill>
            <a:srgbClr val="D0DB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185" name="Group 26"/>
          <p:cNvGrpSpPr/>
          <p:nvPr/>
        </p:nvGrpSpPr>
        <p:grpSpPr>
          <a:xfrm>
            <a:off x="9033776" y="1219918"/>
            <a:ext cx="589578" cy="1020118"/>
            <a:chOff x="8774141" y="586610"/>
            <a:chExt cx="589578" cy="1020118"/>
          </a:xfrm>
        </p:grpSpPr>
        <p:sp>
          <p:nvSpPr>
            <p:cNvPr id="186" name="Oval 27"/>
            <p:cNvSpPr>
              <a:spLocks noChangeArrowheads="1"/>
            </p:cNvSpPr>
            <p:nvPr/>
          </p:nvSpPr>
          <p:spPr bwMode="auto">
            <a:xfrm>
              <a:off x="8774141" y="586610"/>
              <a:ext cx="589578" cy="5895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87" name="Freeform 26"/>
            <p:cNvSpPr/>
            <p:nvPr/>
          </p:nvSpPr>
          <p:spPr bwMode="auto">
            <a:xfrm>
              <a:off x="8969203" y="1008364"/>
              <a:ext cx="199454" cy="598364"/>
            </a:xfrm>
            <a:custGeom>
              <a:avLst/>
              <a:gdLst>
                <a:gd name="T0" fmla="*/ 113 w 227"/>
                <a:gd name="T1" fmla="*/ 681 h 681"/>
                <a:gd name="T2" fmla="*/ 0 w 227"/>
                <a:gd name="T3" fmla="*/ 113 h 681"/>
                <a:gd name="T4" fmla="*/ 94 w 227"/>
                <a:gd name="T5" fmla="*/ 0 h 681"/>
                <a:gd name="T6" fmla="*/ 227 w 227"/>
                <a:gd name="T7" fmla="*/ 113 h 681"/>
                <a:gd name="T8" fmla="*/ 113 w 227"/>
                <a:gd name="T9" fmla="*/ 681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681">
                  <a:moveTo>
                    <a:pt x="113" y="681"/>
                  </a:moveTo>
                  <a:lnTo>
                    <a:pt x="0" y="113"/>
                  </a:lnTo>
                  <a:lnTo>
                    <a:pt x="94" y="0"/>
                  </a:lnTo>
                  <a:lnTo>
                    <a:pt x="227" y="113"/>
                  </a:lnTo>
                  <a:lnTo>
                    <a:pt x="113" y="6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88" name="Oval 28"/>
            <p:cNvSpPr>
              <a:spLocks noChangeArrowheads="1"/>
            </p:cNvSpPr>
            <p:nvPr/>
          </p:nvSpPr>
          <p:spPr bwMode="auto">
            <a:xfrm>
              <a:off x="8836526" y="650752"/>
              <a:ext cx="464808" cy="46305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89" name="TextBox 30"/>
            <p:cNvSpPr txBox="1"/>
            <p:nvPr/>
          </p:nvSpPr>
          <p:spPr>
            <a:xfrm>
              <a:off x="8818940" y="693183"/>
              <a:ext cx="5020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36772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01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36772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190" name="Group 31"/>
          <p:cNvGrpSpPr/>
          <p:nvPr/>
        </p:nvGrpSpPr>
        <p:grpSpPr>
          <a:xfrm>
            <a:off x="7959181" y="1439582"/>
            <a:ext cx="803970" cy="1392669"/>
            <a:chOff x="7699546" y="806274"/>
            <a:chExt cx="803970" cy="1392669"/>
          </a:xfrm>
        </p:grpSpPr>
        <p:sp>
          <p:nvSpPr>
            <p:cNvPr id="191" name="Freeform 33"/>
            <p:cNvSpPr/>
            <p:nvPr/>
          </p:nvSpPr>
          <p:spPr bwMode="auto">
            <a:xfrm>
              <a:off x="7965778" y="1380036"/>
              <a:ext cx="271504" cy="818907"/>
            </a:xfrm>
            <a:custGeom>
              <a:avLst/>
              <a:gdLst>
                <a:gd name="T0" fmla="*/ 153 w 309"/>
                <a:gd name="T1" fmla="*/ 932 h 932"/>
                <a:gd name="T2" fmla="*/ 0 w 309"/>
                <a:gd name="T3" fmla="*/ 156 h 932"/>
                <a:gd name="T4" fmla="*/ 127 w 309"/>
                <a:gd name="T5" fmla="*/ 0 h 932"/>
                <a:gd name="T6" fmla="*/ 309 w 309"/>
                <a:gd name="T7" fmla="*/ 156 h 932"/>
                <a:gd name="T8" fmla="*/ 153 w 309"/>
                <a:gd name="T9" fmla="*/ 93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932">
                  <a:moveTo>
                    <a:pt x="153" y="932"/>
                  </a:moveTo>
                  <a:lnTo>
                    <a:pt x="0" y="156"/>
                  </a:lnTo>
                  <a:lnTo>
                    <a:pt x="127" y="0"/>
                  </a:lnTo>
                  <a:lnTo>
                    <a:pt x="309" y="156"/>
                  </a:lnTo>
                  <a:lnTo>
                    <a:pt x="153" y="9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92" name="Oval 34"/>
            <p:cNvSpPr>
              <a:spLocks noChangeArrowheads="1"/>
            </p:cNvSpPr>
            <p:nvPr/>
          </p:nvSpPr>
          <p:spPr bwMode="auto">
            <a:xfrm>
              <a:off x="7699546" y="806274"/>
              <a:ext cx="803970" cy="8048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93" name="Oval 35"/>
            <p:cNvSpPr>
              <a:spLocks noChangeArrowheads="1"/>
            </p:cNvSpPr>
            <p:nvPr/>
          </p:nvSpPr>
          <p:spPr bwMode="auto">
            <a:xfrm>
              <a:off x="7784775" y="891503"/>
              <a:ext cx="633511" cy="63439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94" name="TextBox 35"/>
            <p:cNvSpPr txBox="1"/>
            <p:nvPr/>
          </p:nvSpPr>
          <p:spPr>
            <a:xfrm>
              <a:off x="7820043" y="977865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5C8B6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02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5C8B6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10" name="Group 51"/>
          <p:cNvGrpSpPr/>
          <p:nvPr/>
        </p:nvGrpSpPr>
        <p:grpSpPr>
          <a:xfrm>
            <a:off x="1811642" y="1907437"/>
            <a:ext cx="4379234" cy="800682"/>
            <a:chOff x="1811642" y="1907437"/>
            <a:chExt cx="3502279" cy="800682"/>
          </a:xfrm>
        </p:grpSpPr>
        <p:sp>
          <p:nvSpPr>
            <p:cNvPr id="211" name="TextBox 52"/>
            <p:cNvSpPr txBox="1"/>
            <p:nvPr/>
          </p:nvSpPr>
          <p:spPr>
            <a:xfrm>
              <a:off x="1811642" y="190743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Roboto Light"/>
                  <a:ea typeface="+mn-ea"/>
                </a:rPr>
                <a:t>中断跳转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Light"/>
                <a:ea typeface="+mn-ea"/>
              </a:endParaRPr>
            </a:p>
          </p:txBody>
        </p:sp>
        <p:sp>
          <p:nvSpPr>
            <p:cNvPr id="212" name="TextBox 53"/>
            <p:cNvSpPr txBox="1"/>
            <p:nvPr/>
          </p:nvSpPr>
          <p:spPr>
            <a:xfrm>
              <a:off x="1811643" y="2277745"/>
              <a:ext cx="3502278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+mn-cs"/>
                </a:rPr>
                <a:t>跳转到该中断所对应的中断服务程序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13" name="Group 66"/>
          <p:cNvGrpSpPr/>
          <p:nvPr/>
        </p:nvGrpSpPr>
        <p:grpSpPr>
          <a:xfrm>
            <a:off x="1100743" y="1959819"/>
            <a:ext cx="622647" cy="622647"/>
            <a:chOff x="1100743" y="1959819"/>
            <a:chExt cx="622647" cy="622647"/>
          </a:xfrm>
        </p:grpSpPr>
        <p:sp>
          <p:nvSpPr>
            <p:cNvPr id="214" name="Oval 67"/>
            <p:cNvSpPr/>
            <p:nvPr/>
          </p:nvSpPr>
          <p:spPr>
            <a:xfrm>
              <a:off x="1100743" y="1959819"/>
              <a:ext cx="622647" cy="6226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grpSp>
          <p:nvGrpSpPr>
            <p:cNvPr id="215" name="Group 68"/>
            <p:cNvGrpSpPr/>
            <p:nvPr/>
          </p:nvGrpSpPr>
          <p:grpSpPr>
            <a:xfrm>
              <a:off x="1236606" y="2119219"/>
              <a:ext cx="350920" cy="303846"/>
              <a:chOff x="9322422" y="1072507"/>
              <a:chExt cx="216149" cy="187154"/>
            </a:xfrm>
            <a:solidFill>
              <a:schemeClr val="bg1"/>
            </a:solidFill>
          </p:grpSpPr>
          <p:sp>
            <p:nvSpPr>
              <p:cNvPr id="216" name="Freeform 22"/>
              <p:cNvSpPr/>
              <p:nvPr/>
            </p:nvSpPr>
            <p:spPr bwMode="auto">
              <a:xfrm>
                <a:off x="9467400" y="1081293"/>
                <a:ext cx="36024" cy="43054"/>
              </a:xfrm>
              <a:custGeom>
                <a:avLst/>
                <a:gdLst>
                  <a:gd name="T0" fmla="*/ 41 w 41"/>
                  <a:gd name="T1" fmla="*/ 0 h 49"/>
                  <a:gd name="T2" fmla="*/ 0 w 41"/>
                  <a:gd name="T3" fmla="*/ 0 h 49"/>
                  <a:gd name="T4" fmla="*/ 0 w 41"/>
                  <a:gd name="T5" fmla="*/ 16 h 49"/>
                  <a:gd name="T6" fmla="*/ 41 w 41"/>
                  <a:gd name="T7" fmla="*/ 49 h 49"/>
                  <a:gd name="T8" fmla="*/ 41 w 41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9">
                    <a:moveTo>
                      <a:pt x="41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41" y="49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217" name="Freeform 23"/>
              <p:cNvSpPr/>
              <p:nvPr/>
            </p:nvSpPr>
            <p:spPr bwMode="auto">
              <a:xfrm>
                <a:off x="9357568" y="1118197"/>
                <a:ext cx="145857" cy="141464"/>
              </a:xfrm>
              <a:custGeom>
                <a:avLst/>
                <a:gdLst>
                  <a:gd name="T0" fmla="*/ 166 w 166"/>
                  <a:gd name="T1" fmla="*/ 85 h 161"/>
                  <a:gd name="T2" fmla="*/ 166 w 166"/>
                  <a:gd name="T3" fmla="*/ 69 h 161"/>
                  <a:gd name="T4" fmla="*/ 125 w 166"/>
                  <a:gd name="T5" fmla="*/ 36 h 161"/>
                  <a:gd name="T6" fmla="*/ 83 w 166"/>
                  <a:gd name="T7" fmla="*/ 0 h 161"/>
                  <a:gd name="T8" fmla="*/ 0 w 166"/>
                  <a:gd name="T9" fmla="*/ 69 h 161"/>
                  <a:gd name="T10" fmla="*/ 0 w 166"/>
                  <a:gd name="T11" fmla="*/ 161 h 161"/>
                  <a:gd name="T12" fmla="*/ 52 w 166"/>
                  <a:gd name="T13" fmla="*/ 161 h 161"/>
                  <a:gd name="T14" fmla="*/ 52 w 166"/>
                  <a:gd name="T15" fmla="*/ 69 h 161"/>
                  <a:gd name="T16" fmla="*/ 114 w 166"/>
                  <a:gd name="T17" fmla="*/ 69 h 161"/>
                  <a:gd name="T18" fmla="*/ 114 w 166"/>
                  <a:gd name="T19" fmla="*/ 161 h 161"/>
                  <a:gd name="T20" fmla="*/ 166 w 166"/>
                  <a:gd name="T21" fmla="*/ 161 h 161"/>
                  <a:gd name="T22" fmla="*/ 166 w 166"/>
                  <a:gd name="T23" fmla="*/ 8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6" h="161">
                    <a:moveTo>
                      <a:pt x="166" y="85"/>
                    </a:moveTo>
                    <a:lnTo>
                      <a:pt x="166" y="69"/>
                    </a:lnTo>
                    <a:lnTo>
                      <a:pt x="125" y="36"/>
                    </a:lnTo>
                    <a:lnTo>
                      <a:pt x="83" y="0"/>
                    </a:lnTo>
                    <a:lnTo>
                      <a:pt x="0" y="69"/>
                    </a:lnTo>
                    <a:lnTo>
                      <a:pt x="0" y="161"/>
                    </a:lnTo>
                    <a:lnTo>
                      <a:pt x="52" y="161"/>
                    </a:lnTo>
                    <a:lnTo>
                      <a:pt x="52" y="69"/>
                    </a:lnTo>
                    <a:lnTo>
                      <a:pt x="114" y="69"/>
                    </a:lnTo>
                    <a:lnTo>
                      <a:pt x="114" y="161"/>
                    </a:lnTo>
                    <a:lnTo>
                      <a:pt x="166" y="161"/>
                    </a:lnTo>
                    <a:lnTo>
                      <a:pt x="166" y="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218" name="Freeform 24"/>
              <p:cNvSpPr/>
              <p:nvPr/>
            </p:nvSpPr>
            <p:spPr bwMode="auto">
              <a:xfrm>
                <a:off x="9322422" y="1072507"/>
                <a:ext cx="216149" cy="109832"/>
              </a:xfrm>
              <a:custGeom>
                <a:avLst/>
                <a:gdLst>
                  <a:gd name="T0" fmla="*/ 40 w 246"/>
                  <a:gd name="T1" fmla="*/ 111 h 125"/>
                  <a:gd name="T2" fmla="*/ 123 w 246"/>
                  <a:gd name="T3" fmla="*/ 45 h 125"/>
                  <a:gd name="T4" fmla="*/ 165 w 246"/>
                  <a:gd name="T5" fmla="*/ 78 h 125"/>
                  <a:gd name="T6" fmla="*/ 206 w 246"/>
                  <a:gd name="T7" fmla="*/ 111 h 125"/>
                  <a:gd name="T8" fmla="*/ 224 w 246"/>
                  <a:gd name="T9" fmla="*/ 125 h 125"/>
                  <a:gd name="T10" fmla="*/ 246 w 246"/>
                  <a:gd name="T11" fmla="*/ 102 h 125"/>
                  <a:gd name="T12" fmla="*/ 206 w 246"/>
                  <a:gd name="T13" fmla="*/ 69 h 125"/>
                  <a:gd name="T14" fmla="*/ 165 w 246"/>
                  <a:gd name="T15" fmla="*/ 36 h 125"/>
                  <a:gd name="T16" fmla="*/ 123 w 246"/>
                  <a:gd name="T17" fmla="*/ 0 h 125"/>
                  <a:gd name="T18" fmla="*/ 0 w 246"/>
                  <a:gd name="T19" fmla="*/ 102 h 125"/>
                  <a:gd name="T20" fmla="*/ 21 w 246"/>
                  <a:gd name="T21" fmla="*/ 125 h 125"/>
                  <a:gd name="T22" fmla="*/ 40 w 246"/>
                  <a:gd name="T23" fmla="*/ 111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6" h="125">
                    <a:moveTo>
                      <a:pt x="40" y="111"/>
                    </a:moveTo>
                    <a:lnTo>
                      <a:pt x="123" y="45"/>
                    </a:lnTo>
                    <a:lnTo>
                      <a:pt x="165" y="78"/>
                    </a:lnTo>
                    <a:lnTo>
                      <a:pt x="206" y="111"/>
                    </a:lnTo>
                    <a:lnTo>
                      <a:pt x="224" y="125"/>
                    </a:lnTo>
                    <a:lnTo>
                      <a:pt x="246" y="102"/>
                    </a:lnTo>
                    <a:lnTo>
                      <a:pt x="206" y="69"/>
                    </a:lnTo>
                    <a:lnTo>
                      <a:pt x="165" y="36"/>
                    </a:lnTo>
                    <a:lnTo>
                      <a:pt x="123" y="0"/>
                    </a:lnTo>
                    <a:lnTo>
                      <a:pt x="0" y="102"/>
                    </a:lnTo>
                    <a:lnTo>
                      <a:pt x="21" y="125"/>
                    </a:lnTo>
                    <a:lnTo>
                      <a:pt x="4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9" name="Group 54"/>
          <p:cNvGrpSpPr/>
          <p:nvPr/>
        </p:nvGrpSpPr>
        <p:grpSpPr>
          <a:xfrm>
            <a:off x="1811641" y="2790688"/>
            <a:ext cx="4308845" cy="1247963"/>
            <a:chOff x="1811642" y="2790688"/>
            <a:chExt cx="3502278" cy="1247963"/>
          </a:xfrm>
        </p:grpSpPr>
        <p:sp>
          <p:nvSpPr>
            <p:cNvPr id="70" name="TextBox 55"/>
            <p:cNvSpPr txBox="1"/>
            <p:nvPr/>
          </p:nvSpPr>
          <p:spPr>
            <a:xfrm>
              <a:off x="1814754" y="2790688"/>
              <a:ext cx="2646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rPr>
                <a:t>执行中断服务程序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1" name="TextBox 56"/>
            <p:cNvSpPr txBox="1"/>
            <p:nvPr/>
          </p:nvSpPr>
          <p:spPr>
            <a:xfrm>
              <a:off x="1811642" y="3207654"/>
              <a:ext cx="350227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noProof="0" dirty="0">
                  <a:latin typeface="+mn-ea"/>
                  <a:ea typeface="+mn-ea"/>
                </a:rPr>
                <a:t>执行在</a:t>
              </a:r>
              <a:r>
                <a:rPr lang="en-US" altLang="zh-CN" sz="2000" b="1" dirty="0">
                  <a:latin typeface="+mn-ea"/>
                  <a:ea typeface="+mn-ea"/>
                </a:rPr>
                <a:t>stm32f4xx_it.c</a:t>
              </a:r>
              <a:r>
                <a:rPr lang="zh-CN" altLang="en-US" sz="2000" b="1" dirty="0">
                  <a:latin typeface="+mn-ea"/>
                  <a:ea typeface="+mn-ea"/>
                </a:rPr>
                <a:t>中对应的中断服务程序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100743" y="2816840"/>
            <a:ext cx="622647" cy="622647"/>
            <a:chOff x="1100743" y="2816840"/>
            <a:chExt cx="622647" cy="622647"/>
          </a:xfrm>
        </p:grpSpPr>
        <p:sp>
          <p:nvSpPr>
            <p:cNvPr id="73" name="Oval 73"/>
            <p:cNvSpPr/>
            <p:nvPr/>
          </p:nvSpPr>
          <p:spPr>
            <a:xfrm>
              <a:off x="1100743" y="2816840"/>
              <a:ext cx="622647" cy="6226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1248731" y="2973201"/>
              <a:ext cx="326670" cy="273890"/>
              <a:chOff x="8297910" y="1608487"/>
              <a:chExt cx="201212" cy="168702"/>
            </a:xfrm>
            <a:solidFill>
              <a:schemeClr val="bg1"/>
            </a:solidFill>
          </p:grpSpPr>
          <p:sp>
            <p:nvSpPr>
              <p:cNvPr id="75" name="Freeform 29"/>
              <p:cNvSpPr/>
              <p:nvPr/>
            </p:nvSpPr>
            <p:spPr bwMode="auto">
              <a:xfrm>
                <a:off x="8297910" y="1725348"/>
                <a:ext cx="201212" cy="51841"/>
              </a:xfrm>
              <a:custGeom>
                <a:avLst/>
                <a:gdLst>
                  <a:gd name="T0" fmla="*/ 149 w 229"/>
                  <a:gd name="T1" fmla="*/ 31 h 59"/>
                  <a:gd name="T2" fmla="*/ 78 w 229"/>
                  <a:gd name="T3" fmla="*/ 31 h 59"/>
                  <a:gd name="T4" fmla="*/ 78 w 229"/>
                  <a:gd name="T5" fmla="*/ 0 h 59"/>
                  <a:gd name="T6" fmla="*/ 0 w 229"/>
                  <a:gd name="T7" fmla="*/ 0 h 59"/>
                  <a:gd name="T8" fmla="*/ 0 w 229"/>
                  <a:gd name="T9" fmla="*/ 59 h 59"/>
                  <a:gd name="T10" fmla="*/ 229 w 229"/>
                  <a:gd name="T11" fmla="*/ 59 h 59"/>
                  <a:gd name="T12" fmla="*/ 229 w 229"/>
                  <a:gd name="T13" fmla="*/ 0 h 59"/>
                  <a:gd name="T14" fmla="*/ 149 w 229"/>
                  <a:gd name="T15" fmla="*/ 0 h 59"/>
                  <a:gd name="T16" fmla="*/ 149 w 229"/>
                  <a:gd name="T17" fmla="*/ 3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9" h="59">
                    <a:moveTo>
                      <a:pt x="149" y="31"/>
                    </a:moveTo>
                    <a:lnTo>
                      <a:pt x="78" y="31"/>
                    </a:lnTo>
                    <a:lnTo>
                      <a:pt x="78" y="0"/>
                    </a:lnTo>
                    <a:lnTo>
                      <a:pt x="0" y="0"/>
                    </a:lnTo>
                    <a:lnTo>
                      <a:pt x="0" y="59"/>
                    </a:lnTo>
                    <a:lnTo>
                      <a:pt x="229" y="59"/>
                    </a:lnTo>
                    <a:lnTo>
                      <a:pt x="229" y="0"/>
                    </a:lnTo>
                    <a:lnTo>
                      <a:pt x="149" y="0"/>
                    </a:lnTo>
                    <a:lnTo>
                      <a:pt x="149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76" name="Rectangle 30"/>
              <p:cNvSpPr>
                <a:spLocks noChangeArrowheads="1"/>
              </p:cNvSpPr>
              <p:nvPr/>
            </p:nvSpPr>
            <p:spPr bwMode="auto">
              <a:xfrm>
                <a:off x="8378746" y="1725348"/>
                <a:ext cx="37782" cy="166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77" name="Freeform 31"/>
              <p:cNvSpPr>
                <a:spLocks noEditPoints="1"/>
              </p:cNvSpPr>
              <p:nvPr/>
            </p:nvSpPr>
            <p:spPr bwMode="auto">
              <a:xfrm>
                <a:off x="8297910" y="1608487"/>
                <a:ext cx="201212" cy="106317"/>
              </a:xfrm>
              <a:custGeom>
                <a:avLst/>
                <a:gdLst>
                  <a:gd name="T0" fmla="*/ 170 w 229"/>
                  <a:gd name="T1" fmla="*/ 0 h 121"/>
                  <a:gd name="T2" fmla="*/ 114 w 229"/>
                  <a:gd name="T3" fmla="*/ 0 h 121"/>
                  <a:gd name="T4" fmla="*/ 114 w 229"/>
                  <a:gd name="T5" fmla="*/ 19 h 121"/>
                  <a:gd name="T6" fmla="*/ 151 w 229"/>
                  <a:gd name="T7" fmla="*/ 19 h 121"/>
                  <a:gd name="T8" fmla="*/ 151 w 229"/>
                  <a:gd name="T9" fmla="*/ 43 h 121"/>
                  <a:gd name="T10" fmla="*/ 114 w 229"/>
                  <a:gd name="T11" fmla="*/ 43 h 121"/>
                  <a:gd name="T12" fmla="*/ 114 w 229"/>
                  <a:gd name="T13" fmla="*/ 121 h 121"/>
                  <a:gd name="T14" fmla="*/ 149 w 229"/>
                  <a:gd name="T15" fmla="*/ 121 h 121"/>
                  <a:gd name="T16" fmla="*/ 229 w 229"/>
                  <a:gd name="T17" fmla="*/ 121 h 121"/>
                  <a:gd name="T18" fmla="*/ 229 w 229"/>
                  <a:gd name="T19" fmla="*/ 43 h 121"/>
                  <a:gd name="T20" fmla="*/ 170 w 229"/>
                  <a:gd name="T21" fmla="*/ 43 h 121"/>
                  <a:gd name="T22" fmla="*/ 170 w 229"/>
                  <a:gd name="T23" fmla="*/ 0 h 121"/>
                  <a:gd name="T24" fmla="*/ 114 w 229"/>
                  <a:gd name="T25" fmla="*/ 0 h 121"/>
                  <a:gd name="T26" fmla="*/ 57 w 229"/>
                  <a:gd name="T27" fmla="*/ 0 h 121"/>
                  <a:gd name="T28" fmla="*/ 57 w 229"/>
                  <a:gd name="T29" fmla="*/ 43 h 121"/>
                  <a:gd name="T30" fmla="*/ 0 w 229"/>
                  <a:gd name="T31" fmla="*/ 43 h 121"/>
                  <a:gd name="T32" fmla="*/ 0 w 229"/>
                  <a:gd name="T33" fmla="*/ 121 h 121"/>
                  <a:gd name="T34" fmla="*/ 78 w 229"/>
                  <a:gd name="T35" fmla="*/ 121 h 121"/>
                  <a:gd name="T36" fmla="*/ 114 w 229"/>
                  <a:gd name="T37" fmla="*/ 121 h 121"/>
                  <a:gd name="T38" fmla="*/ 114 w 229"/>
                  <a:gd name="T39" fmla="*/ 43 h 121"/>
                  <a:gd name="T40" fmla="*/ 78 w 229"/>
                  <a:gd name="T41" fmla="*/ 43 h 121"/>
                  <a:gd name="T42" fmla="*/ 78 w 229"/>
                  <a:gd name="T43" fmla="*/ 43 h 121"/>
                  <a:gd name="T44" fmla="*/ 78 w 229"/>
                  <a:gd name="T45" fmla="*/ 19 h 121"/>
                  <a:gd name="T46" fmla="*/ 114 w 229"/>
                  <a:gd name="T47" fmla="*/ 19 h 121"/>
                  <a:gd name="T48" fmla="*/ 114 w 229"/>
                  <a:gd name="T49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29" h="121">
                    <a:moveTo>
                      <a:pt x="170" y="0"/>
                    </a:moveTo>
                    <a:lnTo>
                      <a:pt x="114" y="0"/>
                    </a:lnTo>
                    <a:lnTo>
                      <a:pt x="114" y="19"/>
                    </a:lnTo>
                    <a:lnTo>
                      <a:pt x="151" y="19"/>
                    </a:lnTo>
                    <a:lnTo>
                      <a:pt x="151" y="43"/>
                    </a:lnTo>
                    <a:lnTo>
                      <a:pt x="114" y="43"/>
                    </a:lnTo>
                    <a:lnTo>
                      <a:pt x="114" y="121"/>
                    </a:lnTo>
                    <a:lnTo>
                      <a:pt x="149" y="121"/>
                    </a:lnTo>
                    <a:lnTo>
                      <a:pt x="229" y="121"/>
                    </a:lnTo>
                    <a:lnTo>
                      <a:pt x="229" y="43"/>
                    </a:lnTo>
                    <a:lnTo>
                      <a:pt x="170" y="43"/>
                    </a:lnTo>
                    <a:lnTo>
                      <a:pt x="170" y="0"/>
                    </a:lnTo>
                    <a:close/>
                    <a:moveTo>
                      <a:pt x="114" y="0"/>
                    </a:moveTo>
                    <a:lnTo>
                      <a:pt x="57" y="0"/>
                    </a:lnTo>
                    <a:lnTo>
                      <a:pt x="57" y="43"/>
                    </a:lnTo>
                    <a:lnTo>
                      <a:pt x="0" y="43"/>
                    </a:lnTo>
                    <a:lnTo>
                      <a:pt x="0" y="121"/>
                    </a:lnTo>
                    <a:lnTo>
                      <a:pt x="78" y="121"/>
                    </a:lnTo>
                    <a:lnTo>
                      <a:pt x="114" y="121"/>
                    </a:lnTo>
                    <a:lnTo>
                      <a:pt x="114" y="43"/>
                    </a:lnTo>
                    <a:lnTo>
                      <a:pt x="78" y="43"/>
                    </a:lnTo>
                    <a:lnTo>
                      <a:pt x="78" y="43"/>
                    </a:lnTo>
                    <a:lnTo>
                      <a:pt x="78" y="19"/>
                    </a:lnTo>
                    <a:lnTo>
                      <a:pt x="114" y="19"/>
                    </a:lnTo>
                    <a:lnTo>
                      <a:pt x="11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</p:grpSp>
      </p:grpSp>
      <p:sp>
        <p:nvSpPr>
          <p:cNvPr id="55" name="Freeform 36"/>
          <p:cNvSpPr/>
          <p:nvPr/>
        </p:nvSpPr>
        <p:spPr bwMode="auto">
          <a:xfrm>
            <a:off x="6355635" y="3158232"/>
            <a:ext cx="1098319" cy="424391"/>
          </a:xfrm>
          <a:custGeom>
            <a:avLst/>
            <a:gdLst>
              <a:gd name="T0" fmla="*/ 393 w 529"/>
              <a:gd name="T1" fmla="*/ 116 h 204"/>
              <a:gd name="T2" fmla="*/ 408 w 529"/>
              <a:gd name="T3" fmla="*/ 204 h 204"/>
              <a:gd name="T4" fmla="*/ 251 w 529"/>
              <a:gd name="T5" fmla="*/ 116 h 204"/>
              <a:gd name="T6" fmla="*/ 31 w 529"/>
              <a:gd name="T7" fmla="*/ 59 h 204"/>
              <a:gd name="T8" fmla="*/ 210 w 529"/>
              <a:gd name="T9" fmla="*/ 0 h 204"/>
              <a:gd name="T10" fmla="*/ 503 w 529"/>
              <a:gd name="T11" fmla="*/ 59 h 204"/>
              <a:gd name="T12" fmla="*/ 393 w 529"/>
              <a:gd name="T13" fmla="*/ 116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9" h="204">
                <a:moveTo>
                  <a:pt x="393" y="116"/>
                </a:moveTo>
                <a:cubicBezTo>
                  <a:pt x="408" y="204"/>
                  <a:pt x="408" y="204"/>
                  <a:pt x="408" y="204"/>
                </a:cubicBezTo>
                <a:cubicBezTo>
                  <a:pt x="251" y="116"/>
                  <a:pt x="251" y="116"/>
                  <a:pt x="251" y="116"/>
                </a:cubicBezTo>
                <a:cubicBezTo>
                  <a:pt x="148" y="108"/>
                  <a:pt x="57" y="86"/>
                  <a:pt x="31" y="59"/>
                </a:cubicBezTo>
                <a:cubicBezTo>
                  <a:pt x="0" y="27"/>
                  <a:pt x="80" y="0"/>
                  <a:pt x="210" y="0"/>
                </a:cubicBezTo>
                <a:cubicBezTo>
                  <a:pt x="340" y="0"/>
                  <a:pt x="472" y="27"/>
                  <a:pt x="503" y="59"/>
                </a:cubicBezTo>
                <a:cubicBezTo>
                  <a:pt x="529" y="86"/>
                  <a:pt x="481" y="108"/>
                  <a:pt x="393" y="116"/>
                </a:cubicBezTo>
                <a:close/>
              </a:path>
            </a:pathLst>
          </a:custGeom>
          <a:solidFill>
            <a:srgbClr val="D0DB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sp>
        <p:nvSpPr>
          <p:cNvPr id="56" name="Freeform 40"/>
          <p:cNvSpPr>
            <a:spLocks noEditPoints="1"/>
          </p:cNvSpPr>
          <p:nvPr/>
        </p:nvSpPr>
        <p:spPr bwMode="auto">
          <a:xfrm>
            <a:off x="7400356" y="2836644"/>
            <a:ext cx="182760" cy="184517"/>
          </a:xfrm>
          <a:custGeom>
            <a:avLst/>
            <a:gdLst>
              <a:gd name="T0" fmla="*/ 66 w 88"/>
              <a:gd name="T1" fmla="*/ 83 h 89"/>
              <a:gd name="T2" fmla="*/ 82 w 88"/>
              <a:gd name="T3" fmla="*/ 67 h 89"/>
              <a:gd name="T4" fmla="*/ 87 w 88"/>
              <a:gd name="T5" fmla="*/ 53 h 89"/>
              <a:gd name="T6" fmla="*/ 87 w 88"/>
              <a:gd name="T7" fmla="*/ 36 h 89"/>
              <a:gd name="T8" fmla="*/ 82 w 88"/>
              <a:gd name="T9" fmla="*/ 22 h 89"/>
              <a:gd name="T10" fmla="*/ 66 w 88"/>
              <a:gd name="T11" fmla="*/ 6 h 89"/>
              <a:gd name="T12" fmla="*/ 60 w 88"/>
              <a:gd name="T13" fmla="*/ 3 h 89"/>
              <a:gd name="T14" fmla="*/ 47 w 88"/>
              <a:gd name="T15" fmla="*/ 0 h 89"/>
              <a:gd name="T16" fmla="*/ 49 w 88"/>
              <a:gd name="T17" fmla="*/ 5 h 89"/>
              <a:gd name="T18" fmla="*/ 54 w 88"/>
              <a:gd name="T19" fmla="*/ 5 h 89"/>
              <a:gd name="T20" fmla="*/ 59 w 88"/>
              <a:gd name="T21" fmla="*/ 6 h 89"/>
              <a:gd name="T22" fmla="*/ 58 w 88"/>
              <a:gd name="T23" fmla="*/ 7 h 89"/>
              <a:gd name="T24" fmla="*/ 51 w 88"/>
              <a:gd name="T25" fmla="*/ 10 h 89"/>
              <a:gd name="T26" fmla="*/ 52 w 88"/>
              <a:gd name="T27" fmla="*/ 14 h 89"/>
              <a:gd name="T28" fmla="*/ 56 w 88"/>
              <a:gd name="T29" fmla="*/ 17 h 89"/>
              <a:gd name="T30" fmla="*/ 62 w 88"/>
              <a:gd name="T31" fmla="*/ 9 h 89"/>
              <a:gd name="T32" fmla="*/ 67 w 88"/>
              <a:gd name="T33" fmla="*/ 10 h 89"/>
              <a:gd name="T34" fmla="*/ 71 w 88"/>
              <a:gd name="T35" fmla="*/ 12 h 89"/>
              <a:gd name="T36" fmla="*/ 73 w 88"/>
              <a:gd name="T37" fmla="*/ 18 h 89"/>
              <a:gd name="T38" fmla="*/ 71 w 88"/>
              <a:gd name="T39" fmla="*/ 21 h 89"/>
              <a:gd name="T40" fmla="*/ 69 w 88"/>
              <a:gd name="T41" fmla="*/ 19 h 89"/>
              <a:gd name="T42" fmla="*/ 63 w 88"/>
              <a:gd name="T43" fmla="*/ 20 h 89"/>
              <a:gd name="T44" fmla="*/ 67 w 88"/>
              <a:gd name="T45" fmla="*/ 22 h 89"/>
              <a:gd name="T46" fmla="*/ 58 w 88"/>
              <a:gd name="T47" fmla="*/ 26 h 89"/>
              <a:gd name="T48" fmla="*/ 53 w 88"/>
              <a:gd name="T49" fmla="*/ 29 h 89"/>
              <a:gd name="T50" fmla="*/ 48 w 88"/>
              <a:gd name="T51" fmla="*/ 34 h 89"/>
              <a:gd name="T52" fmla="*/ 51 w 88"/>
              <a:gd name="T53" fmla="*/ 53 h 89"/>
              <a:gd name="T54" fmla="*/ 56 w 88"/>
              <a:gd name="T55" fmla="*/ 54 h 89"/>
              <a:gd name="T56" fmla="*/ 61 w 88"/>
              <a:gd name="T57" fmla="*/ 56 h 89"/>
              <a:gd name="T58" fmla="*/ 69 w 88"/>
              <a:gd name="T59" fmla="*/ 60 h 89"/>
              <a:gd name="T60" fmla="*/ 73 w 88"/>
              <a:gd name="T61" fmla="*/ 64 h 89"/>
              <a:gd name="T62" fmla="*/ 80 w 88"/>
              <a:gd name="T63" fmla="*/ 67 h 89"/>
              <a:gd name="T64" fmla="*/ 50 w 88"/>
              <a:gd name="T65" fmla="*/ 78 h 89"/>
              <a:gd name="T66" fmla="*/ 0 w 88"/>
              <a:gd name="T67" fmla="*/ 38 h 89"/>
              <a:gd name="T68" fmla="*/ 1 w 88"/>
              <a:gd name="T69" fmla="*/ 56 h 89"/>
              <a:gd name="T70" fmla="*/ 9 w 88"/>
              <a:gd name="T71" fmla="*/ 72 h 89"/>
              <a:gd name="T72" fmla="*/ 28 w 88"/>
              <a:gd name="T73" fmla="*/ 86 h 89"/>
              <a:gd name="T74" fmla="*/ 45 w 88"/>
              <a:gd name="T75" fmla="*/ 71 h 89"/>
              <a:gd name="T76" fmla="*/ 43 w 88"/>
              <a:gd name="T77" fmla="*/ 63 h 89"/>
              <a:gd name="T78" fmla="*/ 45 w 88"/>
              <a:gd name="T79" fmla="*/ 57 h 89"/>
              <a:gd name="T80" fmla="*/ 40 w 88"/>
              <a:gd name="T81" fmla="*/ 55 h 89"/>
              <a:gd name="T82" fmla="*/ 34 w 88"/>
              <a:gd name="T83" fmla="*/ 51 h 89"/>
              <a:gd name="T84" fmla="*/ 25 w 88"/>
              <a:gd name="T85" fmla="*/ 47 h 89"/>
              <a:gd name="T86" fmla="*/ 21 w 88"/>
              <a:gd name="T87" fmla="*/ 40 h 89"/>
              <a:gd name="T88" fmla="*/ 19 w 88"/>
              <a:gd name="T89" fmla="*/ 39 h 89"/>
              <a:gd name="T90" fmla="*/ 19 w 88"/>
              <a:gd name="T91" fmla="*/ 40 h 89"/>
              <a:gd name="T92" fmla="*/ 16 w 88"/>
              <a:gd name="T93" fmla="*/ 33 h 89"/>
              <a:gd name="T94" fmla="*/ 16 w 88"/>
              <a:gd name="T95" fmla="*/ 26 h 89"/>
              <a:gd name="T96" fmla="*/ 19 w 88"/>
              <a:gd name="T97" fmla="*/ 18 h 89"/>
              <a:gd name="T98" fmla="*/ 18 w 88"/>
              <a:gd name="T99" fmla="*/ 13 h 89"/>
              <a:gd name="T100" fmla="*/ 39 w 88"/>
              <a:gd name="T101" fmla="*/ 3 h 89"/>
              <a:gd name="T102" fmla="*/ 47 w 88"/>
              <a:gd name="T103" fmla="*/ 0 h 89"/>
              <a:gd name="T104" fmla="*/ 27 w 88"/>
              <a:gd name="T105" fmla="*/ 3 h 89"/>
              <a:gd name="T106" fmla="*/ 13 w 88"/>
              <a:gd name="T107" fmla="*/ 13 h 89"/>
              <a:gd name="T108" fmla="*/ 3 w 88"/>
              <a:gd name="T109" fmla="*/ 28 h 89"/>
              <a:gd name="T110" fmla="*/ 47 w 88"/>
              <a:gd name="T111" fmla="*/ 56 h 89"/>
              <a:gd name="T112" fmla="*/ 40 w 88"/>
              <a:gd name="T113" fmla="*/ 49 h 89"/>
              <a:gd name="T114" fmla="*/ 39 w 88"/>
              <a:gd name="T115" fmla="*/ 45 h 89"/>
              <a:gd name="T116" fmla="*/ 31 w 88"/>
              <a:gd name="T117" fmla="*/ 46 h 89"/>
              <a:gd name="T118" fmla="*/ 35 w 88"/>
              <a:gd name="T119" fmla="*/ 37 h 89"/>
              <a:gd name="T120" fmla="*/ 43 w 88"/>
              <a:gd name="T121" fmla="*/ 37 h 89"/>
              <a:gd name="T122" fmla="*/ 46 w 88"/>
              <a:gd name="T123" fmla="*/ 37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8" h="89">
                <a:moveTo>
                  <a:pt x="47" y="89"/>
                </a:moveTo>
                <a:cubicBezTo>
                  <a:pt x="49" y="89"/>
                  <a:pt x="52" y="88"/>
                  <a:pt x="54" y="88"/>
                </a:cubicBezTo>
                <a:cubicBezTo>
                  <a:pt x="55" y="87"/>
                  <a:pt x="57" y="87"/>
                  <a:pt x="58" y="86"/>
                </a:cubicBezTo>
                <a:cubicBezTo>
                  <a:pt x="59" y="86"/>
                  <a:pt x="59" y="86"/>
                  <a:pt x="60" y="86"/>
                </a:cubicBezTo>
                <a:cubicBezTo>
                  <a:pt x="61" y="85"/>
                  <a:pt x="63" y="85"/>
                  <a:pt x="64" y="84"/>
                </a:cubicBezTo>
                <a:cubicBezTo>
                  <a:pt x="65" y="84"/>
                  <a:pt x="65" y="83"/>
                  <a:pt x="66" y="83"/>
                </a:cubicBezTo>
                <a:cubicBezTo>
                  <a:pt x="69" y="81"/>
                  <a:pt x="71" y="79"/>
                  <a:pt x="74" y="77"/>
                </a:cubicBezTo>
                <a:cubicBezTo>
                  <a:pt x="74" y="77"/>
                  <a:pt x="75" y="76"/>
                  <a:pt x="75" y="76"/>
                </a:cubicBezTo>
                <a:cubicBezTo>
                  <a:pt x="76" y="75"/>
                  <a:pt x="76" y="75"/>
                  <a:pt x="77" y="74"/>
                </a:cubicBezTo>
                <a:cubicBezTo>
                  <a:pt x="77" y="73"/>
                  <a:pt x="78" y="73"/>
                  <a:pt x="79" y="72"/>
                </a:cubicBezTo>
                <a:cubicBezTo>
                  <a:pt x="80" y="71"/>
                  <a:pt x="81" y="69"/>
                  <a:pt x="82" y="68"/>
                </a:cubicBezTo>
                <a:cubicBezTo>
                  <a:pt x="82" y="67"/>
                  <a:pt x="82" y="67"/>
                  <a:pt x="82" y="67"/>
                </a:cubicBezTo>
                <a:cubicBezTo>
                  <a:pt x="83" y="66"/>
                  <a:pt x="83" y="65"/>
                  <a:pt x="83" y="65"/>
                </a:cubicBezTo>
                <a:cubicBezTo>
                  <a:pt x="84" y="64"/>
                  <a:pt x="84" y="64"/>
                  <a:pt x="84" y="64"/>
                </a:cubicBezTo>
                <a:cubicBezTo>
                  <a:pt x="84" y="63"/>
                  <a:pt x="84" y="62"/>
                  <a:pt x="85" y="62"/>
                </a:cubicBezTo>
                <a:cubicBezTo>
                  <a:pt x="85" y="61"/>
                  <a:pt x="85" y="60"/>
                  <a:pt x="86" y="60"/>
                </a:cubicBezTo>
                <a:cubicBezTo>
                  <a:pt x="86" y="58"/>
                  <a:pt x="86" y="57"/>
                  <a:pt x="87" y="56"/>
                </a:cubicBezTo>
                <a:cubicBezTo>
                  <a:pt x="87" y="55"/>
                  <a:pt x="87" y="54"/>
                  <a:pt x="87" y="53"/>
                </a:cubicBezTo>
                <a:cubicBezTo>
                  <a:pt x="87" y="53"/>
                  <a:pt x="88" y="52"/>
                  <a:pt x="88" y="51"/>
                </a:cubicBezTo>
                <a:cubicBezTo>
                  <a:pt x="88" y="50"/>
                  <a:pt x="88" y="50"/>
                  <a:pt x="88" y="49"/>
                </a:cubicBezTo>
                <a:cubicBezTo>
                  <a:pt x="88" y="47"/>
                  <a:pt x="88" y="46"/>
                  <a:pt x="88" y="44"/>
                </a:cubicBezTo>
                <a:cubicBezTo>
                  <a:pt x="88" y="43"/>
                  <a:pt x="88" y="41"/>
                  <a:pt x="88" y="40"/>
                </a:cubicBezTo>
                <a:cubicBezTo>
                  <a:pt x="88" y="39"/>
                  <a:pt x="88" y="38"/>
                  <a:pt x="88" y="38"/>
                </a:cubicBezTo>
                <a:cubicBezTo>
                  <a:pt x="88" y="37"/>
                  <a:pt x="87" y="36"/>
                  <a:pt x="87" y="36"/>
                </a:cubicBezTo>
                <a:cubicBezTo>
                  <a:pt x="87" y="35"/>
                  <a:pt x="87" y="34"/>
                  <a:pt x="87" y="33"/>
                </a:cubicBezTo>
                <a:cubicBezTo>
                  <a:pt x="86" y="32"/>
                  <a:pt x="86" y="31"/>
                  <a:pt x="86" y="29"/>
                </a:cubicBezTo>
                <a:cubicBezTo>
                  <a:pt x="85" y="29"/>
                  <a:pt x="85" y="29"/>
                  <a:pt x="85" y="28"/>
                </a:cubicBezTo>
                <a:cubicBezTo>
                  <a:pt x="85" y="27"/>
                  <a:pt x="84" y="26"/>
                  <a:pt x="84" y="25"/>
                </a:cubicBezTo>
                <a:cubicBezTo>
                  <a:pt x="84" y="25"/>
                  <a:pt x="84" y="25"/>
                  <a:pt x="83" y="24"/>
                </a:cubicBezTo>
                <a:cubicBezTo>
                  <a:pt x="83" y="24"/>
                  <a:pt x="83" y="23"/>
                  <a:pt x="82" y="22"/>
                </a:cubicBezTo>
                <a:cubicBezTo>
                  <a:pt x="81" y="21"/>
                  <a:pt x="80" y="19"/>
                  <a:pt x="79" y="17"/>
                </a:cubicBezTo>
                <a:cubicBezTo>
                  <a:pt x="78" y="16"/>
                  <a:pt x="77" y="15"/>
                  <a:pt x="77" y="15"/>
                </a:cubicBezTo>
                <a:cubicBezTo>
                  <a:pt x="76" y="14"/>
                  <a:pt x="76" y="14"/>
                  <a:pt x="75" y="13"/>
                </a:cubicBezTo>
                <a:cubicBezTo>
                  <a:pt x="75" y="13"/>
                  <a:pt x="74" y="12"/>
                  <a:pt x="74" y="12"/>
                </a:cubicBezTo>
                <a:cubicBezTo>
                  <a:pt x="73" y="11"/>
                  <a:pt x="72" y="10"/>
                  <a:pt x="71" y="9"/>
                </a:cubicBezTo>
                <a:cubicBezTo>
                  <a:pt x="69" y="8"/>
                  <a:pt x="68" y="7"/>
                  <a:pt x="66" y="6"/>
                </a:cubicBezTo>
                <a:cubicBezTo>
                  <a:pt x="65" y="6"/>
                  <a:pt x="65" y="5"/>
                  <a:pt x="64" y="5"/>
                </a:cubicBezTo>
                <a:cubicBezTo>
                  <a:pt x="64" y="5"/>
                  <a:pt x="64" y="5"/>
                  <a:pt x="63" y="5"/>
                </a:cubicBezTo>
                <a:cubicBezTo>
                  <a:pt x="63" y="4"/>
                  <a:pt x="63" y="4"/>
                  <a:pt x="62" y="4"/>
                </a:cubicBezTo>
                <a:cubicBezTo>
                  <a:pt x="62" y="4"/>
                  <a:pt x="62" y="4"/>
                  <a:pt x="62" y="4"/>
                </a:cubicBezTo>
                <a:cubicBezTo>
                  <a:pt x="61" y="4"/>
                  <a:pt x="61" y="3"/>
                  <a:pt x="60" y="3"/>
                </a:cubicBezTo>
                <a:cubicBezTo>
                  <a:pt x="60" y="3"/>
                  <a:pt x="60" y="3"/>
                  <a:pt x="60" y="3"/>
                </a:cubicBezTo>
                <a:cubicBezTo>
                  <a:pt x="60" y="3"/>
                  <a:pt x="59" y="3"/>
                  <a:pt x="58" y="3"/>
                </a:cubicBezTo>
                <a:cubicBezTo>
                  <a:pt x="58" y="3"/>
                  <a:pt x="58" y="2"/>
                  <a:pt x="58" y="2"/>
                </a:cubicBezTo>
                <a:cubicBezTo>
                  <a:pt x="57" y="2"/>
                  <a:pt x="55" y="2"/>
                  <a:pt x="54" y="1"/>
                </a:cubicBezTo>
                <a:cubicBezTo>
                  <a:pt x="54" y="1"/>
                  <a:pt x="53" y="1"/>
                  <a:pt x="53" y="1"/>
                </a:cubicBezTo>
                <a:cubicBezTo>
                  <a:pt x="53" y="1"/>
                  <a:pt x="52" y="1"/>
                  <a:pt x="52" y="1"/>
                </a:cubicBezTo>
                <a:cubicBezTo>
                  <a:pt x="50" y="1"/>
                  <a:pt x="49" y="0"/>
                  <a:pt x="47" y="0"/>
                </a:cubicBezTo>
                <a:cubicBezTo>
                  <a:pt x="47" y="3"/>
                  <a:pt x="47" y="3"/>
                  <a:pt x="47" y="3"/>
                </a:cubicBezTo>
                <a:cubicBezTo>
                  <a:pt x="49" y="3"/>
                  <a:pt x="51" y="3"/>
                  <a:pt x="52" y="3"/>
                </a:cubicBezTo>
                <a:cubicBezTo>
                  <a:pt x="52" y="4"/>
                  <a:pt x="52" y="3"/>
                  <a:pt x="51" y="4"/>
                </a:cubicBezTo>
                <a:cubicBezTo>
                  <a:pt x="51" y="4"/>
                  <a:pt x="51" y="4"/>
                  <a:pt x="51" y="4"/>
                </a:cubicBezTo>
                <a:cubicBezTo>
                  <a:pt x="50" y="4"/>
                  <a:pt x="49" y="4"/>
                  <a:pt x="48" y="4"/>
                </a:cubicBezTo>
                <a:cubicBezTo>
                  <a:pt x="48" y="4"/>
                  <a:pt x="49" y="4"/>
                  <a:pt x="49" y="5"/>
                </a:cubicBezTo>
                <a:cubicBezTo>
                  <a:pt x="50" y="5"/>
                  <a:pt x="50" y="5"/>
                  <a:pt x="51" y="5"/>
                </a:cubicBezTo>
                <a:cubicBezTo>
                  <a:pt x="52" y="5"/>
                  <a:pt x="52" y="5"/>
                  <a:pt x="53" y="5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4" y="4"/>
                  <a:pt x="54" y="5"/>
                </a:cubicBezTo>
                <a:cubicBezTo>
                  <a:pt x="55" y="5"/>
                  <a:pt x="55" y="5"/>
                  <a:pt x="56" y="4"/>
                </a:cubicBezTo>
                <a:cubicBezTo>
                  <a:pt x="56" y="4"/>
                  <a:pt x="56" y="4"/>
                  <a:pt x="56" y="4"/>
                </a:cubicBezTo>
                <a:cubicBezTo>
                  <a:pt x="57" y="4"/>
                  <a:pt x="57" y="5"/>
                  <a:pt x="58" y="5"/>
                </a:cubicBezTo>
                <a:cubicBezTo>
                  <a:pt x="59" y="5"/>
                  <a:pt x="60" y="6"/>
                  <a:pt x="61" y="6"/>
                </a:cubicBezTo>
                <a:cubicBezTo>
                  <a:pt x="61" y="6"/>
                  <a:pt x="60" y="6"/>
                  <a:pt x="60" y="6"/>
                </a:cubicBezTo>
                <a:cubicBezTo>
                  <a:pt x="60" y="6"/>
                  <a:pt x="60" y="6"/>
                  <a:pt x="59" y="6"/>
                </a:cubicBezTo>
                <a:cubicBezTo>
                  <a:pt x="59" y="6"/>
                  <a:pt x="60" y="7"/>
                  <a:pt x="60" y="7"/>
                </a:cubicBezTo>
                <a:cubicBezTo>
                  <a:pt x="61" y="7"/>
                  <a:pt x="61" y="7"/>
                  <a:pt x="61" y="8"/>
                </a:cubicBezTo>
                <a:cubicBezTo>
                  <a:pt x="61" y="9"/>
                  <a:pt x="60" y="8"/>
                  <a:pt x="60" y="8"/>
                </a:cubicBezTo>
                <a:cubicBezTo>
                  <a:pt x="59" y="8"/>
                  <a:pt x="58" y="9"/>
                  <a:pt x="57" y="8"/>
                </a:cubicBezTo>
                <a:cubicBezTo>
                  <a:pt x="57" y="7"/>
                  <a:pt x="58" y="7"/>
                  <a:pt x="58" y="7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7"/>
                  <a:pt x="57" y="7"/>
                  <a:pt x="57" y="7"/>
                </a:cubicBezTo>
                <a:cubicBezTo>
                  <a:pt x="57" y="7"/>
                  <a:pt x="57" y="8"/>
                  <a:pt x="56" y="8"/>
                </a:cubicBezTo>
                <a:cubicBezTo>
                  <a:pt x="56" y="8"/>
                  <a:pt x="56" y="8"/>
                  <a:pt x="55" y="8"/>
                </a:cubicBezTo>
                <a:cubicBezTo>
                  <a:pt x="55" y="8"/>
                  <a:pt x="54" y="8"/>
                  <a:pt x="54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2" y="9"/>
                  <a:pt x="52" y="9"/>
                  <a:pt x="51" y="10"/>
                </a:cubicBezTo>
                <a:cubicBezTo>
                  <a:pt x="50" y="10"/>
                  <a:pt x="50" y="10"/>
                  <a:pt x="49" y="11"/>
                </a:cubicBezTo>
                <a:cubicBezTo>
                  <a:pt x="49" y="11"/>
                  <a:pt x="49" y="11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3"/>
                  <a:pt x="50" y="13"/>
                  <a:pt x="50" y="13"/>
                </a:cubicBezTo>
                <a:cubicBezTo>
                  <a:pt x="51" y="13"/>
                  <a:pt x="51" y="14"/>
                  <a:pt x="52" y="14"/>
                </a:cubicBezTo>
                <a:cubicBezTo>
                  <a:pt x="52" y="14"/>
                  <a:pt x="53" y="15"/>
                  <a:pt x="53" y="15"/>
                </a:cubicBezTo>
                <a:cubicBezTo>
                  <a:pt x="54" y="15"/>
                  <a:pt x="55" y="15"/>
                  <a:pt x="55" y="15"/>
                </a:cubicBezTo>
                <a:cubicBezTo>
                  <a:pt x="55" y="16"/>
                  <a:pt x="54" y="16"/>
                  <a:pt x="54" y="16"/>
                </a:cubicBezTo>
                <a:cubicBezTo>
                  <a:pt x="55" y="17"/>
                  <a:pt x="54" y="17"/>
                  <a:pt x="54" y="17"/>
                </a:cubicBezTo>
                <a:cubicBezTo>
                  <a:pt x="54" y="18"/>
                  <a:pt x="54" y="18"/>
                  <a:pt x="55" y="18"/>
                </a:cubicBezTo>
                <a:cubicBezTo>
                  <a:pt x="55" y="18"/>
                  <a:pt x="56" y="18"/>
                  <a:pt x="56" y="17"/>
                </a:cubicBezTo>
                <a:cubicBezTo>
                  <a:pt x="56" y="17"/>
                  <a:pt x="56" y="16"/>
                  <a:pt x="57" y="15"/>
                </a:cubicBezTo>
                <a:cubicBezTo>
                  <a:pt x="59" y="15"/>
                  <a:pt x="61" y="14"/>
                  <a:pt x="61" y="12"/>
                </a:cubicBezTo>
                <a:cubicBezTo>
                  <a:pt x="61" y="12"/>
                  <a:pt x="61" y="12"/>
                  <a:pt x="61" y="11"/>
                </a:cubicBezTo>
                <a:cubicBezTo>
                  <a:pt x="61" y="11"/>
                  <a:pt x="61" y="11"/>
                  <a:pt x="61" y="10"/>
                </a:cubicBezTo>
                <a:cubicBezTo>
                  <a:pt x="61" y="10"/>
                  <a:pt x="62" y="10"/>
                  <a:pt x="62" y="10"/>
                </a:cubicBezTo>
                <a:cubicBezTo>
                  <a:pt x="62" y="9"/>
                  <a:pt x="62" y="9"/>
                  <a:pt x="62" y="9"/>
                </a:cubicBezTo>
                <a:cubicBezTo>
                  <a:pt x="62" y="9"/>
                  <a:pt x="62" y="9"/>
                  <a:pt x="62" y="9"/>
                </a:cubicBezTo>
                <a:cubicBezTo>
                  <a:pt x="63" y="9"/>
                  <a:pt x="63" y="9"/>
                  <a:pt x="63" y="9"/>
                </a:cubicBezTo>
                <a:cubicBezTo>
                  <a:pt x="63" y="9"/>
                  <a:pt x="64" y="9"/>
                  <a:pt x="64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6" y="9"/>
                  <a:pt x="66" y="10"/>
                  <a:pt x="66" y="10"/>
                </a:cubicBezTo>
                <a:cubicBezTo>
                  <a:pt x="66" y="10"/>
                  <a:pt x="67" y="10"/>
                  <a:pt x="67" y="10"/>
                </a:cubicBezTo>
                <a:cubicBezTo>
                  <a:pt x="67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2"/>
                  <a:pt x="67" y="12"/>
                  <a:pt x="67" y="12"/>
                </a:cubicBezTo>
                <a:cubicBezTo>
                  <a:pt x="68" y="12"/>
                  <a:pt x="68" y="12"/>
                  <a:pt x="68" y="12"/>
                </a:cubicBezTo>
                <a:cubicBezTo>
                  <a:pt x="69" y="12"/>
                  <a:pt x="69" y="11"/>
                  <a:pt x="69" y="11"/>
                </a:cubicBezTo>
                <a:cubicBezTo>
                  <a:pt x="70" y="11"/>
                  <a:pt x="70" y="12"/>
                  <a:pt x="71" y="12"/>
                </a:cubicBezTo>
                <a:cubicBezTo>
                  <a:pt x="71" y="12"/>
                  <a:pt x="71" y="13"/>
                  <a:pt x="71" y="13"/>
                </a:cubicBezTo>
                <a:cubicBezTo>
                  <a:pt x="71" y="13"/>
                  <a:pt x="71" y="14"/>
                  <a:pt x="71" y="14"/>
                </a:cubicBezTo>
                <a:cubicBezTo>
                  <a:pt x="71" y="15"/>
                  <a:pt x="72" y="15"/>
                  <a:pt x="72" y="15"/>
                </a:cubicBezTo>
                <a:cubicBezTo>
                  <a:pt x="73" y="15"/>
                  <a:pt x="73" y="16"/>
                  <a:pt x="73" y="16"/>
                </a:cubicBezTo>
                <a:cubicBezTo>
                  <a:pt x="73" y="16"/>
                  <a:pt x="73" y="16"/>
                  <a:pt x="73" y="17"/>
                </a:cubicBezTo>
                <a:cubicBezTo>
                  <a:pt x="73" y="17"/>
                  <a:pt x="73" y="17"/>
                  <a:pt x="73" y="18"/>
                </a:cubicBezTo>
                <a:cubicBezTo>
                  <a:pt x="72" y="19"/>
                  <a:pt x="72" y="19"/>
                  <a:pt x="72" y="19"/>
                </a:cubicBezTo>
                <a:cubicBezTo>
                  <a:pt x="72" y="20"/>
                  <a:pt x="73" y="19"/>
                  <a:pt x="73" y="20"/>
                </a:cubicBezTo>
                <a:cubicBezTo>
                  <a:pt x="74" y="20"/>
                  <a:pt x="73" y="20"/>
                  <a:pt x="73" y="21"/>
                </a:cubicBezTo>
                <a:cubicBezTo>
                  <a:pt x="74" y="21"/>
                  <a:pt x="74" y="22"/>
                  <a:pt x="73" y="22"/>
                </a:cubicBezTo>
                <a:cubicBezTo>
                  <a:pt x="73" y="22"/>
                  <a:pt x="73" y="22"/>
                  <a:pt x="72" y="22"/>
                </a:cubicBezTo>
                <a:cubicBezTo>
                  <a:pt x="72" y="22"/>
                  <a:pt x="72" y="22"/>
                  <a:pt x="71" y="21"/>
                </a:cubicBezTo>
                <a:cubicBezTo>
                  <a:pt x="71" y="21"/>
                  <a:pt x="71" y="21"/>
                  <a:pt x="71" y="21"/>
                </a:cubicBezTo>
                <a:cubicBezTo>
                  <a:pt x="70" y="21"/>
                  <a:pt x="69" y="21"/>
                  <a:pt x="69" y="21"/>
                </a:cubicBezTo>
                <a:cubicBezTo>
                  <a:pt x="70" y="20"/>
                  <a:pt x="70" y="20"/>
                  <a:pt x="71" y="19"/>
                </a:cubicBezTo>
                <a:cubicBezTo>
                  <a:pt x="71" y="19"/>
                  <a:pt x="72" y="19"/>
                  <a:pt x="72" y="18"/>
                </a:cubicBezTo>
                <a:cubicBezTo>
                  <a:pt x="71" y="18"/>
                  <a:pt x="71" y="18"/>
                  <a:pt x="70" y="18"/>
                </a:cubicBezTo>
                <a:cubicBezTo>
                  <a:pt x="70" y="19"/>
                  <a:pt x="69" y="19"/>
                  <a:pt x="69" y="19"/>
                </a:cubicBezTo>
                <a:cubicBezTo>
                  <a:pt x="68" y="19"/>
                  <a:pt x="67" y="19"/>
                  <a:pt x="67" y="19"/>
                </a:cubicBezTo>
                <a:cubicBezTo>
                  <a:pt x="66" y="20"/>
                  <a:pt x="67" y="19"/>
                  <a:pt x="67" y="20"/>
                </a:cubicBezTo>
                <a:cubicBezTo>
                  <a:pt x="67" y="20"/>
                  <a:pt x="67" y="20"/>
                  <a:pt x="66" y="20"/>
                </a:cubicBezTo>
                <a:cubicBezTo>
                  <a:pt x="66" y="20"/>
                  <a:pt x="66" y="19"/>
                  <a:pt x="66" y="19"/>
                </a:cubicBezTo>
                <a:cubicBezTo>
                  <a:pt x="66" y="19"/>
                  <a:pt x="65" y="19"/>
                  <a:pt x="64" y="19"/>
                </a:cubicBezTo>
                <a:cubicBezTo>
                  <a:pt x="64" y="19"/>
                  <a:pt x="64" y="19"/>
                  <a:pt x="63" y="20"/>
                </a:cubicBezTo>
                <a:cubicBezTo>
                  <a:pt x="64" y="20"/>
                  <a:pt x="65" y="20"/>
                  <a:pt x="65" y="20"/>
                </a:cubicBezTo>
                <a:cubicBezTo>
                  <a:pt x="65" y="21"/>
                  <a:pt x="64" y="21"/>
                  <a:pt x="64" y="22"/>
                </a:cubicBezTo>
                <a:cubicBezTo>
                  <a:pt x="64" y="22"/>
                  <a:pt x="65" y="23"/>
                  <a:pt x="65" y="23"/>
                </a:cubicBezTo>
                <a:cubicBezTo>
                  <a:pt x="65" y="23"/>
                  <a:pt x="65" y="23"/>
                  <a:pt x="66" y="23"/>
                </a:cubicBezTo>
                <a:cubicBezTo>
                  <a:pt x="66" y="23"/>
                  <a:pt x="66" y="23"/>
                  <a:pt x="66" y="23"/>
                </a:cubicBezTo>
                <a:cubicBezTo>
                  <a:pt x="67" y="23"/>
                  <a:pt x="67" y="22"/>
                  <a:pt x="67" y="22"/>
                </a:cubicBezTo>
                <a:cubicBezTo>
                  <a:pt x="68" y="23"/>
                  <a:pt x="67" y="23"/>
                  <a:pt x="66" y="23"/>
                </a:cubicBezTo>
                <a:cubicBezTo>
                  <a:pt x="65" y="24"/>
                  <a:pt x="64" y="24"/>
                  <a:pt x="64" y="24"/>
                </a:cubicBezTo>
                <a:cubicBezTo>
                  <a:pt x="64" y="24"/>
                  <a:pt x="62" y="25"/>
                  <a:pt x="62" y="25"/>
                </a:cubicBezTo>
                <a:cubicBezTo>
                  <a:pt x="62" y="24"/>
                  <a:pt x="63" y="24"/>
                  <a:pt x="63" y="24"/>
                </a:cubicBezTo>
                <a:cubicBezTo>
                  <a:pt x="62" y="23"/>
                  <a:pt x="61" y="24"/>
                  <a:pt x="61" y="24"/>
                </a:cubicBezTo>
                <a:cubicBezTo>
                  <a:pt x="60" y="24"/>
                  <a:pt x="58" y="25"/>
                  <a:pt x="58" y="26"/>
                </a:cubicBezTo>
                <a:cubicBezTo>
                  <a:pt x="58" y="26"/>
                  <a:pt x="58" y="26"/>
                  <a:pt x="58" y="27"/>
                </a:cubicBezTo>
                <a:cubicBezTo>
                  <a:pt x="58" y="27"/>
                  <a:pt x="57" y="27"/>
                  <a:pt x="57" y="27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5" y="27"/>
                  <a:pt x="55" y="27"/>
                </a:cubicBezTo>
                <a:cubicBezTo>
                  <a:pt x="55" y="28"/>
                  <a:pt x="55" y="28"/>
                  <a:pt x="54" y="28"/>
                </a:cubicBezTo>
                <a:cubicBezTo>
                  <a:pt x="54" y="29"/>
                  <a:pt x="54" y="29"/>
                  <a:pt x="53" y="29"/>
                </a:cubicBezTo>
                <a:cubicBezTo>
                  <a:pt x="53" y="29"/>
                  <a:pt x="53" y="30"/>
                  <a:pt x="53" y="30"/>
                </a:cubicBezTo>
                <a:cubicBezTo>
                  <a:pt x="52" y="30"/>
                  <a:pt x="52" y="30"/>
                  <a:pt x="52" y="30"/>
                </a:cubicBezTo>
                <a:cubicBezTo>
                  <a:pt x="52" y="30"/>
                  <a:pt x="52" y="31"/>
                  <a:pt x="52" y="32"/>
                </a:cubicBezTo>
                <a:cubicBezTo>
                  <a:pt x="51" y="32"/>
                  <a:pt x="51" y="33"/>
                  <a:pt x="50" y="33"/>
                </a:cubicBezTo>
                <a:cubicBezTo>
                  <a:pt x="50" y="33"/>
                  <a:pt x="49" y="33"/>
                  <a:pt x="49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7" y="34"/>
                  <a:pt x="47" y="35"/>
                  <a:pt x="47" y="35"/>
                </a:cubicBezTo>
                <a:cubicBezTo>
                  <a:pt x="47" y="55"/>
                  <a:pt x="47" y="55"/>
                  <a:pt x="47" y="55"/>
                </a:cubicBezTo>
                <a:cubicBezTo>
                  <a:pt x="47" y="55"/>
                  <a:pt x="47" y="55"/>
                  <a:pt x="48" y="55"/>
                </a:cubicBezTo>
                <a:cubicBezTo>
                  <a:pt x="48" y="54"/>
                  <a:pt x="48" y="54"/>
                  <a:pt x="48" y="54"/>
                </a:cubicBezTo>
                <a:cubicBezTo>
                  <a:pt x="49" y="53"/>
                  <a:pt x="49" y="53"/>
                  <a:pt x="50" y="53"/>
                </a:cubicBezTo>
                <a:cubicBezTo>
                  <a:pt x="50" y="53"/>
                  <a:pt x="50" y="53"/>
                  <a:pt x="51" y="53"/>
                </a:cubicBezTo>
                <a:cubicBezTo>
                  <a:pt x="51" y="53"/>
                  <a:pt x="51" y="52"/>
                  <a:pt x="51" y="52"/>
                </a:cubicBezTo>
                <a:cubicBezTo>
                  <a:pt x="52" y="53"/>
                  <a:pt x="51" y="53"/>
                  <a:pt x="51" y="53"/>
                </a:cubicBezTo>
                <a:cubicBezTo>
                  <a:pt x="52" y="54"/>
                  <a:pt x="52" y="53"/>
                  <a:pt x="53" y="53"/>
                </a:cubicBezTo>
                <a:cubicBezTo>
                  <a:pt x="53" y="53"/>
                  <a:pt x="53" y="53"/>
                  <a:pt x="54" y="53"/>
                </a:cubicBezTo>
                <a:cubicBezTo>
                  <a:pt x="54" y="53"/>
                  <a:pt x="54" y="54"/>
                  <a:pt x="55" y="54"/>
                </a:cubicBezTo>
                <a:cubicBezTo>
                  <a:pt x="55" y="54"/>
                  <a:pt x="55" y="54"/>
                  <a:pt x="56" y="54"/>
                </a:cubicBezTo>
                <a:cubicBezTo>
                  <a:pt x="56" y="54"/>
                  <a:pt x="56" y="54"/>
                  <a:pt x="57" y="54"/>
                </a:cubicBezTo>
                <a:cubicBezTo>
                  <a:pt x="57" y="54"/>
                  <a:pt x="58" y="54"/>
                  <a:pt x="58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60" y="54"/>
                  <a:pt x="60" y="54"/>
                  <a:pt x="60" y="54"/>
                </a:cubicBezTo>
                <a:cubicBezTo>
                  <a:pt x="60" y="55"/>
                  <a:pt x="60" y="55"/>
                  <a:pt x="60" y="55"/>
                </a:cubicBezTo>
                <a:cubicBezTo>
                  <a:pt x="61" y="55"/>
                  <a:pt x="61" y="55"/>
                  <a:pt x="61" y="56"/>
                </a:cubicBezTo>
                <a:cubicBezTo>
                  <a:pt x="61" y="56"/>
                  <a:pt x="61" y="56"/>
                  <a:pt x="62" y="56"/>
                </a:cubicBezTo>
                <a:cubicBezTo>
                  <a:pt x="62" y="56"/>
                  <a:pt x="62" y="57"/>
                  <a:pt x="63" y="57"/>
                </a:cubicBezTo>
                <a:cubicBezTo>
                  <a:pt x="63" y="58"/>
                  <a:pt x="64" y="58"/>
                  <a:pt x="64" y="58"/>
                </a:cubicBezTo>
                <a:cubicBezTo>
                  <a:pt x="65" y="58"/>
                  <a:pt x="65" y="58"/>
                  <a:pt x="66" y="58"/>
                </a:cubicBezTo>
                <a:cubicBezTo>
                  <a:pt x="67" y="58"/>
                  <a:pt x="67" y="59"/>
                  <a:pt x="68" y="59"/>
                </a:cubicBezTo>
                <a:cubicBezTo>
                  <a:pt x="68" y="59"/>
                  <a:pt x="69" y="60"/>
                  <a:pt x="69" y="60"/>
                </a:cubicBezTo>
                <a:cubicBezTo>
                  <a:pt x="69" y="60"/>
                  <a:pt x="69" y="61"/>
                  <a:pt x="69" y="61"/>
                </a:cubicBezTo>
                <a:cubicBezTo>
                  <a:pt x="69" y="61"/>
                  <a:pt x="70" y="62"/>
                  <a:pt x="70" y="63"/>
                </a:cubicBezTo>
                <a:cubicBezTo>
                  <a:pt x="70" y="63"/>
                  <a:pt x="70" y="63"/>
                  <a:pt x="71" y="63"/>
                </a:cubicBezTo>
                <a:cubicBezTo>
                  <a:pt x="71" y="63"/>
                  <a:pt x="71" y="64"/>
                  <a:pt x="71" y="64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4"/>
                  <a:pt x="73" y="64"/>
                  <a:pt x="73" y="64"/>
                </a:cubicBezTo>
                <a:cubicBezTo>
                  <a:pt x="74" y="64"/>
                  <a:pt x="74" y="64"/>
                  <a:pt x="74" y="65"/>
                </a:cubicBezTo>
                <a:cubicBezTo>
                  <a:pt x="74" y="65"/>
                  <a:pt x="74" y="65"/>
                  <a:pt x="75" y="65"/>
                </a:cubicBezTo>
                <a:cubicBezTo>
                  <a:pt x="75" y="66"/>
                  <a:pt x="75" y="65"/>
                  <a:pt x="76" y="65"/>
                </a:cubicBezTo>
                <a:cubicBezTo>
                  <a:pt x="76" y="65"/>
                  <a:pt x="77" y="66"/>
                  <a:pt x="77" y="66"/>
                </a:cubicBezTo>
                <a:cubicBezTo>
                  <a:pt x="78" y="66"/>
                  <a:pt x="78" y="66"/>
                  <a:pt x="78" y="66"/>
                </a:cubicBezTo>
                <a:cubicBezTo>
                  <a:pt x="79" y="66"/>
                  <a:pt x="79" y="66"/>
                  <a:pt x="80" y="67"/>
                </a:cubicBezTo>
                <a:cubicBezTo>
                  <a:pt x="74" y="76"/>
                  <a:pt x="65" y="83"/>
                  <a:pt x="54" y="85"/>
                </a:cubicBezTo>
                <a:cubicBezTo>
                  <a:pt x="54" y="85"/>
                  <a:pt x="54" y="84"/>
                  <a:pt x="54" y="84"/>
                </a:cubicBezTo>
                <a:cubicBezTo>
                  <a:pt x="54" y="83"/>
                  <a:pt x="54" y="82"/>
                  <a:pt x="54" y="82"/>
                </a:cubicBezTo>
                <a:cubicBezTo>
                  <a:pt x="53" y="81"/>
                  <a:pt x="53" y="80"/>
                  <a:pt x="53" y="80"/>
                </a:cubicBezTo>
                <a:cubicBezTo>
                  <a:pt x="53" y="79"/>
                  <a:pt x="52" y="78"/>
                  <a:pt x="51" y="78"/>
                </a:cubicBezTo>
                <a:cubicBezTo>
                  <a:pt x="51" y="78"/>
                  <a:pt x="51" y="78"/>
                  <a:pt x="50" y="78"/>
                </a:cubicBezTo>
                <a:cubicBezTo>
                  <a:pt x="49" y="77"/>
                  <a:pt x="48" y="77"/>
                  <a:pt x="48" y="76"/>
                </a:cubicBezTo>
                <a:cubicBezTo>
                  <a:pt x="47" y="76"/>
                  <a:pt x="47" y="75"/>
                  <a:pt x="47" y="75"/>
                </a:cubicBezTo>
                <a:cubicBezTo>
                  <a:pt x="47" y="75"/>
                  <a:pt x="47" y="75"/>
                  <a:pt x="47" y="74"/>
                </a:cubicBezTo>
                <a:lnTo>
                  <a:pt x="47" y="89"/>
                </a:lnTo>
                <a:close/>
                <a:moveTo>
                  <a:pt x="0" y="36"/>
                </a:moveTo>
                <a:cubicBezTo>
                  <a:pt x="0" y="36"/>
                  <a:pt x="0" y="37"/>
                  <a:pt x="0" y="38"/>
                </a:cubicBezTo>
                <a:cubicBezTo>
                  <a:pt x="0" y="38"/>
                  <a:pt x="0" y="39"/>
                  <a:pt x="0" y="40"/>
                </a:cubicBezTo>
                <a:cubicBezTo>
                  <a:pt x="0" y="41"/>
                  <a:pt x="0" y="43"/>
                  <a:pt x="0" y="44"/>
                </a:cubicBezTo>
                <a:cubicBezTo>
                  <a:pt x="0" y="46"/>
                  <a:pt x="0" y="47"/>
                  <a:pt x="0" y="49"/>
                </a:cubicBezTo>
                <a:cubicBezTo>
                  <a:pt x="0" y="50"/>
                  <a:pt x="0" y="50"/>
                  <a:pt x="0" y="51"/>
                </a:cubicBezTo>
                <a:cubicBezTo>
                  <a:pt x="0" y="52"/>
                  <a:pt x="0" y="53"/>
                  <a:pt x="0" y="53"/>
                </a:cubicBezTo>
                <a:cubicBezTo>
                  <a:pt x="1" y="54"/>
                  <a:pt x="1" y="55"/>
                  <a:pt x="1" y="56"/>
                </a:cubicBezTo>
                <a:cubicBezTo>
                  <a:pt x="1" y="57"/>
                  <a:pt x="2" y="58"/>
                  <a:pt x="2" y="60"/>
                </a:cubicBezTo>
                <a:cubicBezTo>
                  <a:pt x="2" y="60"/>
                  <a:pt x="3" y="61"/>
                  <a:pt x="3" y="62"/>
                </a:cubicBezTo>
                <a:cubicBezTo>
                  <a:pt x="3" y="62"/>
                  <a:pt x="4" y="63"/>
                  <a:pt x="4" y="64"/>
                </a:cubicBezTo>
                <a:cubicBezTo>
                  <a:pt x="4" y="64"/>
                  <a:pt x="4" y="64"/>
                  <a:pt x="4" y="65"/>
                </a:cubicBezTo>
                <a:cubicBezTo>
                  <a:pt x="5" y="65"/>
                  <a:pt x="5" y="66"/>
                  <a:pt x="5" y="67"/>
                </a:cubicBezTo>
                <a:cubicBezTo>
                  <a:pt x="6" y="68"/>
                  <a:pt x="8" y="70"/>
                  <a:pt x="9" y="72"/>
                </a:cubicBezTo>
                <a:cubicBezTo>
                  <a:pt x="10" y="73"/>
                  <a:pt x="10" y="73"/>
                  <a:pt x="11" y="74"/>
                </a:cubicBezTo>
                <a:cubicBezTo>
                  <a:pt x="12" y="75"/>
                  <a:pt x="12" y="75"/>
                  <a:pt x="13" y="76"/>
                </a:cubicBezTo>
                <a:cubicBezTo>
                  <a:pt x="13" y="76"/>
                  <a:pt x="14" y="77"/>
                  <a:pt x="14" y="77"/>
                </a:cubicBezTo>
                <a:cubicBezTo>
                  <a:pt x="16" y="79"/>
                  <a:pt x="19" y="81"/>
                  <a:pt x="22" y="83"/>
                </a:cubicBezTo>
                <a:cubicBezTo>
                  <a:pt x="22" y="83"/>
                  <a:pt x="23" y="84"/>
                  <a:pt x="24" y="84"/>
                </a:cubicBezTo>
                <a:cubicBezTo>
                  <a:pt x="25" y="85"/>
                  <a:pt x="26" y="85"/>
                  <a:pt x="28" y="86"/>
                </a:cubicBezTo>
                <a:cubicBezTo>
                  <a:pt x="28" y="86"/>
                  <a:pt x="29" y="86"/>
                  <a:pt x="30" y="86"/>
                </a:cubicBezTo>
                <a:cubicBezTo>
                  <a:pt x="34" y="88"/>
                  <a:pt x="39" y="89"/>
                  <a:pt x="44" y="89"/>
                </a:cubicBezTo>
                <a:cubicBezTo>
                  <a:pt x="45" y="89"/>
                  <a:pt x="46" y="89"/>
                  <a:pt x="47" y="89"/>
                </a:cubicBezTo>
                <a:cubicBezTo>
                  <a:pt x="47" y="74"/>
                  <a:pt x="47" y="74"/>
                  <a:pt x="47" y="74"/>
                </a:cubicBezTo>
                <a:cubicBezTo>
                  <a:pt x="47" y="74"/>
                  <a:pt x="47" y="74"/>
                  <a:pt x="46" y="74"/>
                </a:cubicBezTo>
                <a:cubicBezTo>
                  <a:pt x="46" y="73"/>
                  <a:pt x="45" y="72"/>
                  <a:pt x="45" y="71"/>
                </a:cubicBezTo>
                <a:cubicBezTo>
                  <a:pt x="44" y="70"/>
                  <a:pt x="44" y="70"/>
                  <a:pt x="44" y="69"/>
                </a:cubicBezTo>
                <a:cubicBezTo>
                  <a:pt x="44" y="69"/>
                  <a:pt x="43" y="69"/>
                  <a:pt x="43" y="69"/>
                </a:cubicBezTo>
                <a:cubicBezTo>
                  <a:pt x="43" y="68"/>
                  <a:pt x="43" y="68"/>
                  <a:pt x="43" y="67"/>
                </a:cubicBezTo>
                <a:cubicBezTo>
                  <a:pt x="43" y="67"/>
                  <a:pt x="44" y="66"/>
                  <a:pt x="44" y="66"/>
                </a:cubicBezTo>
                <a:cubicBezTo>
                  <a:pt x="44" y="66"/>
                  <a:pt x="43" y="65"/>
                  <a:pt x="43" y="65"/>
                </a:cubicBezTo>
                <a:cubicBezTo>
                  <a:pt x="43" y="64"/>
                  <a:pt x="43" y="64"/>
                  <a:pt x="43" y="63"/>
                </a:cubicBezTo>
                <a:cubicBezTo>
                  <a:pt x="43" y="63"/>
                  <a:pt x="44" y="63"/>
                  <a:pt x="44" y="63"/>
                </a:cubicBezTo>
                <a:cubicBezTo>
                  <a:pt x="44" y="62"/>
                  <a:pt x="44" y="62"/>
                  <a:pt x="44" y="62"/>
                </a:cubicBezTo>
                <a:cubicBezTo>
                  <a:pt x="45" y="62"/>
                  <a:pt x="45" y="62"/>
                  <a:pt x="45" y="61"/>
                </a:cubicBezTo>
                <a:cubicBezTo>
                  <a:pt x="45" y="61"/>
                  <a:pt x="46" y="61"/>
                  <a:pt x="46" y="60"/>
                </a:cubicBezTo>
                <a:cubicBezTo>
                  <a:pt x="46" y="60"/>
                  <a:pt x="46" y="58"/>
                  <a:pt x="46" y="58"/>
                </a:cubicBezTo>
                <a:cubicBezTo>
                  <a:pt x="46" y="57"/>
                  <a:pt x="46" y="57"/>
                  <a:pt x="45" y="57"/>
                </a:cubicBezTo>
                <a:cubicBezTo>
                  <a:pt x="45" y="56"/>
                  <a:pt x="45" y="55"/>
                  <a:pt x="45" y="55"/>
                </a:cubicBezTo>
                <a:cubicBezTo>
                  <a:pt x="44" y="55"/>
                  <a:pt x="44" y="56"/>
                  <a:pt x="44" y="56"/>
                </a:cubicBezTo>
                <a:cubicBezTo>
                  <a:pt x="44" y="56"/>
                  <a:pt x="44" y="57"/>
                  <a:pt x="43" y="57"/>
                </a:cubicBezTo>
                <a:cubicBezTo>
                  <a:pt x="43" y="57"/>
                  <a:pt x="43" y="56"/>
                  <a:pt x="42" y="56"/>
                </a:cubicBezTo>
                <a:cubicBezTo>
                  <a:pt x="42" y="56"/>
                  <a:pt x="41" y="56"/>
                  <a:pt x="41" y="56"/>
                </a:cubicBezTo>
                <a:cubicBezTo>
                  <a:pt x="41" y="56"/>
                  <a:pt x="41" y="55"/>
                  <a:pt x="40" y="55"/>
                </a:cubicBezTo>
                <a:cubicBezTo>
                  <a:pt x="40" y="55"/>
                  <a:pt x="39" y="55"/>
                  <a:pt x="39" y="54"/>
                </a:cubicBezTo>
                <a:cubicBezTo>
                  <a:pt x="39" y="54"/>
                  <a:pt x="39" y="54"/>
                  <a:pt x="39" y="53"/>
                </a:cubicBezTo>
                <a:cubicBezTo>
                  <a:pt x="38" y="53"/>
                  <a:pt x="38" y="52"/>
                  <a:pt x="37" y="52"/>
                </a:cubicBezTo>
                <a:cubicBezTo>
                  <a:pt x="37" y="51"/>
                  <a:pt x="36" y="52"/>
                  <a:pt x="36" y="51"/>
                </a:cubicBezTo>
                <a:cubicBezTo>
                  <a:pt x="36" y="51"/>
                  <a:pt x="35" y="51"/>
                  <a:pt x="35" y="51"/>
                </a:cubicBezTo>
                <a:cubicBezTo>
                  <a:pt x="35" y="51"/>
                  <a:pt x="35" y="51"/>
                  <a:pt x="34" y="51"/>
                </a:cubicBezTo>
                <a:cubicBezTo>
                  <a:pt x="33" y="50"/>
                  <a:pt x="33" y="49"/>
                  <a:pt x="32" y="49"/>
                </a:cubicBezTo>
                <a:cubicBezTo>
                  <a:pt x="31" y="49"/>
                  <a:pt x="31" y="49"/>
                  <a:pt x="30" y="49"/>
                </a:cubicBezTo>
                <a:cubicBezTo>
                  <a:pt x="30" y="49"/>
                  <a:pt x="29" y="49"/>
                  <a:pt x="29" y="49"/>
                </a:cubicBezTo>
                <a:cubicBezTo>
                  <a:pt x="28" y="49"/>
                  <a:pt x="27" y="48"/>
                  <a:pt x="27" y="48"/>
                </a:cubicBezTo>
                <a:cubicBezTo>
                  <a:pt x="26" y="48"/>
                  <a:pt x="26" y="48"/>
                  <a:pt x="26" y="47"/>
                </a:cubicBezTo>
                <a:cubicBezTo>
                  <a:pt x="26" y="47"/>
                  <a:pt x="25" y="47"/>
                  <a:pt x="25" y="47"/>
                </a:cubicBezTo>
                <a:cubicBezTo>
                  <a:pt x="25" y="47"/>
                  <a:pt x="24" y="47"/>
                  <a:pt x="24" y="46"/>
                </a:cubicBezTo>
                <a:cubicBezTo>
                  <a:pt x="24" y="46"/>
                  <a:pt x="23" y="46"/>
                  <a:pt x="23" y="46"/>
                </a:cubicBezTo>
                <a:cubicBezTo>
                  <a:pt x="23" y="45"/>
                  <a:pt x="24" y="45"/>
                  <a:pt x="24" y="44"/>
                </a:cubicBezTo>
                <a:cubicBezTo>
                  <a:pt x="24" y="43"/>
                  <a:pt x="23" y="43"/>
                  <a:pt x="22" y="42"/>
                </a:cubicBezTo>
                <a:cubicBezTo>
                  <a:pt x="22" y="41"/>
                  <a:pt x="22" y="41"/>
                  <a:pt x="21" y="40"/>
                </a:cubicBezTo>
                <a:cubicBezTo>
                  <a:pt x="21" y="40"/>
                  <a:pt x="21" y="40"/>
                  <a:pt x="21" y="40"/>
                </a:cubicBezTo>
                <a:cubicBezTo>
                  <a:pt x="21" y="40"/>
                  <a:pt x="21" y="39"/>
                  <a:pt x="20" y="39"/>
                </a:cubicBezTo>
                <a:cubicBezTo>
                  <a:pt x="20" y="38"/>
                  <a:pt x="19" y="38"/>
                  <a:pt x="19" y="37"/>
                </a:cubicBezTo>
                <a:cubicBezTo>
                  <a:pt x="19" y="37"/>
                  <a:pt x="20" y="36"/>
                  <a:pt x="19" y="36"/>
                </a:cubicBezTo>
                <a:cubicBezTo>
                  <a:pt x="19" y="35"/>
                  <a:pt x="18" y="35"/>
                  <a:pt x="18" y="37"/>
                </a:cubicBezTo>
                <a:cubicBezTo>
                  <a:pt x="18" y="37"/>
                  <a:pt x="18" y="37"/>
                  <a:pt x="19" y="38"/>
                </a:cubicBezTo>
                <a:cubicBezTo>
                  <a:pt x="19" y="38"/>
                  <a:pt x="19" y="38"/>
                  <a:pt x="19" y="39"/>
                </a:cubicBezTo>
                <a:cubicBezTo>
                  <a:pt x="19" y="39"/>
                  <a:pt x="19" y="39"/>
                  <a:pt x="19" y="40"/>
                </a:cubicBezTo>
                <a:cubicBezTo>
                  <a:pt x="20" y="40"/>
                  <a:pt x="20" y="41"/>
                  <a:pt x="20" y="42"/>
                </a:cubicBezTo>
                <a:cubicBezTo>
                  <a:pt x="20" y="42"/>
                  <a:pt x="21" y="42"/>
                  <a:pt x="20" y="43"/>
                </a:cubicBezTo>
                <a:cubicBezTo>
                  <a:pt x="20" y="43"/>
                  <a:pt x="20" y="42"/>
                  <a:pt x="19" y="42"/>
                </a:cubicBezTo>
                <a:cubicBezTo>
                  <a:pt x="19" y="42"/>
                  <a:pt x="19" y="42"/>
                  <a:pt x="19" y="41"/>
                </a:cubicBezTo>
                <a:cubicBezTo>
                  <a:pt x="18" y="41"/>
                  <a:pt x="19" y="41"/>
                  <a:pt x="19" y="40"/>
                </a:cubicBezTo>
                <a:cubicBezTo>
                  <a:pt x="18" y="40"/>
                  <a:pt x="17" y="40"/>
                  <a:pt x="17" y="39"/>
                </a:cubicBezTo>
                <a:cubicBezTo>
                  <a:pt x="17" y="39"/>
                  <a:pt x="18" y="38"/>
                  <a:pt x="18" y="38"/>
                </a:cubicBezTo>
                <a:cubicBezTo>
                  <a:pt x="18" y="38"/>
                  <a:pt x="17" y="37"/>
                  <a:pt x="17" y="37"/>
                </a:cubicBezTo>
                <a:cubicBezTo>
                  <a:pt x="17" y="36"/>
                  <a:pt x="17" y="36"/>
                  <a:pt x="17" y="35"/>
                </a:cubicBezTo>
                <a:cubicBezTo>
                  <a:pt x="17" y="35"/>
                  <a:pt x="17" y="34"/>
                  <a:pt x="17" y="34"/>
                </a:cubicBezTo>
                <a:cubicBezTo>
                  <a:pt x="17" y="34"/>
                  <a:pt x="16" y="33"/>
                  <a:pt x="16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2"/>
                  <a:pt x="14" y="32"/>
                  <a:pt x="14" y="31"/>
                </a:cubicBezTo>
                <a:cubicBezTo>
                  <a:pt x="14" y="31"/>
                  <a:pt x="14" y="30"/>
                  <a:pt x="14" y="30"/>
                </a:cubicBezTo>
                <a:cubicBezTo>
                  <a:pt x="14" y="29"/>
                  <a:pt x="14" y="28"/>
                  <a:pt x="14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6"/>
                  <a:pt x="16" y="26"/>
                  <a:pt x="16" y="26"/>
                </a:cubicBezTo>
                <a:cubicBezTo>
                  <a:pt x="16" y="25"/>
                  <a:pt x="17" y="24"/>
                  <a:pt x="17" y="24"/>
                </a:cubicBezTo>
                <a:cubicBezTo>
                  <a:pt x="18" y="23"/>
                  <a:pt x="18" y="22"/>
                  <a:pt x="19" y="22"/>
                </a:cubicBezTo>
                <a:cubicBezTo>
                  <a:pt x="19" y="21"/>
                  <a:pt x="19" y="21"/>
                  <a:pt x="19" y="20"/>
                </a:cubicBezTo>
                <a:cubicBezTo>
                  <a:pt x="19" y="20"/>
                  <a:pt x="18" y="20"/>
                  <a:pt x="18" y="19"/>
                </a:cubicBezTo>
                <a:cubicBezTo>
                  <a:pt x="18" y="19"/>
                  <a:pt x="19" y="19"/>
                  <a:pt x="19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7"/>
                  <a:pt x="19" y="17"/>
                  <a:pt x="19" y="16"/>
                </a:cubicBezTo>
                <a:cubicBezTo>
                  <a:pt x="19" y="16"/>
                  <a:pt x="20" y="16"/>
                  <a:pt x="19" y="15"/>
                </a:cubicBezTo>
                <a:cubicBezTo>
                  <a:pt x="19" y="15"/>
                  <a:pt x="18" y="15"/>
                  <a:pt x="18" y="15"/>
                </a:cubicBezTo>
                <a:cubicBezTo>
                  <a:pt x="18" y="15"/>
                  <a:pt x="18" y="14"/>
                  <a:pt x="18" y="14"/>
                </a:cubicBezTo>
                <a:cubicBezTo>
                  <a:pt x="18" y="14"/>
                  <a:pt x="18" y="14"/>
                  <a:pt x="18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8" y="12"/>
                  <a:pt x="18" y="12"/>
                  <a:pt x="18" y="12"/>
                </a:cubicBezTo>
                <a:cubicBezTo>
                  <a:pt x="23" y="7"/>
                  <a:pt x="29" y="4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3"/>
                  <a:pt x="37" y="3"/>
                  <a:pt x="37" y="4"/>
                </a:cubicBezTo>
                <a:cubicBezTo>
                  <a:pt x="37" y="3"/>
                  <a:pt x="38" y="4"/>
                  <a:pt x="38" y="4"/>
                </a:cubicBezTo>
                <a:cubicBezTo>
                  <a:pt x="38" y="4"/>
                  <a:pt x="39" y="3"/>
                  <a:pt x="39" y="3"/>
                </a:cubicBezTo>
                <a:cubicBezTo>
                  <a:pt x="40" y="4"/>
                  <a:pt x="41" y="4"/>
                  <a:pt x="42" y="4"/>
                </a:cubicBezTo>
                <a:cubicBezTo>
                  <a:pt x="42" y="4"/>
                  <a:pt x="42" y="4"/>
                  <a:pt x="42" y="3"/>
                </a:cubicBezTo>
                <a:cubicBezTo>
                  <a:pt x="43" y="3"/>
                  <a:pt x="43" y="3"/>
                  <a:pt x="43" y="2"/>
                </a:cubicBezTo>
                <a:cubicBezTo>
                  <a:pt x="43" y="2"/>
                  <a:pt x="44" y="2"/>
                  <a:pt x="44" y="2"/>
                </a:cubicBezTo>
                <a:cubicBezTo>
                  <a:pt x="45" y="2"/>
                  <a:pt x="46" y="3"/>
                  <a:pt x="47" y="3"/>
                </a:cubicBezTo>
                <a:cubicBezTo>
                  <a:pt x="47" y="0"/>
                  <a:pt x="47" y="0"/>
                  <a:pt x="47" y="0"/>
                </a:cubicBezTo>
                <a:cubicBezTo>
                  <a:pt x="46" y="0"/>
                  <a:pt x="45" y="0"/>
                  <a:pt x="45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38" y="0"/>
                  <a:pt x="34" y="1"/>
                  <a:pt x="30" y="2"/>
                </a:cubicBezTo>
                <a:cubicBezTo>
                  <a:pt x="29" y="3"/>
                  <a:pt x="28" y="3"/>
                  <a:pt x="28" y="3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4"/>
                  <a:pt x="26" y="4"/>
                  <a:pt x="26" y="4"/>
                </a:cubicBezTo>
                <a:cubicBezTo>
                  <a:pt x="25" y="4"/>
                  <a:pt x="24" y="5"/>
                  <a:pt x="24" y="5"/>
                </a:cubicBezTo>
                <a:cubicBezTo>
                  <a:pt x="23" y="5"/>
                  <a:pt x="22" y="6"/>
                  <a:pt x="22" y="6"/>
                </a:cubicBezTo>
                <a:cubicBezTo>
                  <a:pt x="19" y="7"/>
                  <a:pt x="17" y="9"/>
                  <a:pt x="15" y="11"/>
                </a:cubicBezTo>
                <a:cubicBezTo>
                  <a:pt x="15" y="11"/>
                  <a:pt x="14" y="11"/>
                  <a:pt x="14" y="12"/>
                </a:cubicBezTo>
                <a:cubicBezTo>
                  <a:pt x="14" y="12"/>
                  <a:pt x="13" y="13"/>
                  <a:pt x="13" y="13"/>
                </a:cubicBezTo>
                <a:cubicBezTo>
                  <a:pt x="12" y="14"/>
                  <a:pt x="12" y="14"/>
                  <a:pt x="11" y="15"/>
                </a:cubicBezTo>
                <a:cubicBezTo>
                  <a:pt x="10" y="15"/>
                  <a:pt x="10" y="16"/>
                  <a:pt x="9" y="17"/>
                </a:cubicBezTo>
                <a:cubicBezTo>
                  <a:pt x="8" y="19"/>
                  <a:pt x="6" y="21"/>
                  <a:pt x="5" y="22"/>
                </a:cubicBezTo>
                <a:cubicBezTo>
                  <a:pt x="5" y="23"/>
                  <a:pt x="5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3" y="26"/>
                  <a:pt x="3" y="27"/>
                  <a:pt x="3" y="28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31"/>
                  <a:pt x="1" y="32"/>
                  <a:pt x="1" y="33"/>
                </a:cubicBezTo>
                <a:cubicBezTo>
                  <a:pt x="1" y="34"/>
                  <a:pt x="1" y="35"/>
                  <a:pt x="0" y="36"/>
                </a:cubicBezTo>
                <a:close/>
                <a:moveTo>
                  <a:pt x="47" y="35"/>
                </a:moveTo>
                <a:cubicBezTo>
                  <a:pt x="47" y="55"/>
                  <a:pt x="47" y="55"/>
                  <a:pt x="47" y="55"/>
                </a:cubicBezTo>
                <a:cubicBezTo>
                  <a:pt x="47" y="56"/>
                  <a:pt x="47" y="56"/>
                  <a:pt x="47" y="56"/>
                </a:cubicBezTo>
                <a:cubicBezTo>
                  <a:pt x="46" y="56"/>
                  <a:pt x="46" y="55"/>
                  <a:pt x="45" y="55"/>
                </a:cubicBezTo>
                <a:cubicBezTo>
                  <a:pt x="44" y="55"/>
                  <a:pt x="44" y="55"/>
                  <a:pt x="43" y="55"/>
                </a:cubicBezTo>
                <a:cubicBezTo>
                  <a:pt x="42" y="55"/>
                  <a:pt x="41" y="54"/>
                  <a:pt x="41" y="53"/>
                </a:cubicBezTo>
                <a:cubicBezTo>
                  <a:pt x="41" y="53"/>
                  <a:pt x="41" y="52"/>
                  <a:pt x="41" y="51"/>
                </a:cubicBezTo>
                <a:cubicBezTo>
                  <a:pt x="41" y="51"/>
                  <a:pt x="42" y="51"/>
                  <a:pt x="42" y="50"/>
                </a:cubicBezTo>
                <a:cubicBezTo>
                  <a:pt x="42" y="50"/>
                  <a:pt x="41" y="49"/>
                  <a:pt x="40" y="49"/>
                </a:cubicBezTo>
                <a:cubicBezTo>
                  <a:pt x="40" y="49"/>
                  <a:pt x="38" y="50"/>
                  <a:pt x="37" y="49"/>
                </a:cubicBezTo>
                <a:cubicBezTo>
                  <a:pt x="37" y="49"/>
                  <a:pt x="38" y="49"/>
                  <a:pt x="38" y="48"/>
                </a:cubicBezTo>
                <a:cubicBezTo>
                  <a:pt x="38" y="48"/>
                  <a:pt x="38" y="48"/>
                  <a:pt x="38" y="48"/>
                </a:cubicBezTo>
                <a:cubicBezTo>
                  <a:pt x="38" y="47"/>
                  <a:pt x="38" y="47"/>
                  <a:pt x="38" y="47"/>
                </a:cubicBezTo>
                <a:cubicBezTo>
                  <a:pt x="38" y="47"/>
                  <a:pt x="38" y="46"/>
                  <a:pt x="39" y="46"/>
                </a:cubicBezTo>
                <a:cubicBezTo>
                  <a:pt x="39" y="46"/>
                  <a:pt x="39" y="45"/>
                  <a:pt x="39" y="45"/>
                </a:cubicBezTo>
                <a:cubicBezTo>
                  <a:pt x="39" y="45"/>
                  <a:pt x="39" y="44"/>
                  <a:pt x="39" y="44"/>
                </a:cubicBezTo>
                <a:cubicBezTo>
                  <a:pt x="38" y="44"/>
                  <a:pt x="37" y="44"/>
                  <a:pt x="37" y="44"/>
                </a:cubicBezTo>
                <a:cubicBezTo>
                  <a:pt x="36" y="45"/>
                  <a:pt x="36" y="46"/>
                  <a:pt x="35" y="47"/>
                </a:cubicBezTo>
                <a:cubicBezTo>
                  <a:pt x="35" y="47"/>
                  <a:pt x="34" y="47"/>
                  <a:pt x="34" y="47"/>
                </a:cubicBezTo>
                <a:cubicBezTo>
                  <a:pt x="33" y="47"/>
                  <a:pt x="33" y="47"/>
                  <a:pt x="33" y="47"/>
                </a:cubicBezTo>
                <a:cubicBezTo>
                  <a:pt x="32" y="47"/>
                  <a:pt x="31" y="47"/>
                  <a:pt x="31" y="46"/>
                </a:cubicBezTo>
                <a:cubicBezTo>
                  <a:pt x="31" y="46"/>
                  <a:pt x="30" y="45"/>
                  <a:pt x="30" y="45"/>
                </a:cubicBezTo>
                <a:cubicBezTo>
                  <a:pt x="30" y="43"/>
                  <a:pt x="30" y="42"/>
                  <a:pt x="31" y="41"/>
                </a:cubicBezTo>
                <a:cubicBezTo>
                  <a:pt x="31" y="41"/>
                  <a:pt x="31" y="41"/>
                  <a:pt x="31" y="41"/>
                </a:cubicBezTo>
                <a:cubicBezTo>
                  <a:pt x="31" y="40"/>
                  <a:pt x="31" y="40"/>
                  <a:pt x="32" y="39"/>
                </a:cubicBezTo>
                <a:cubicBezTo>
                  <a:pt x="32" y="39"/>
                  <a:pt x="33" y="38"/>
                  <a:pt x="33" y="38"/>
                </a:cubicBezTo>
                <a:cubicBezTo>
                  <a:pt x="34" y="38"/>
                  <a:pt x="34" y="37"/>
                  <a:pt x="35" y="37"/>
                </a:cubicBezTo>
                <a:cubicBezTo>
                  <a:pt x="36" y="37"/>
                  <a:pt x="36" y="37"/>
                  <a:pt x="37" y="37"/>
                </a:cubicBezTo>
                <a:cubicBezTo>
                  <a:pt x="37" y="37"/>
                  <a:pt x="37" y="37"/>
                  <a:pt x="38" y="37"/>
                </a:cubicBezTo>
                <a:cubicBezTo>
                  <a:pt x="38" y="38"/>
                  <a:pt x="39" y="37"/>
                  <a:pt x="39" y="36"/>
                </a:cubicBezTo>
                <a:cubicBezTo>
                  <a:pt x="40" y="37"/>
                  <a:pt x="41" y="36"/>
                  <a:pt x="41" y="36"/>
                </a:cubicBezTo>
                <a:cubicBezTo>
                  <a:pt x="42" y="36"/>
                  <a:pt x="42" y="37"/>
                  <a:pt x="42" y="37"/>
                </a:cubicBezTo>
                <a:cubicBezTo>
                  <a:pt x="43" y="37"/>
                  <a:pt x="43" y="37"/>
                  <a:pt x="43" y="37"/>
                </a:cubicBezTo>
                <a:cubicBezTo>
                  <a:pt x="44" y="37"/>
                  <a:pt x="44" y="37"/>
                  <a:pt x="44" y="38"/>
                </a:cubicBezTo>
                <a:cubicBezTo>
                  <a:pt x="44" y="38"/>
                  <a:pt x="44" y="39"/>
                  <a:pt x="44" y="39"/>
                </a:cubicBezTo>
                <a:cubicBezTo>
                  <a:pt x="44" y="40"/>
                  <a:pt x="45" y="40"/>
                  <a:pt x="46" y="40"/>
                </a:cubicBezTo>
                <a:cubicBezTo>
                  <a:pt x="46" y="40"/>
                  <a:pt x="46" y="39"/>
                  <a:pt x="46" y="38"/>
                </a:cubicBezTo>
                <a:cubicBezTo>
                  <a:pt x="46" y="38"/>
                  <a:pt x="46" y="38"/>
                  <a:pt x="46" y="38"/>
                </a:cubicBezTo>
                <a:cubicBezTo>
                  <a:pt x="46" y="37"/>
                  <a:pt x="46" y="37"/>
                  <a:pt x="46" y="37"/>
                </a:cubicBezTo>
                <a:cubicBezTo>
                  <a:pt x="46" y="36"/>
                  <a:pt x="46" y="35"/>
                  <a:pt x="47" y="35"/>
                </a:cubicBezTo>
                <a:close/>
              </a:path>
            </a:pathLst>
          </a:custGeom>
          <a:solidFill>
            <a:srgbClr val="6C79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57" name="Group 36"/>
          <p:cNvGrpSpPr/>
          <p:nvPr/>
        </p:nvGrpSpPr>
        <p:grpSpPr>
          <a:xfrm>
            <a:off x="6712369" y="1885060"/>
            <a:ext cx="980579" cy="1697563"/>
            <a:chOff x="6452734" y="1251752"/>
            <a:chExt cx="980579" cy="1697563"/>
          </a:xfrm>
        </p:grpSpPr>
        <p:sp>
          <p:nvSpPr>
            <p:cNvPr id="58" name="Freeform 37"/>
            <p:cNvSpPr/>
            <p:nvPr/>
          </p:nvSpPr>
          <p:spPr bwMode="auto">
            <a:xfrm>
              <a:off x="6779594" y="1952041"/>
              <a:ext cx="329496" cy="997274"/>
            </a:xfrm>
            <a:custGeom>
              <a:avLst/>
              <a:gdLst>
                <a:gd name="T0" fmla="*/ 186 w 375"/>
                <a:gd name="T1" fmla="*/ 1135 h 1135"/>
                <a:gd name="T2" fmla="*/ 0 w 375"/>
                <a:gd name="T3" fmla="*/ 189 h 1135"/>
                <a:gd name="T4" fmla="*/ 156 w 375"/>
                <a:gd name="T5" fmla="*/ 0 h 1135"/>
                <a:gd name="T6" fmla="*/ 375 w 375"/>
                <a:gd name="T7" fmla="*/ 189 h 1135"/>
                <a:gd name="T8" fmla="*/ 186 w 375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5" h="1135">
                  <a:moveTo>
                    <a:pt x="186" y="1135"/>
                  </a:moveTo>
                  <a:lnTo>
                    <a:pt x="0" y="189"/>
                  </a:lnTo>
                  <a:lnTo>
                    <a:pt x="156" y="0"/>
                  </a:lnTo>
                  <a:lnTo>
                    <a:pt x="375" y="189"/>
                  </a:lnTo>
                  <a:lnTo>
                    <a:pt x="186" y="113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59" name="Oval 38"/>
            <p:cNvSpPr>
              <a:spLocks noChangeArrowheads="1"/>
            </p:cNvSpPr>
            <p:nvPr/>
          </p:nvSpPr>
          <p:spPr bwMode="auto">
            <a:xfrm>
              <a:off x="6452734" y="1251752"/>
              <a:ext cx="980579" cy="98233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0" name="Oval 39"/>
            <p:cNvSpPr>
              <a:spLocks noChangeArrowheads="1"/>
            </p:cNvSpPr>
            <p:nvPr/>
          </p:nvSpPr>
          <p:spPr bwMode="auto">
            <a:xfrm>
              <a:off x="6556415" y="1357191"/>
              <a:ext cx="773217" cy="771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1" name="TextBox 40"/>
            <p:cNvSpPr txBox="1"/>
            <p:nvPr/>
          </p:nvSpPr>
          <p:spPr>
            <a:xfrm>
              <a:off x="6593842" y="1449654"/>
              <a:ext cx="6912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81DC63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03</a:t>
              </a:r>
              <a:endPara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81DC63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62" name="Group 57"/>
          <p:cNvGrpSpPr/>
          <p:nvPr/>
        </p:nvGrpSpPr>
        <p:grpSpPr>
          <a:xfrm>
            <a:off x="1830778" y="4011089"/>
            <a:ext cx="3877985" cy="1240900"/>
            <a:chOff x="1811642" y="3621479"/>
            <a:chExt cx="3877985" cy="1240900"/>
          </a:xfrm>
        </p:grpSpPr>
        <p:sp>
          <p:nvSpPr>
            <p:cNvPr id="63" name="TextBox 58"/>
            <p:cNvSpPr txBox="1"/>
            <p:nvPr/>
          </p:nvSpPr>
          <p:spPr>
            <a:xfrm>
              <a:off x="1811642" y="3621479"/>
              <a:ext cx="38779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rPr>
                <a:t>执行外部中断通用处理函数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4" name="TextBox 59"/>
            <p:cNvSpPr txBox="1"/>
            <p:nvPr/>
          </p:nvSpPr>
          <p:spPr>
            <a:xfrm>
              <a:off x="1811642" y="4066007"/>
              <a:ext cx="3502278" cy="796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latin typeface="Roboto Light"/>
                  <a:ea typeface="+mn-ea"/>
                </a:rPr>
                <a:t>判断中断标志并清除，调用外部中断回调函数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Light"/>
                <a:ea typeface="+mn-ea"/>
              </a:endParaRPr>
            </a:p>
          </p:txBody>
        </p:sp>
      </p:grpSp>
      <p:grpSp>
        <p:nvGrpSpPr>
          <p:cNvPr id="65" name="Group 78"/>
          <p:cNvGrpSpPr/>
          <p:nvPr/>
        </p:nvGrpSpPr>
        <p:grpSpPr>
          <a:xfrm>
            <a:off x="1119879" y="4063471"/>
            <a:ext cx="622647" cy="622647"/>
            <a:chOff x="1100743" y="3673861"/>
            <a:chExt cx="622647" cy="622647"/>
          </a:xfrm>
        </p:grpSpPr>
        <p:sp>
          <p:nvSpPr>
            <p:cNvPr id="66" name="Oval 79"/>
            <p:cNvSpPr/>
            <p:nvPr/>
          </p:nvSpPr>
          <p:spPr>
            <a:xfrm>
              <a:off x="1100743" y="3673861"/>
              <a:ext cx="622647" cy="62264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7" name="Freeform 40"/>
            <p:cNvSpPr>
              <a:spLocks noEditPoints="1"/>
            </p:cNvSpPr>
            <p:nvPr/>
          </p:nvSpPr>
          <p:spPr bwMode="auto">
            <a:xfrm>
              <a:off x="1263710" y="3835401"/>
              <a:ext cx="296713" cy="299566"/>
            </a:xfrm>
            <a:custGeom>
              <a:avLst/>
              <a:gdLst>
                <a:gd name="T0" fmla="*/ 66 w 88"/>
                <a:gd name="T1" fmla="*/ 83 h 89"/>
                <a:gd name="T2" fmla="*/ 82 w 88"/>
                <a:gd name="T3" fmla="*/ 67 h 89"/>
                <a:gd name="T4" fmla="*/ 87 w 88"/>
                <a:gd name="T5" fmla="*/ 53 h 89"/>
                <a:gd name="T6" fmla="*/ 87 w 88"/>
                <a:gd name="T7" fmla="*/ 36 h 89"/>
                <a:gd name="T8" fmla="*/ 82 w 88"/>
                <a:gd name="T9" fmla="*/ 22 h 89"/>
                <a:gd name="T10" fmla="*/ 66 w 88"/>
                <a:gd name="T11" fmla="*/ 6 h 89"/>
                <a:gd name="T12" fmla="*/ 60 w 88"/>
                <a:gd name="T13" fmla="*/ 3 h 89"/>
                <a:gd name="T14" fmla="*/ 47 w 88"/>
                <a:gd name="T15" fmla="*/ 0 h 89"/>
                <a:gd name="T16" fmla="*/ 49 w 88"/>
                <a:gd name="T17" fmla="*/ 5 h 89"/>
                <a:gd name="T18" fmla="*/ 54 w 88"/>
                <a:gd name="T19" fmla="*/ 5 h 89"/>
                <a:gd name="T20" fmla="*/ 59 w 88"/>
                <a:gd name="T21" fmla="*/ 6 h 89"/>
                <a:gd name="T22" fmla="*/ 58 w 88"/>
                <a:gd name="T23" fmla="*/ 7 h 89"/>
                <a:gd name="T24" fmla="*/ 51 w 88"/>
                <a:gd name="T25" fmla="*/ 10 h 89"/>
                <a:gd name="T26" fmla="*/ 52 w 88"/>
                <a:gd name="T27" fmla="*/ 14 h 89"/>
                <a:gd name="T28" fmla="*/ 56 w 88"/>
                <a:gd name="T29" fmla="*/ 17 h 89"/>
                <a:gd name="T30" fmla="*/ 62 w 88"/>
                <a:gd name="T31" fmla="*/ 9 h 89"/>
                <a:gd name="T32" fmla="*/ 67 w 88"/>
                <a:gd name="T33" fmla="*/ 10 h 89"/>
                <a:gd name="T34" fmla="*/ 71 w 88"/>
                <a:gd name="T35" fmla="*/ 12 h 89"/>
                <a:gd name="T36" fmla="*/ 73 w 88"/>
                <a:gd name="T37" fmla="*/ 18 h 89"/>
                <a:gd name="T38" fmla="*/ 71 w 88"/>
                <a:gd name="T39" fmla="*/ 21 h 89"/>
                <a:gd name="T40" fmla="*/ 69 w 88"/>
                <a:gd name="T41" fmla="*/ 19 h 89"/>
                <a:gd name="T42" fmla="*/ 63 w 88"/>
                <a:gd name="T43" fmla="*/ 20 h 89"/>
                <a:gd name="T44" fmla="*/ 67 w 88"/>
                <a:gd name="T45" fmla="*/ 22 h 89"/>
                <a:gd name="T46" fmla="*/ 58 w 88"/>
                <a:gd name="T47" fmla="*/ 26 h 89"/>
                <a:gd name="T48" fmla="*/ 53 w 88"/>
                <a:gd name="T49" fmla="*/ 29 h 89"/>
                <a:gd name="T50" fmla="*/ 48 w 88"/>
                <a:gd name="T51" fmla="*/ 34 h 89"/>
                <a:gd name="T52" fmla="*/ 51 w 88"/>
                <a:gd name="T53" fmla="*/ 53 h 89"/>
                <a:gd name="T54" fmla="*/ 56 w 88"/>
                <a:gd name="T55" fmla="*/ 54 h 89"/>
                <a:gd name="T56" fmla="*/ 61 w 88"/>
                <a:gd name="T57" fmla="*/ 56 h 89"/>
                <a:gd name="T58" fmla="*/ 69 w 88"/>
                <a:gd name="T59" fmla="*/ 60 h 89"/>
                <a:gd name="T60" fmla="*/ 73 w 88"/>
                <a:gd name="T61" fmla="*/ 64 h 89"/>
                <a:gd name="T62" fmla="*/ 80 w 88"/>
                <a:gd name="T63" fmla="*/ 67 h 89"/>
                <a:gd name="T64" fmla="*/ 50 w 88"/>
                <a:gd name="T65" fmla="*/ 78 h 89"/>
                <a:gd name="T66" fmla="*/ 0 w 88"/>
                <a:gd name="T67" fmla="*/ 38 h 89"/>
                <a:gd name="T68" fmla="*/ 1 w 88"/>
                <a:gd name="T69" fmla="*/ 56 h 89"/>
                <a:gd name="T70" fmla="*/ 9 w 88"/>
                <a:gd name="T71" fmla="*/ 72 h 89"/>
                <a:gd name="T72" fmla="*/ 28 w 88"/>
                <a:gd name="T73" fmla="*/ 86 h 89"/>
                <a:gd name="T74" fmla="*/ 45 w 88"/>
                <a:gd name="T75" fmla="*/ 71 h 89"/>
                <a:gd name="T76" fmla="*/ 43 w 88"/>
                <a:gd name="T77" fmla="*/ 63 h 89"/>
                <a:gd name="T78" fmla="*/ 45 w 88"/>
                <a:gd name="T79" fmla="*/ 57 h 89"/>
                <a:gd name="T80" fmla="*/ 40 w 88"/>
                <a:gd name="T81" fmla="*/ 55 h 89"/>
                <a:gd name="T82" fmla="*/ 34 w 88"/>
                <a:gd name="T83" fmla="*/ 51 h 89"/>
                <a:gd name="T84" fmla="*/ 25 w 88"/>
                <a:gd name="T85" fmla="*/ 47 h 89"/>
                <a:gd name="T86" fmla="*/ 21 w 88"/>
                <a:gd name="T87" fmla="*/ 40 h 89"/>
                <a:gd name="T88" fmla="*/ 19 w 88"/>
                <a:gd name="T89" fmla="*/ 39 h 89"/>
                <a:gd name="T90" fmla="*/ 19 w 88"/>
                <a:gd name="T91" fmla="*/ 40 h 89"/>
                <a:gd name="T92" fmla="*/ 16 w 88"/>
                <a:gd name="T93" fmla="*/ 33 h 89"/>
                <a:gd name="T94" fmla="*/ 16 w 88"/>
                <a:gd name="T95" fmla="*/ 26 h 89"/>
                <a:gd name="T96" fmla="*/ 19 w 88"/>
                <a:gd name="T97" fmla="*/ 18 h 89"/>
                <a:gd name="T98" fmla="*/ 18 w 88"/>
                <a:gd name="T99" fmla="*/ 13 h 89"/>
                <a:gd name="T100" fmla="*/ 39 w 88"/>
                <a:gd name="T101" fmla="*/ 3 h 89"/>
                <a:gd name="T102" fmla="*/ 47 w 88"/>
                <a:gd name="T103" fmla="*/ 0 h 89"/>
                <a:gd name="T104" fmla="*/ 27 w 88"/>
                <a:gd name="T105" fmla="*/ 3 h 89"/>
                <a:gd name="T106" fmla="*/ 13 w 88"/>
                <a:gd name="T107" fmla="*/ 13 h 89"/>
                <a:gd name="T108" fmla="*/ 3 w 88"/>
                <a:gd name="T109" fmla="*/ 28 h 89"/>
                <a:gd name="T110" fmla="*/ 47 w 88"/>
                <a:gd name="T111" fmla="*/ 56 h 89"/>
                <a:gd name="T112" fmla="*/ 40 w 88"/>
                <a:gd name="T113" fmla="*/ 49 h 89"/>
                <a:gd name="T114" fmla="*/ 39 w 88"/>
                <a:gd name="T115" fmla="*/ 45 h 89"/>
                <a:gd name="T116" fmla="*/ 31 w 88"/>
                <a:gd name="T117" fmla="*/ 46 h 89"/>
                <a:gd name="T118" fmla="*/ 35 w 88"/>
                <a:gd name="T119" fmla="*/ 37 h 89"/>
                <a:gd name="T120" fmla="*/ 43 w 88"/>
                <a:gd name="T121" fmla="*/ 37 h 89"/>
                <a:gd name="T122" fmla="*/ 46 w 88"/>
                <a:gd name="T123" fmla="*/ 3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8" h="89">
                  <a:moveTo>
                    <a:pt x="47" y="89"/>
                  </a:moveTo>
                  <a:cubicBezTo>
                    <a:pt x="49" y="89"/>
                    <a:pt x="52" y="88"/>
                    <a:pt x="54" y="88"/>
                  </a:cubicBezTo>
                  <a:cubicBezTo>
                    <a:pt x="55" y="87"/>
                    <a:pt x="57" y="87"/>
                    <a:pt x="58" y="86"/>
                  </a:cubicBezTo>
                  <a:cubicBezTo>
                    <a:pt x="59" y="86"/>
                    <a:pt x="59" y="86"/>
                    <a:pt x="60" y="86"/>
                  </a:cubicBezTo>
                  <a:cubicBezTo>
                    <a:pt x="61" y="85"/>
                    <a:pt x="63" y="85"/>
                    <a:pt x="64" y="84"/>
                  </a:cubicBezTo>
                  <a:cubicBezTo>
                    <a:pt x="65" y="84"/>
                    <a:pt x="65" y="83"/>
                    <a:pt x="66" y="83"/>
                  </a:cubicBezTo>
                  <a:cubicBezTo>
                    <a:pt x="69" y="81"/>
                    <a:pt x="71" y="79"/>
                    <a:pt x="74" y="77"/>
                  </a:cubicBezTo>
                  <a:cubicBezTo>
                    <a:pt x="74" y="77"/>
                    <a:pt x="75" y="76"/>
                    <a:pt x="75" y="76"/>
                  </a:cubicBezTo>
                  <a:cubicBezTo>
                    <a:pt x="76" y="75"/>
                    <a:pt x="76" y="75"/>
                    <a:pt x="77" y="74"/>
                  </a:cubicBezTo>
                  <a:cubicBezTo>
                    <a:pt x="77" y="73"/>
                    <a:pt x="78" y="73"/>
                    <a:pt x="79" y="72"/>
                  </a:cubicBezTo>
                  <a:cubicBezTo>
                    <a:pt x="80" y="71"/>
                    <a:pt x="81" y="69"/>
                    <a:pt x="82" y="68"/>
                  </a:cubicBezTo>
                  <a:cubicBezTo>
                    <a:pt x="82" y="67"/>
                    <a:pt x="82" y="67"/>
                    <a:pt x="82" y="67"/>
                  </a:cubicBezTo>
                  <a:cubicBezTo>
                    <a:pt x="83" y="66"/>
                    <a:pt x="83" y="65"/>
                    <a:pt x="83" y="65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4" y="63"/>
                    <a:pt x="84" y="62"/>
                    <a:pt x="85" y="62"/>
                  </a:cubicBezTo>
                  <a:cubicBezTo>
                    <a:pt x="85" y="61"/>
                    <a:pt x="85" y="60"/>
                    <a:pt x="86" y="60"/>
                  </a:cubicBezTo>
                  <a:cubicBezTo>
                    <a:pt x="86" y="58"/>
                    <a:pt x="86" y="57"/>
                    <a:pt x="87" y="56"/>
                  </a:cubicBezTo>
                  <a:cubicBezTo>
                    <a:pt x="87" y="55"/>
                    <a:pt x="87" y="54"/>
                    <a:pt x="87" y="53"/>
                  </a:cubicBezTo>
                  <a:cubicBezTo>
                    <a:pt x="87" y="53"/>
                    <a:pt x="88" y="52"/>
                    <a:pt x="88" y="51"/>
                  </a:cubicBezTo>
                  <a:cubicBezTo>
                    <a:pt x="88" y="50"/>
                    <a:pt x="88" y="50"/>
                    <a:pt x="88" y="49"/>
                  </a:cubicBezTo>
                  <a:cubicBezTo>
                    <a:pt x="88" y="47"/>
                    <a:pt x="88" y="46"/>
                    <a:pt x="88" y="44"/>
                  </a:cubicBezTo>
                  <a:cubicBezTo>
                    <a:pt x="88" y="43"/>
                    <a:pt x="88" y="41"/>
                    <a:pt x="88" y="40"/>
                  </a:cubicBezTo>
                  <a:cubicBezTo>
                    <a:pt x="88" y="39"/>
                    <a:pt x="88" y="38"/>
                    <a:pt x="88" y="38"/>
                  </a:cubicBezTo>
                  <a:cubicBezTo>
                    <a:pt x="88" y="37"/>
                    <a:pt x="87" y="36"/>
                    <a:pt x="87" y="36"/>
                  </a:cubicBezTo>
                  <a:cubicBezTo>
                    <a:pt x="87" y="35"/>
                    <a:pt x="87" y="34"/>
                    <a:pt x="87" y="33"/>
                  </a:cubicBezTo>
                  <a:cubicBezTo>
                    <a:pt x="86" y="32"/>
                    <a:pt x="86" y="31"/>
                    <a:pt x="86" y="29"/>
                  </a:cubicBezTo>
                  <a:cubicBezTo>
                    <a:pt x="85" y="29"/>
                    <a:pt x="85" y="29"/>
                    <a:pt x="85" y="28"/>
                  </a:cubicBezTo>
                  <a:cubicBezTo>
                    <a:pt x="85" y="27"/>
                    <a:pt x="84" y="26"/>
                    <a:pt x="84" y="25"/>
                  </a:cubicBezTo>
                  <a:cubicBezTo>
                    <a:pt x="84" y="25"/>
                    <a:pt x="84" y="25"/>
                    <a:pt x="83" y="24"/>
                  </a:cubicBezTo>
                  <a:cubicBezTo>
                    <a:pt x="83" y="24"/>
                    <a:pt x="83" y="23"/>
                    <a:pt x="82" y="22"/>
                  </a:cubicBezTo>
                  <a:cubicBezTo>
                    <a:pt x="81" y="21"/>
                    <a:pt x="80" y="19"/>
                    <a:pt x="79" y="17"/>
                  </a:cubicBezTo>
                  <a:cubicBezTo>
                    <a:pt x="78" y="16"/>
                    <a:pt x="77" y="15"/>
                    <a:pt x="77" y="15"/>
                  </a:cubicBezTo>
                  <a:cubicBezTo>
                    <a:pt x="76" y="14"/>
                    <a:pt x="76" y="14"/>
                    <a:pt x="75" y="13"/>
                  </a:cubicBezTo>
                  <a:cubicBezTo>
                    <a:pt x="75" y="13"/>
                    <a:pt x="74" y="12"/>
                    <a:pt x="74" y="12"/>
                  </a:cubicBezTo>
                  <a:cubicBezTo>
                    <a:pt x="73" y="11"/>
                    <a:pt x="72" y="10"/>
                    <a:pt x="71" y="9"/>
                  </a:cubicBezTo>
                  <a:cubicBezTo>
                    <a:pt x="69" y="8"/>
                    <a:pt x="68" y="7"/>
                    <a:pt x="66" y="6"/>
                  </a:cubicBezTo>
                  <a:cubicBezTo>
                    <a:pt x="65" y="6"/>
                    <a:pt x="65" y="5"/>
                    <a:pt x="64" y="5"/>
                  </a:cubicBezTo>
                  <a:cubicBezTo>
                    <a:pt x="64" y="5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1" y="4"/>
                    <a:pt x="61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59" y="3"/>
                    <a:pt x="58" y="3"/>
                  </a:cubicBezTo>
                  <a:cubicBezTo>
                    <a:pt x="58" y="3"/>
                    <a:pt x="58" y="2"/>
                    <a:pt x="58" y="2"/>
                  </a:cubicBezTo>
                  <a:cubicBezTo>
                    <a:pt x="57" y="2"/>
                    <a:pt x="55" y="2"/>
                    <a:pt x="54" y="1"/>
                  </a:cubicBezTo>
                  <a:cubicBezTo>
                    <a:pt x="54" y="1"/>
                    <a:pt x="53" y="1"/>
                    <a:pt x="53" y="1"/>
                  </a:cubicBezTo>
                  <a:cubicBezTo>
                    <a:pt x="53" y="1"/>
                    <a:pt x="52" y="1"/>
                    <a:pt x="52" y="1"/>
                  </a:cubicBezTo>
                  <a:cubicBezTo>
                    <a:pt x="50" y="1"/>
                    <a:pt x="49" y="0"/>
                    <a:pt x="47" y="0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9" y="3"/>
                    <a:pt x="51" y="3"/>
                    <a:pt x="52" y="3"/>
                  </a:cubicBezTo>
                  <a:cubicBezTo>
                    <a:pt x="52" y="4"/>
                    <a:pt x="52" y="3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0" y="4"/>
                    <a:pt x="49" y="4"/>
                    <a:pt x="48" y="4"/>
                  </a:cubicBezTo>
                  <a:cubicBezTo>
                    <a:pt x="48" y="4"/>
                    <a:pt x="49" y="4"/>
                    <a:pt x="49" y="5"/>
                  </a:cubicBezTo>
                  <a:cubicBezTo>
                    <a:pt x="50" y="5"/>
                    <a:pt x="50" y="5"/>
                    <a:pt x="51" y="5"/>
                  </a:cubicBezTo>
                  <a:cubicBezTo>
                    <a:pt x="52" y="5"/>
                    <a:pt x="52" y="5"/>
                    <a:pt x="53" y="5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4" y="4"/>
                  </a:cubicBezTo>
                  <a:cubicBezTo>
                    <a:pt x="54" y="4"/>
                    <a:pt x="54" y="4"/>
                    <a:pt x="55" y="4"/>
                  </a:cubicBezTo>
                  <a:cubicBezTo>
                    <a:pt x="55" y="4"/>
                    <a:pt x="54" y="4"/>
                    <a:pt x="54" y="5"/>
                  </a:cubicBezTo>
                  <a:cubicBezTo>
                    <a:pt x="55" y="5"/>
                    <a:pt x="55" y="5"/>
                    <a:pt x="56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7" y="4"/>
                    <a:pt x="57" y="5"/>
                    <a:pt x="58" y="5"/>
                  </a:cubicBezTo>
                  <a:cubicBezTo>
                    <a:pt x="59" y="5"/>
                    <a:pt x="60" y="6"/>
                    <a:pt x="61" y="6"/>
                  </a:cubicBezTo>
                  <a:cubicBezTo>
                    <a:pt x="61" y="6"/>
                    <a:pt x="60" y="6"/>
                    <a:pt x="60" y="6"/>
                  </a:cubicBezTo>
                  <a:cubicBezTo>
                    <a:pt x="60" y="6"/>
                    <a:pt x="60" y="6"/>
                    <a:pt x="59" y="6"/>
                  </a:cubicBezTo>
                  <a:cubicBezTo>
                    <a:pt x="59" y="6"/>
                    <a:pt x="60" y="7"/>
                    <a:pt x="60" y="7"/>
                  </a:cubicBezTo>
                  <a:cubicBezTo>
                    <a:pt x="61" y="7"/>
                    <a:pt x="61" y="7"/>
                    <a:pt x="61" y="8"/>
                  </a:cubicBezTo>
                  <a:cubicBezTo>
                    <a:pt x="61" y="9"/>
                    <a:pt x="60" y="8"/>
                    <a:pt x="60" y="8"/>
                  </a:cubicBezTo>
                  <a:cubicBezTo>
                    <a:pt x="59" y="8"/>
                    <a:pt x="58" y="9"/>
                    <a:pt x="57" y="8"/>
                  </a:cubicBezTo>
                  <a:cubicBezTo>
                    <a:pt x="57" y="7"/>
                    <a:pt x="58" y="7"/>
                    <a:pt x="58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7" y="7"/>
                    <a:pt x="57" y="7"/>
                  </a:cubicBezTo>
                  <a:cubicBezTo>
                    <a:pt x="57" y="7"/>
                    <a:pt x="57" y="8"/>
                    <a:pt x="56" y="8"/>
                  </a:cubicBezTo>
                  <a:cubicBezTo>
                    <a:pt x="56" y="8"/>
                    <a:pt x="56" y="8"/>
                    <a:pt x="55" y="8"/>
                  </a:cubicBezTo>
                  <a:cubicBezTo>
                    <a:pt x="55" y="8"/>
                    <a:pt x="54" y="8"/>
                    <a:pt x="54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2" y="9"/>
                    <a:pt x="52" y="9"/>
                    <a:pt x="51" y="10"/>
                  </a:cubicBezTo>
                  <a:cubicBezTo>
                    <a:pt x="50" y="10"/>
                    <a:pt x="50" y="10"/>
                    <a:pt x="49" y="11"/>
                  </a:cubicBezTo>
                  <a:cubicBezTo>
                    <a:pt x="49" y="11"/>
                    <a:pt x="49" y="11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4"/>
                    <a:pt x="52" y="14"/>
                  </a:cubicBezTo>
                  <a:cubicBezTo>
                    <a:pt x="52" y="14"/>
                    <a:pt x="53" y="15"/>
                    <a:pt x="53" y="15"/>
                  </a:cubicBezTo>
                  <a:cubicBezTo>
                    <a:pt x="54" y="15"/>
                    <a:pt x="55" y="15"/>
                    <a:pt x="55" y="15"/>
                  </a:cubicBezTo>
                  <a:cubicBezTo>
                    <a:pt x="55" y="16"/>
                    <a:pt x="54" y="16"/>
                    <a:pt x="54" y="16"/>
                  </a:cubicBezTo>
                  <a:cubicBezTo>
                    <a:pt x="55" y="17"/>
                    <a:pt x="54" y="17"/>
                    <a:pt x="54" y="17"/>
                  </a:cubicBezTo>
                  <a:cubicBezTo>
                    <a:pt x="54" y="18"/>
                    <a:pt x="54" y="18"/>
                    <a:pt x="55" y="18"/>
                  </a:cubicBezTo>
                  <a:cubicBezTo>
                    <a:pt x="55" y="18"/>
                    <a:pt x="56" y="18"/>
                    <a:pt x="56" y="17"/>
                  </a:cubicBezTo>
                  <a:cubicBezTo>
                    <a:pt x="56" y="17"/>
                    <a:pt x="56" y="16"/>
                    <a:pt x="57" y="15"/>
                  </a:cubicBezTo>
                  <a:cubicBezTo>
                    <a:pt x="59" y="15"/>
                    <a:pt x="61" y="14"/>
                    <a:pt x="61" y="12"/>
                  </a:cubicBezTo>
                  <a:cubicBezTo>
                    <a:pt x="61" y="12"/>
                    <a:pt x="61" y="12"/>
                    <a:pt x="61" y="11"/>
                  </a:cubicBezTo>
                  <a:cubicBezTo>
                    <a:pt x="61" y="11"/>
                    <a:pt x="61" y="11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4" y="9"/>
                    <a:pt x="64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6" y="9"/>
                    <a:pt x="66" y="10"/>
                    <a:pt x="66" y="10"/>
                  </a:cubicBezTo>
                  <a:cubicBezTo>
                    <a:pt x="66" y="10"/>
                    <a:pt x="67" y="10"/>
                    <a:pt x="67" y="10"/>
                  </a:cubicBezTo>
                  <a:cubicBezTo>
                    <a:pt x="67" y="11"/>
                    <a:pt x="66" y="11"/>
                    <a:pt x="66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12"/>
                    <a:pt x="67" y="12"/>
                    <a:pt x="67" y="12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9" y="12"/>
                    <a:pt x="69" y="11"/>
                    <a:pt x="69" y="11"/>
                  </a:cubicBezTo>
                  <a:cubicBezTo>
                    <a:pt x="70" y="11"/>
                    <a:pt x="70" y="12"/>
                    <a:pt x="71" y="12"/>
                  </a:cubicBezTo>
                  <a:cubicBezTo>
                    <a:pt x="71" y="12"/>
                    <a:pt x="71" y="13"/>
                    <a:pt x="71" y="13"/>
                  </a:cubicBezTo>
                  <a:cubicBezTo>
                    <a:pt x="71" y="13"/>
                    <a:pt x="71" y="14"/>
                    <a:pt x="71" y="14"/>
                  </a:cubicBezTo>
                  <a:cubicBezTo>
                    <a:pt x="71" y="15"/>
                    <a:pt x="72" y="15"/>
                    <a:pt x="72" y="15"/>
                  </a:cubicBezTo>
                  <a:cubicBezTo>
                    <a:pt x="73" y="15"/>
                    <a:pt x="73" y="16"/>
                    <a:pt x="73" y="16"/>
                  </a:cubicBezTo>
                  <a:cubicBezTo>
                    <a:pt x="73" y="16"/>
                    <a:pt x="73" y="16"/>
                    <a:pt x="73" y="17"/>
                  </a:cubicBezTo>
                  <a:cubicBezTo>
                    <a:pt x="73" y="17"/>
                    <a:pt x="73" y="17"/>
                    <a:pt x="73" y="18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2" y="20"/>
                    <a:pt x="73" y="19"/>
                    <a:pt x="73" y="20"/>
                  </a:cubicBezTo>
                  <a:cubicBezTo>
                    <a:pt x="74" y="20"/>
                    <a:pt x="73" y="20"/>
                    <a:pt x="73" y="21"/>
                  </a:cubicBezTo>
                  <a:cubicBezTo>
                    <a:pt x="74" y="21"/>
                    <a:pt x="74" y="22"/>
                    <a:pt x="73" y="22"/>
                  </a:cubicBezTo>
                  <a:cubicBezTo>
                    <a:pt x="73" y="22"/>
                    <a:pt x="73" y="22"/>
                    <a:pt x="72" y="22"/>
                  </a:cubicBezTo>
                  <a:cubicBezTo>
                    <a:pt x="72" y="22"/>
                    <a:pt x="72" y="22"/>
                    <a:pt x="71" y="21"/>
                  </a:cubicBezTo>
                  <a:cubicBezTo>
                    <a:pt x="71" y="21"/>
                    <a:pt x="71" y="21"/>
                    <a:pt x="71" y="21"/>
                  </a:cubicBezTo>
                  <a:cubicBezTo>
                    <a:pt x="70" y="21"/>
                    <a:pt x="69" y="21"/>
                    <a:pt x="69" y="21"/>
                  </a:cubicBezTo>
                  <a:cubicBezTo>
                    <a:pt x="70" y="20"/>
                    <a:pt x="70" y="20"/>
                    <a:pt x="71" y="19"/>
                  </a:cubicBezTo>
                  <a:cubicBezTo>
                    <a:pt x="71" y="19"/>
                    <a:pt x="72" y="19"/>
                    <a:pt x="72" y="18"/>
                  </a:cubicBezTo>
                  <a:cubicBezTo>
                    <a:pt x="71" y="18"/>
                    <a:pt x="71" y="18"/>
                    <a:pt x="70" y="18"/>
                  </a:cubicBezTo>
                  <a:cubicBezTo>
                    <a:pt x="70" y="19"/>
                    <a:pt x="69" y="19"/>
                    <a:pt x="69" y="19"/>
                  </a:cubicBezTo>
                  <a:cubicBezTo>
                    <a:pt x="68" y="19"/>
                    <a:pt x="67" y="19"/>
                    <a:pt x="67" y="19"/>
                  </a:cubicBezTo>
                  <a:cubicBezTo>
                    <a:pt x="66" y="20"/>
                    <a:pt x="67" y="19"/>
                    <a:pt x="67" y="20"/>
                  </a:cubicBezTo>
                  <a:cubicBezTo>
                    <a:pt x="67" y="20"/>
                    <a:pt x="67" y="20"/>
                    <a:pt x="66" y="20"/>
                  </a:cubicBezTo>
                  <a:cubicBezTo>
                    <a:pt x="66" y="20"/>
                    <a:pt x="66" y="19"/>
                    <a:pt x="66" y="19"/>
                  </a:cubicBezTo>
                  <a:cubicBezTo>
                    <a:pt x="66" y="19"/>
                    <a:pt x="65" y="19"/>
                    <a:pt x="64" y="19"/>
                  </a:cubicBezTo>
                  <a:cubicBezTo>
                    <a:pt x="64" y="19"/>
                    <a:pt x="64" y="19"/>
                    <a:pt x="63" y="20"/>
                  </a:cubicBezTo>
                  <a:cubicBezTo>
                    <a:pt x="64" y="20"/>
                    <a:pt x="65" y="20"/>
                    <a:pt x="65" y="20"/>
                  </a:cubicBezTo>
                  <a:cubicBezTo>
                    <a:pt x="65" y="21"/>
                    <a:pt x="64" y="21"/>
                    <a:pt x="64" y="22"/>
                  </a:cubicBezTo>
                  <a:cubicBezTo>
                    <a:pt x="64" y="22"/>
                    <a:pt x="65" y="23"/>
                    <a:pt x="65" y="23"/>
                  </a:cubicBezTo>
                  <a:cubicBezTo>
                    <a:pt x="65" y="23"/>
                    <a:pt x="65" y="23"/>
                    <a:pt x="66" y="23"/>
                  </a:cubicBezTo>
                  <a:cubicBezTo>
                    <a:pt x="66" y="23"/>
                    <a:pt x="66" y="23"/>
                    <a:pt x="66" y="23"/>
                  </a:cubicBezTo>
                  <a:cubicBezTo>
                    <a:pt x="67" y="23"/>
                    <a:pt x="67" y="22"/>
                    <a:pt x="67" y="22"/>
                  </a:cubicBezTo>
                  <a:cubicBezTo>
                    <a:pt x="68" y="23"/>
                    <a:pt x="67" y="23"/>
                    <a:pt x="66" y="23"/>
                  </a:cubicBezTo>
                  <a:cubicBezTo>
                    <a:pt x="65" y="24"/>
                    <a:pt x="64" y="24"/>
                    <a:pt x="64" y="24"/>
                  </a:cubicBezTo>
                  <a:cubicBezTo>
                    <a:pt x="64" y="24"/>
                    <a:pt x="62" y="25"/>
                    <a:pt x="62" y="25"/>
                  </a:cubicBezTo>
                  <a:cubicBezTo>
                    <a:pt x="62" y="24"/>
                    <a:pt x="63" y="24"/>
                    <a:pt x="63" y="24"/>
                  </a:cubicBezTo>
                  <a:cubicBezTo>
                    <a:pt x="62" y="23"/>
                    <a:pt x="61" y="24"/>
                    <a:pt x="61" y="24"/>
                  </a:cubicBezTo>
                  <a:cubicBezTo>
                    <a:pt x="60" y="24"/>
                    <a:pt x="58" y="25"/>
                    <a:pt x="58" y="26"/>
                  </a:cubicBezTo>
                  <a:cubicBezTo>
                    <a:pt x="58" y="26"/>
                    <a:pt x="58" y="26"/>
                    <a:pt x="58" y="27"/>
                  </a:cubicBezTo>
                  <a:cubicBezTo>
                    <a:pt x="58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5" y="27"/>
                    <a:pt x="55" y="27"/>
                  </a:cubicBezTo>
                  <a:cubicBezTo>
                    <a:pt x="55" y="28"/>
                    <a:pt x="55" y="28"/>
                    <a:pt x="54" y="28"/>
                  </a:cubicBezTo>
                  <a:cubicBezTo>
                    <a:pt x="54" y="29"/>
                    <a:pt x="54" y="29"/>
                    <a:pt x="53" y="29"/>
                  </a:cubicBezTo>
                  <a:cubicBezTo>
                    <a:pt x="53" y="29"/>
                    <a:pt x="53" y="30"/>
                    <a:pt x="53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2" y="31"/>
                    <a:pt x="52" y="32"/>
                  </a:cubicBezTo>
                  <a:cubicBezTo>
                    <a:pt x="51" y="32"/>
                    <a:pt x="51" y="33"/>
                    <a:pt x="50" y="33"/>
                  </a:cubicBezTo>
                  <a:cubicBezTo>
                    <a:pt x="50" y="33"/>
                    <a:pt x="49" y="33"/>
                    <a:pt x="49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4"/>
                    <a:pt x="47" y="35"/>
                    <a:pt x="47" y="35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7" y="55"/>
                    <a:pt x="47" y="55"/>
                    <a:pt x="48" y="55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9" y="53"/>
                    <a:pt x="49" y="53"/>
                    <a:pt x="50" y="53"/>
                  </a:cubicBezTo>
                  <a:cubicBezTo>
                    <a:pt x="50" y="53"/>
                    <a:pt x="50" y="53"/>
                    <a:pt x="51" y="53"/>
                  </a:cubicBezTo>
                  <a:cubicBezTo>
                    <a:pt x="51" y="53"/>
                    <a:pt x="51" y="52"/>
                    <a:pt x="51" y="52"/>
                  </a:cubicBezTo>
                  <a:cubicBezTo>
                    <a:pt x="52" y="53"/>
                    <a:pt x="51" y="53"/>
                    <a:pt x="51" y="53"/>
                  </a:cubicBezTo>
                  <a:cubicBezTo>
                    <a:pt x="52" y="54"/>
                    <a:pt x="52" y="53"/>
                    <a:pt x="53" y="53"/>
                  </a:cubicBezTo>
                  <a:cubicBezTo>
                    <a:pt x="53" y="53"/>
                    <a:pt x="53" y="53"/>
                    <a:pt x="54" y="53"/>
                  </a:cubicBezTo>
                  <a:cubicBezTo>
                    <a:pt x="54" y="53"/>
                    <a:pt x="54" y="54"/>
                    <a:pt x="55" y="54"/>
                  </a:cubicBezTo>
                  <a:cubicBezTo>
                    <a:pt x="55" y="54"/>
                    <a:pt x="55" y="54"/>
                    <a:pt x="56" y="54"/>
                  </a:cubicBezTo>
                  <a:cubicBezTo>
                    <a:pt x="56" y="54"/>
                    <a:pt x="56" y="54"/>
                    <a:pt x="57" y="54"/>
                  </a:cubicBezTo>
                  <a:cubicBezTo>
                    <a:pt x="57" y="54"/>
                    <a:pt x="58" y="54"/>
                    <a:pt x="58" y="54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0" y="55"/>
                    <a:pt x="60" y="55"/>
                    <a:pt x="60" y="55"/>
                  </a:cubicBezTo>
                  <a:cubicBezTo>
                    <a:pt x="61" y="55"/>
                    <a:pt x="61" y="55"/>
                    <a:pt x="61" y="56"/>
                  </a:cubicBezTo>
                  <a:cubicBezTo>
                    <a:pt x="61" y="56"/>
                    <a:pt x="61" y="56"/>
                    <a:pt x="62" y="56"/>
                  </a:cubicBezTo>
                  <a:cubicBezTo>
                    <a:pt x="62" y="56"/>
                    <a:pt x="62" y="57"/>
                    <a:pt x="63" y="57"/>
                  </a:cubicBezTo>
                  <a:cubicBezTo>
                    <a:pt x="63" y="58"/>
                    <a:pt x="64" y="58"/>
                    <a:pt x="64" y="58"/>
                  </a:cubicBezTo>
                  <a:cubicBezTo>
                    <a:pt x="65" y="58"/>
                    <a:pt x="65" y="58"/>
                    <a:pt x="66" y="58"/>
                  </a:cubicBezTo>
                  <a:cubicBezTo>
                    <a:pt x="67" y="58"/>
                    <a:pt x="67" y="59"/>
                    <a:pt x="68" y="59"/>
                  </a:cubicBezTo>
                  <a:cubicBezTo>
                    <a:pt x="68" y="59"/>
                    <a:pt x="69" y="60"/>
                    <a:pt x="69" y="60"/>
                  </a:cubicBezTo>
                  <a:cubicBezTo>
                    <a:pt x="69" y="60"/>
                    <a:pt x="69" y="61"/>
                    <a:pt x="69" y="61"/>
                  </a:cubicBezTo>
                  <a:cubicBezTo>
                    <a:pt x="69" y="61"/>
                    <a:pt x="70" y="62"/>
                    <a:pt x="70" y="63"/>
                  </a:cubicBezTo>
                  <a:cubicBezTo>
                    <a:pt x="70" y="63"/>
                    <a:pt x="70" y="63"/>
                    <a:pt x="71" y="63"/>
                  </a:cubicBezTo>
                  <a:cubicBezTo>
                    <a:pt x="71" y="63"/>
                    <a:pt x="71" y="64"/>
                    <a:pt x="71" y="64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2" y="64"/>
                    <a:pt x="73" y="64"/>
                    <a:pt x="73" y="64"/>
                  </a:cubicBezTo>
                  <a:cubicBezTo>
                    <a:pt x="74" y="64"/>
                    <a:pt x="74" y="64"/>
                    <a:pt x="74" y="65"/>
                  </a:cubicBezTo>
                  <a:cubicBezTo>
                    <a:pt x="74" y="65"/>
                    <a:pt x="74" y="65"/>
                    <a:pt x="75" y="65"/>
                  </a:cubicBezTo>
                  <a:cubicBezTo>
                    <a:pt x="75" y="66"/>
                    <a:pt x="75" y="65"/>
                    <a:pt x="76" y="65"/>
                  </a:cubicBezTo>
                  <a:cubicBezTo>
                    <a:pt x="76" y="65"/>
                    <a:pt x="77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9" y="66"/>
                    <a:pt x="79" y="66"/>
                    <a:pt x="80" y="67"/>
                  </a:cubicBezTo>
                  <a:cubicBezTo>
                    <a:pt x="74" y="76"/>
                    <a:pt x="65" y="83"/>
                    <a:pt x="54" y="85"/>
                  </a:cubicBezTo>
                  <a:cubicBezTo>
                    <a:pt x="54" y="85"/>
                    <a:pt x="54" y="84"/>
                    <a:pt x="54" y="84"/>
                  </a:cubicBezTo>
                  <a:cubicBezTo>
                    <a:pt x="54" y="83"/>
                    <a:pt x="54" y="82"/>
                    <a:pt x="54" y="82"/>
                  </a:cubicBezTo>
                  <a:cubicBezTo>
                    <a:pt x="53" y="81"/>
                    <a:pt x="53" y="80"/>
                    <a:pt x="53" y="80"/>
                  </a:cubicBezTo>
                  <a:cubicBezTo>
                    <a:pt x="53" y="79"/>
                    <a:pt x="52" y="78"/>
                    <a:pt x="51" y="78"/>
                  </a:cubicBezTo>
                  <a:cubicBezTo>
                    <a:pt x="51" y="78"/>
                    <a:pt x="51" y="78"/>
                    <a:pt x="50" y="78"/>
                  </a:cubicBezTo>
                  <a:cubicBezTo>
                    <a:pt x="49" y="77"/>
                    <a:pt x="48" y="77"/>
                    <a:pt x="48" y="76"/>
                  </a:cubicBezTo>
                  <a:cubicBezTo>
                    <a:pt x="47" y="76"/>
                    <a:pt x="47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lnTo>
                    <a:pt x="47" y="89"/>
                  </a:lnTo>
                  <a:close/>
                  <a:moveTo>
                    <a:pt x="0" y="36"/>
                  </a:moveTo>
                  <a:cubicBezTo>
                    <a:pt x="0" y="36"/>
                    <a:pt x="0" y="37"/>
                    <a:pt x="0" y="38"/>
                  </a:cubicBezTo>
                  <a:cubicBezTo>
                    <a:pt x="0" y="38"/>
                    <a:pt x="0" y="39"/>
                    <a:pt x="0" y="40"/>
                  </a:cubicBezTo>
                  <a:cubicBezTo>
                    <a:pt x="0" y="41"/>
                    <a:pt x="0" y="43"/>
                    <a:pt x="0" y="44"/>
                  </a:cubicBezTo>
                  <a:cubicBezTo>
                    <a:pt x="0" y="46"/>
                    <a:pt x="0" y="47"/>
                    <a:pt x="0" y="49"/>
                  </a:cubicBezTo>
                  <a:cubicBezTo>
                    <a:pt x="0" y="50"/>
                    <a:pt x="0" y="50"/>
                    <a:pt x="0" y="51"/>
                  </a:cubicBezTo>
                  <a:cubicBezTo>
                    <a:pt x="0" y="52"/>
                    <a:pt x="0" y="53"/>
                    <a:pt x="0" y="53"/>
                  </a:cubicBezTo>
                  <a:cubicBezTo>
                    <a:pt x="1" y="54"/>
                    <a:pt x="1" y="55"/>
                    <a:pt x="1" y="56"/>
                  </a:cubicBezTo>
                  <a:cubicBezTo>
                    <a:pt x="1" y="57"/>
                    <a:pt x="2" y="58"/>
                    <a:pt x="2" y="60"/>
                  </a:cubicBezTo>
                  <a:cubicBezTo>
                    <a:pt x="2" y="60"/>
                    <a:pt x="3" y="61"/>
                    <a:pt x="3" y="62"/>
                  </a:cubicBezTo>
                  <a:cubicBezTo>
                    <a:pt x="3" y="62"/>
                    <a:pt x="4" y="63"/>
                    <a:pt x="4" y="64"/>
                  </a:cubicBezTo>
                  <a:cubicBezTo>
                    <a:pt x="4" y="64"/>
                    <a:pt x="4" y="64"/>
                    <a:pt x="4" y="65"/>
                  </a:cubicBezTo>
                  <a:cubicBezTo>
                    <a:pt x="5" y="65"/>
                    <a:pt x="5" y="66"/>
                    <a:pt x="5" y="67"/>
                  </a:cubicBezTo>
                  <a:cubicBezTo>
                    <a:pt x="6" y="68"/>
                    <a:pt x="8" y="70"/>
                    <a:pt x="9" y="72"/>
                  </a:cubicBezTo>
                  <a:cubicBezTo>
                    <a:pt x="10" y="73"/>
                    <a:pt x="10" y="73"/>
                    <a:pt x="11" y="74"/>
                  </a:cubicBezTo>
                  <a:cubicBezTo>
                    <a:pt x="12" y="75"/>
                    <a:pt x="12" y="75"/>
                    <a:pt x="13" y="76"/>
                  </a:cubicBezTo>
                  <a:cubicBezTo>
                    <a:pt x="13" y="76"/>
                    <a:pt x="14" y="77"/>
                    <a:pt x="14" y="77"/>
                  </a:cubicBezTo>
                  <a:cubicBezTo>
                    <a:pt x="16" y="79"/>
                    <a:pt x="19" y="81"/>
                    <a:pt x="22" y="83"/>
                  </a:cubicBezTo>
                  <a:cubicBezTo>
                    <a:pt x="22" y="83"/>
                    <a:pt x="23" y="84"/>
                    <a:pt x="24" y="84"/>
                  </a:cubicBezTo>
                  <a:cubicBezTo>
                    <a:pt x="25" y="85"/>
                    <a:pt x="26" y="85"/>
                    <a:pt x="28" y="86"/>
                  </a:cubicBezTo>
                  <a:cubicBezTo>
                    <a:pt x="28" y="86"/>
                    <a:pt x="29" y="86"/>
                    <a:pt x="30" y="86"/>
                  </a:cubicBezTo>
                  <a:cubicBezTo>
                    <a:pt x="34" y="88"/>
                    <a:pt x="39" y="89"/>
                    <a:pt x="44" y="89"/>
                  </a:cubicBezTo>
                  <a:cubicBezTo>
                    <a:pt x="45" y="89"/>
                    <a:pt x="46" y="89"/>
                    <a:pt x="47" y="89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7" y="74"/>
                    <a:pt x="47" y="74"/>
                    <a:pt x="46" y="74"/>
                  </a:cubicBezTo>
                  <a:cubicBezTo>
                    <a:pt x="46" y="73"/>
                    <a:pt x="45" y="72"/>
                    <a:pt x="45" y="71"/>
                  </a:cubicBezTo>
                  <a:cubicBezTo>
                    <a:pt x="44" y="70"/>
                    <a:pt x="44" y="70"/>
                    <a:pt x="44" y="69"/>
                  </a:cubicBezTo>
                  <a:cubicBezTo>
                    <a:pt x="44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7"/>
                  </a:cubicBezTo>
                  <a:cubicBezTo>
                    <a:pt x="43" y="67"/>
                    <a:pt x="44" y="66"/>
                    <a:pt x="44" y="66"/>
                  </a:cubicBezTo>
                  <a:cubicBezTo>
                    <a:pt x="44" y="66"/>
                    <a:pt x="43" y="65"/>
                    <a:pt x="43" y="65"/>
                  </a:cubicBezTo>
                  <a:cubicBezTo>
                    <a:pt x="43" y="64"/>
                    <a:pt x="43" y="64"/>
                    <a:pt x="43" y="63"/>
                  </a:cubicBezTo>
                  <a:cubicBezTo>
                    <a:pt x="43" y="63"/>
                    <a:pt x="44" y="63"/>
                    <a:pt x="44" y="63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5" y="62"/>
                    <a:pt x="45" y="62"/>
                    <a:pt x="45" y="61"/>
                  </a:cubicBezTo>
                  <a:cubicBezTo>
                    <a:pt x="45" y="61"/>
                    <a:pt x="46" y="61"/>
                    <a:pt x="46" y="60"/>
                  </a:cubicBezTo>
                  <a:cubicBezTo>
                    <a:pt x="46" y="60"/>
                    <a:pt x="46" y="58"/>
                    <a:pt x="46" y="58"/>
                  </a:cubicBezTo>
                  <a:cubicBezTo>
                    <a:pt x="46" y="57"/>
                    <a:pt x="46" y="57"/>
                    <a:pt x="45" y="57"/>
                  </a:cubicBezTo>
                  <a:cubicBezTo>
                    <a:pt x="45" y="56"/>
                    <a:pt x="45" y="55"/>
                    <a:pt x="45" y="55"/>
                  </a:cubicBezTo>
                  <a:cubicBezTo>
                    <a:pt x="44" y="55"/>
                    <a:pt x="44" y="56"/>
                    <a:pt x="44" y="56"/>
                  </a:cubicBezTo>
                  <a:cubicBezTo>
                    <a:pt x="44" y="56"/>
                    <a:pt x="44" y="57"/>
                    <a:pt x="43" y="57"/>
                  </a:cubicBezTo>
                  <a:cubicBezTo>
                    <a:pt x="43" y="57"/>
                    <a:pt x="43" y="56"/>
                    <a:pt x="42" y="56"/>
                  </a:cubicBezTo>
                  <a:cubicBezTo>
                    <a:pt x="42" y="56"/>
                    <a:pt x="41" y="56"/>
                    <a:pt x="41" y="56"/>
                  </a:cubicBezTo>
                  <a:cubicBezTo>
                    <a:pt x="41" y="56"/>
                    <a:pt x="41" y="55"/>
                    <a:pt x="40" y="55"/>
                  </a:cubicBezTo>
                  <a:cubicBezTo>
                    <a:pt x="40" y="55"/>
                    <a:pt x="39" y="55"/>
                    <a:pt x="39" y="54"/>
                  </a:cubicBezTo>
                  <a:cubicBezTo>
                    <a:pt x="39" y="54"/>
                    <a:pt x="39" y="54"/>
                    <a:pt x="39" y="53"/>
                  </a:cubicBezTo>
                  <a:cubicBezTo>
                    <a:pt x="38" y="53"/>
                    <a:pt x="38" y="52"/>
                    <a:pt x="37" y="52"/>
                  </a:cubicBezTo>
                  <a:cubicBezTo>
                    <a:pt x="37" y="51"/>
                    <a:pt x="36" y="52"/>
                    <a:pt x="36" y="51"/>
                  </a:cubicBezTo>
                  <a:cubicBezTo>
                    <a:pt x="36" y="51"/>
                    <a:pt x="35" y="51"/>
                    <a:pt x="35" y="51"/>
                  </a:cubicBezTo>
                  <a:cubicBezTo>
                    <a:pt x="35" y="51"/>
                    <a:pt x="35" y="51"/>
                    <a:pt x="34" y="51"/>
                  </a:cubicBezTo>
                  <a:cubicBezTo>
                    <a:pt x="33" y="50"/>
                    <a:pt x="33" y="49"/>
                    <a:pt x="32" y="49"/>
                  </a:cubicBezTo>
                  <a:cubicBezTo>
                    <a:pt x="31" y="49"/>
                    <a:pt x="31" y="49"/>
                    <a:pt x="30" y="49"/>
                  </a:cubicBezTo>
                  <a:cubicBezTo>
                    <a:pt x="30" y="49"/>
                    <a:pt x="29" y="49"/>
                    <a:pt x="29" y="49"/>
                  </a:cubicBezTo>
                  <a:cubicBezTo>
                    <a:pt x="28" y="49"/>
                    <a:pt x="27" y="48"/>
                    <a:pt x="27" y="48"/>
                  </a:cubicBezTo>
                  <a:cubicBezTo>
                    <a:pt x="26" y="48"/>
                    <a:pt x="26" y="48"/>
                    <a:pt x="26" y="47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5" y="47"/>
                    <a:pt x="24" y="47"/>
                    <a:pt x="24" y="46"/>
                  </a:cubicBezTo>
                  <a:cubicBezTo>
                    <a:pt x="24" y="46"/>
                    <a:pt x="23" y="46"/>
                    <a:pt x="23" y="46"/>
                  </a:cubicBezTo>
                  <a:cubicBezTo>
                    <a:pt x="23" y="45"/>
                    <a:pt x="24" y="45"/>
                    <a:pt x="24" y="44"/>
                  </a:cubicBezTo>
                  <a:cubicBezTo>
                    <a:pt x="24" y="43"/>
                    <a:pt x="23" y="43"/>
                    <a:pt x="22" y="42"/>
                  </a:cubicBezTo>
                  <a:cubicBezTo>
                    <a:pt x="22" y="41"/>
                    <a:pt x="22" y="41"/>
                    <a:pt x="21" y="4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0"/>
                    <a:pt x="21" y="39"/>
                    <a:pt x="20" y="39"/>
                  </a:cubicBezTo>
                  <a:cubicBezTo>
                    <a:pt x="20" y="38"/>
                    <a:pt x="19" y="38"/>
                    <a:pt x="19" y="37"/>
                  </a:cubicBezTo>
                  <a:cubicBezTo>
                    <a:pt x="19" y="37"/>
                    <a:pt x="20" y="36"/>
                    <a:pt x="19" y="36"/>
                  </a:cubicBezTo>
                  <a:cubicBezTo>
                    <a:pt x="19" y="35"/>
                    <a:pt x="18" y="35"/>
                    <a:pt x="18" y="37"/>
                  </a:cubicBezTo>
                  <a:cubicBezTo>
                    <a:pt x="18" y="37"/>
                    <a:pt x="18" y="37"/>
                    <a:pt x="19" y="38"/>
                  </a:cubicBezTo>
                  <a:cubicBezTo>
                    <a:pt x="19" y="38"/>
                    <a:pt x="19" y="38"/>
                    <a:pt x="19" y="39"/>
                  </a:cubicBezTo>
                  <a:cubicBezTo>
                    <a:pt x="19" y="39"/>
                    <a:pt x="19" y="39"/>
                    <a:pt x="19" y="40"/>
                  </a:cubicBezTo>
                  <a:cubicBezTo>
                    <a:pt x="20" y="40"/>
                    <a:pt x="20" y="41"/>
                    <a:pt x="20" y="42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3"/>
                    <a:pt x="20" y="42"/>
                    <a:pt x="19" y="42"/>
                  </a:cubicBezTo>
                  <a:cubicBezTo>
                    <a:pt x="19" y="42"/>
                    <a:pt x="19" y="42"/>
                    <a:pt x="19" y="41"/>
                  </a:cubicBezTo>
                  <a:cubicBezTo>
                    <a:pt x="18" y="41"/>
                    <a:pt x="19" y="41"/>
                    <a:pt x="19" y="40"/>
                  </a:cubicBezTo>
                  <a:cubicBezTo>
                    <a:pt x="18" y="40"/>
                    <a:pt x="17" y="40"/>
                    <a:pt x="17" y="39"/>
                  </a:cubicBezTo>
                  <a:cubicBezTo>
                    <a:pt x="17" y="39"/>
                    <a:pt x="18" y="38"/>
                    <a:pt x="18" y="38"/>
                  </a:cubicBezTo>
                  <a:cubicBezTo>
                    <a:pt x="18" y="38"/>
                    <a:pt x="17" y="37"/>
                    <a:pt x="17" y="37"/>
                  </a:cubicBezTo>
                  <a:cubicBezTo>
                    <a:pt x="17" y="36"/>
                    <a:pt x="17" y="36"/>
                    <a:pt x="17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2"/>
                    <a:pt x="14" y="32"/>
                    <a:pt x="14" y="31"/>
                  </a:cubicBezTo>
                  <a:cubicBezTo>
                    <a:pt x="14" y="31"/>
                    <a:pt x="14" y="30"/>
                    <a:pt x="14" y="30"/>
                  </a:cubicBezTo>
                  <a:cubicBezTo>
                    <a:pt x="14" y="29"/>
                    <a:pt x="14" y="28"/>
                    <a:pt x="14" y="28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6"/>
                    <a:pt x="16" y="26"/>
                    <a:pt x="16" y="26"/>
                  </a:cubicBezTo>
                  <a:cubicBezTo>
                    <a:pt x="16" y="25"/>
                    <a:pt x="17" y="24"/>
                    <a:pt x="17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21"/>
                    <a:pt x="19" y="21"/>
                    <a:pt x="19" y="20"/>
                  </a:cubicBezTo>
                  <a:cubicBezTo>
                    <a:pt x="19" y="20"/>
                    <a:pt x="18" y="20"/>
                    <a:pt x="18" y="19"/>
                  </a:cubicBezTo>
                  <a:cubicBezTo>
                    <a:pt x="18" y="19"/>
                    <a:pt x="19" y="19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7"/>
                    <a:pt x="19" y="17"/>
                    <a:pt x="19" y="16"/>
                  </a:cubicBezTo>
                  <a:cubicBezTo>
                    <a:pt x="19" y="16"/>
                    <a:pt x="20" y="16"/>
                    <a:pt x="19" y="15"/>
                  </a:cubicBezTo>
                  <a:cubicBezTo>
                    <a:pt x="19" y="15"/>
                    <a:pt x="18" y="15"/>
                    <a:pt x="18" y="15"/>
                  </a:cubicBezTo>
                  <a:cubicBezTo>
                    <a:pt x="18" y="15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3" y="7"/>
                    <a:pt x="29" y="4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7" y="3"/>
                    <a:pt x="37" y="4"/>
                  </a:cubicBezTo>
                  <a:cubicBezTo>
                    <a:pt x="37" y="3"/>
                    <a:pt x="38" y="4"/>
                    <a:pt x="38" y="4"/>
                  </a:cubicBezTo>
                  <a:cubicBezTo>
                    <a:pt x="38" y="4"/>
                    <a:pt x="39" y="3"/>
                    <a:pt x="39" y="3"/>
                  </a:cubicBezTo>
                  <a:cubicBezTo>
                    <a:pt x="40" y="4"/>
                    <a:pt x="41" y="4"/>
                    <a:pt x="42" y="4"/>
                  </a:cubicBezTo>
                  <a:cubicBezTo>
                    <a:pt x="42" y="4"/>
                    <a:pt x="42" y="4"/>
                    <a:pt x="42" y="3"/>
                  </a:cubicBezTo>
                  <a:cubicBezTo>
                    <a:pt x="43" y="3"/>
                    <a:pt x="43" y="3"/>
                    <a:pt x="43" y="2"/>
                  </a:cubicBezTo>
                  <a:cubicBezTo>
                    <a:pt x="43" y="2"/>
                    <a:pt x="44" y="2"/>
                    <a:pt x="44" y="2"/>
                  </a:cubicBezTo>
                  <a:cubicBezTo>
                    <a:pt x="45" y="2"/>
                    <a:pt x="46" y="3"/>
                    <a:pt x="47" y="3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8" y="0"/>
                    <a:pt x="34" y="1"/>
                    <a:pt x="30" y="2"/>
                  </a:cubicBezTo>
                  <a:cubicBezTo>
                    <a:pt x="29" y="3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4"/>
                    <a:pt x="26" y="4"/>
                    <a:pt x="26" y="4"/>
                  </a:cubicBezTo>
                  <a:cubicBezTo>
                    <a:pt x="25" y="4"/>
                    <a:pt x="24" y="5"/>
                    <a:pt x="24" y="5"/>
                  </a:cubicBezTo>
                  <a:cubicBezTo>
                    <a:pt x="23" y="5"/>
                    <a:pt x="22" y="6"/>
                    <a:pt x="22" y="6"/>
                  </a:cubicBezTo>
                  <a:cubicBezTo>
                    <a:pt x="19" y="7"/>
                    <a:pt x="17" y="9"/>
                    <a:pt x="15" y="11"/>
                  </a:cubicBezTo>
                  <a:cubicBezTo>
                    <a:pt x="15" y="11"/>
                    <a:pt x="14" y="11"/>
                    <a:pt x="14" y="12"/>
                  </a:cubicBezTo>
                  <a:cubicBezTo>
                    <a:pt x="14" y="12"/>
                    <a:pt x="13" y="13"/>
                    <a:pt x="13" y="13"/>
                  </a:cubicBezTo>
                  <a:cubicBezTo>
                    <a:pt x="12" y="14"/>
                    <a:pt x="12" y="14"/>
                    <a:pt x="11" y="15"/>
                  </a:cubicBezTo>
                  <a:cubicBezTo>
                    <a:pt x="10" y="15"/>
                    <a:pt x="10" y="16"/>
                    <a:pt x="9" y="17"/>
                  </a:cubicBezTo>
                  <a:cubicBezTo>
                    <a:pt x="8" y="19"/>
                    <a:pt x="6" y="21"/>
                    <a:pt x="5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7"/>
                    <a:pt x="3" y="28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31"/>
                    <a:pt x="1" y="32"/>
                    <a:pt x="1" y="33"/>
                  </a:cubicBezTo>
                  <a:cubicBezTo>
                    <a:pt x="1" y="34"/>
                    <a:pt x="1" y="35"/>
                    <a:pt x="0" y="36"/>
                  </a:cubicBezTo>
                  <a:close/>
                  <a:moveTo>
                    <a:pt x="47" y="35"/>
                  </a:moveTo>
                  <a:cubicBezTo>
                    <a:pt x="47" y="55"/>
                    <a:pt x="47" y="55"/>
                    <a:pt x="47" y="55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6" y="56"/>
                    <a:pt x="46" y="55"/>
                    <a:pt x="45" y="55"/>
                  </a:cubicBezTo>
                  <a:cubicBezTo>
                    <a:pt x="44" y="55"/>
                    <a:pt x="44" y="55"/>
                    <a:pt x="43" y="55"/>
                  </a:cubicBezTo>
                  <a:cubicBezTo>
                    <a:pt x="42" y="55"/>
                    <a:pt x="41" y="54"/>
                    <a:pt x="41" y="53"/>
                  </a:cubicBezTo>
                  <a:cubicBezTo>
                    <a:pt x="41" y="53"/>
                    <a:pt x="41" y="52"/>
                    <a:pt x="41" y="51"/>
                  </a:cubicBezTo>
                  <a:cubicBezTo>
                    <a:pt x="41" y="51"/>
                    <a:pt x="42" y="51"/>
                    <a:pt x="42" y="50"/>
                  </a:cubicBezTo>
                  <a:cubicBezTo>
                    <a:pt x="42" y="50"/>
                    <a:pt x="41" y="49"/>
                    <a:pt x="40" y="49"/>
                  </a:cubicBezTo>
                  <a:cubicBezTo>
                    <a:pt x="40" y="49"/>
                    <a:pt x="38" y="50"/>
                    <a:pt x="37" y="49"/>
                  </a:cubicBezTo>
                  <a:cubicBezTo>
                    <a:pt x="37" y="49"/>
                    <a:pt x="38" y="49"/>
                    <a:pt x="38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38" y="47"/>
                    <a:pt x="38" y="46"/>
                    <a:pt x="39" y="46"/>
                  </a:cubicBezTo>
                  <a:cubicBezTo>
                    <a:pt x="39" y="46"/>
                    <a:pt x="39" y="45"/>
                    <a:pt x="39" y="45"/>
                  </a:cubicBezTo>
                  <a:cubicBezTo>
                    <a:pt x="39" y="45"/>
                    <a:pt x="39" y="44"/>
                    <a:pt x="39" y="44"/>
                  </a:cubicBezTo>
                  <a:cubicBezTo>
                    <a:pt x="38" y="44"/>
                    <a:pt x="37" y="44"/>
                    <a:pt x="37" y="44"/>
                  </a:cubicBezTo>
                  <a:cubicBezTo>
                    <a:pt x="36" y="45"/>
                    <a:pt x="36" y="46"/>
                    <a:pt x="35" y="47"/>
                  </a:cubicBezTo>
                  <a:cubicBezTo>
                    <a:pt x="35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1" y="47"/>
                    <a:pt x="31" y="46"/>
                  </a:cubicBezTo>
                  <a:cubicBezTo>
                    <a:pt x="31" y="46"/>
                    <a:pt x="30" y="45"/>
                    <a:pt x="30" y="45"/>
                  </a:cubicBezTo>
                  <a:cubicBezTo>
                    <a:pt x="30" y="43"/>
                    <a:pt x="30" y="42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40"/>
                    <a:pt x="31" y="40"/>
                    <a:pt x="32" y="39"/>
                  </a:cubicBezTo>
                  <a:cubicBezTo>
                    <a:pt x="32" y="39"/>
                    <a:pt x="33" y="38"/>
                    <a:pt x="33" y="38"/>
                  </a:cubicBezTo>
                  <a:cubicBezTo>
                    <a:pt x="34" y="38"/>
                    <a:pt x="34" y="37"/>
                    <a:pt x="35" y="37"/>
                  </a:cubicBezTo>
                  <a:cubicBezTo>
                    <a:pt x="36" y="37"/>
                    <a:pt x="36" y="37"/>
                    <a:pt x="37" y="37"/>
                  </a:cubicBezTo>
                  <a:cubicBezTo>
                    <a:pt x="37" y="37"/>
                    <a:pt x="37" y="37"/>
                    <a:pt x="38" y="37"/>
                  </a:cubicBezTo>
                  <a:cubicBezTo>
                    <a:pt x="38" y="38"/>
                    <a:pt x="39" y="37"/>
                    <a:pt x="39" y="36"/>
                  </a:cubicBezTo>
                  <a:cubicBezTo>
                    <a:pt x="40" y="37"/>
                    <a:pt x="41" y="36"/>
                    <a:pt x="41" y="36"/>
                  </a:cubicBezTo>
                  <a:cubicBezTo>
                    <a:pt x="42" y="36"/>
                    <a:pt x="42" y="37"/>
                    <a:pt x="42" y="37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4" y="37"/>
                    <a:pt x="44" y="37"/>
                    <a:pt x="44" y="38"/>
                  </a:cubicBezTo>
                  <a:cubicBezTo>
                    <a:pt x="44" y="38"/>
                    <a:pt x="44" y="39"/>
                    <a:pt x="44" y="39"/>
                  </a:cubicBezTo>
                  <a:cubicBezTo>
                    <a:pt x="44" y="40"/>
                    <a:pt x="45" y="40"/>
                    <a:pt x="46" y="40"/>
                  </a:cubicBezTo>
                  <a:cubicBezTo>
                    <a:pt x="46" y="40"/>
                    <a:pt x="46" y="39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36"/>
                    <a:pt x="46" y="35"/>
                    <a:pt x="47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sp>
        <p:nvSpPr>
          <p:cNvPr id="78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GPIO-EXTI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Rectangle 52"/>
          <p:cNvSpPr/>
          <p:nvPr/>
        </p:nvSpPr>
        <p:spPr>
          <a:xfrm>
            <a:off x="3873407" y="1071641"/>
            <a:ext cx="418106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HAL</a:t>
            </a:r>
            <a:r>
              <a:rPr lang="zh-CN" altLang="en-US" sz="2800" b="1" dirty="0">
                <a:latin typeface="+mn-ea"/>
                <a:ea typeface="+mn-ea"/>
              </a:rPr>
              <a:t>库外部中断处理流程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5498" y="1104044"/>
            <a:ext cx="688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ISR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0890" y="344261"/>
            <a:ext cx="11847516" cy="6343083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1.	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2.	 * @brief  This function handles EXTI interrupt request.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3.	 * @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param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Specifies the pins connected EXTI line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4.	 * @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retval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None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5.	 */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6.	void 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HAL_GPIO_EXTI_IRQHandler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(uint16_t 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  </a:t>
            </a:r>
            <a:endParaRPr lang="en-US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7.	{  </a:t>
            </a:r>
            <a:endParaRPr lang="en-US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lnSpc>
                <a:spcPts val="3500"/>
              </a:lnSpc>
              <a:spcAft>
                <a:spcPts val="0"/>
              </a:spcAft>
              <a:buAutoNum type="arabicPeriod" startAt="8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EXTI line interrupt detected */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9.	  if(__HAL_GPIO_EXTI_GET_IT(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 != RESET)  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检测中断标志</a:t>
            </a:r>
            <a:endParaRPr lang="zh-CN" altLang="en-US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10.	  {  </a:t>
            </a:r>
            <a:endParaRPr lang="en-US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11.	    __HAL_GPIO_EXTI_CLEAR_IT(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);       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清除中断标志</a:t>
            </a:r>
            <a:endParaRPr lang="zh-CN" altLang="en-US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12.	    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HAL_GPIO_EXTI_Callback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);         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调用回调函数</a:t>
            </a:r>
            <a:endParaRPr lang="zh-CN" altLang="en-US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13.	  }  </a:t>
            </a:r>
            <a:endParaRPr lang="en-US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14.	} </a:t>
            </a:r>
            <a:endParaRPr lang="zh-CN" altLang="zh-CN" sz="2400" b="1" dirty="0">
              <a:solidFill>
                <a:srgbClr val="000000"/>
              </a:solidFill>
              <a:effectLst/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1" name="Rectangle 52"/>
          <p:cNvSpPr/>
          <p:nvPr/>
        </p:nvSpPr>
        <p:spPr>
          <a:xfrm>
            <a:off x="1592771" y="149792"/>
            <a:ext cx="9006458" cy="523220"/>
          </a:xfrm>
          <a:prstGeom prst="rect">
            <a:avLst/>
          </a:prstGeom>
          <a:solidFill>
            <a:srgbClr val="E44B46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+mn-ea"/>
                <a:ea typeface="+mn-ea"/>
              </a:rPr>
              <a:t>stm32f4xx_hal_gpio.c</a:t>
            </a: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文件中的外部中断通用处理函数</a:t>
            </a:r>
            <a:endParaRPr lang="zh-CN" altLang="en-US" sz="2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49502" y="3922845"/>
            <a:ext cx="7806571" cy="22470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608948" y="2644184"/>
            <a:ext cx="3297686" cy="438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00701" y="110404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处理流程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163" name="Group 4"/>
          <p:cNvGrpSpPr/>
          <p:nvPr/>
        </p:nvGrpSpPr>
        <p:grpSpPr>
          <a:xfrm>
            <a:off x="6766597" y="1338537"/>
            <a:ext cx="5279209" cy="5459086"/>
            <a:chOff x="6506962" y="705229"/>
            <a:chExt cx="5279209" cy="5459086"/>
          </a:xfrm>
        </p:grpSpPr>
        <p:sp>
          <p:nvSpPr>
            <p:cNvPr id="164" name="Freeform 5"/>
            <p:cNvSpPr/>
            <p:nvPr/>
          </p:nvSpPr>
          <p:spPr bwMode="auto">
            <a:xfrm>
              <a:off x="6506962" y="705229"/>
              <a:ext cx="5279209" cy="5459086"/>
            </a:xfrm>
            <a:custGeom>
              <a:avLst/>
              <a:gdLst>
                <a:gd name="connsiteX0" fmla="*/ 3859967 w 5879683"/>
                <a:gd name="connsiteY0" fmla="*/ 0 h 6080019"/>
                <a:gd name="connsiteX1" fmla="*/ 4112189 w 5879683"/>
                <a:gd name="connsiteY1" fmla="*/ 1506708 h 6080019"/>
                <a:gd name="connsiteX2" fmla="*/ 2712241 w 5879683"/>
                <a:gd name="connsiteY2" fmla="*/ 2332968 h 6080019"/>
                <a:gd name="connsiteX3" fmla="*/ 606535 w 5879683"/>
                <a:gd name="connsiteY3" fmla="*/ 4372000 h 6080019"/>
                <a:gd name="connsiteX4" fmla="*/ 1316921 w 5879683"/>
                <a:gd name="connsiteY4" fmla="*/ 5047820 h 6080019"/>
                <a:gd name="connsiteX5" fmla="*/ 4723998 w 5879683"/>
                <a:gd name="connsiteY5" fmla="*/ 5435664 h 6080019"/>
                <a:gd name="connsiteX6" fmla="*/ 4808310 w 5879683"/>
                <a:gd name="connsiteY6" fmla="*/ 5429676 h 6080019"/>
                <a:gd name="connsiteX7" fmla="*/ 4961760 w 5879683"/>
                <a:gd name="connsiteY7" fmla="*/ 5207111 h 6080019"/>
                <a:gd name="connsiteX8" fmla="*/ 5879683 w 5879683"/>
                <a:gd name="connsiteY8" fmla="*/ 5581914 h 6080019"/>
                <a:gd name="connsiteX9" fmla="*/ 4359923 w 5879683"/>
                <a:gd name="connsiteY9" fmla="*/ 6080019 h 6080019"/>
                <a:gd name="connsiteX10" fmla="*/ 4478454 w 5879683"/>
                <a:gd name="connsiteY10" fmla="*/ 5908101 h 6080019"/>
                <a:gd name="connsiteX11" fmla="*/ 4184148 w 5879683"/>
                <a:gd name="connsiteY11" fmla="*/ 5922625 h 6080019"/>
                <a:gd name="connsiteX12" fmla="*/ 1205851 w 5879683"/>
                <a:gd name="connsiteY12" fmla="*/ 5552371 h 6080019"/>
                <a:gd name="connsiteX13" fmla="*/ 625046 w 5879683"/>
                <a:gd name="connsiteY13" fmla="*/ 5223719 h 6080019"/>
                <a:gd name="connsiteX14" fmla="*/ 264068 w 5879683"/>
                <a:gd name="connsiteY14" fmla="*/ 3453163 h 6080019"/>
                <a:gd name="connsiteX15" fmla="*/ 3019998 w 5879683"/>
                <a:gd name="connsiteY15" fmla="*/ 2011259 h 6080019"/>
                <a:gd name="connsiteX16" fmla="*/ 3816002 w 5879683"/>
                <a:gd name="connsiteY16" fmla="*/ 1564570 h 6080019"/>
                <a:gd name="connsiteX17" fmla="*/ 3859967 w 5879683"/>
                <a:gd name="connsiteY17" fmla="*/ 0 h 608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79683" h="6080019">
                  <a:moveTo>
                    <a:pt x="3859967" y="0"/>
                  </a:moveTo>
                  <a:cubicBezTo>
                    <a:pt x="4362097" y="358740"/>
                    <a:pt x="4642087" y="941982"/>
                    <a:pt x="4112189" y="1506708"/>
                  </a:cubicBezTo>
                  <a:cubicBezTo>
                    <a:pt x="3762781" y="1877021"/>
                    <a:pt x="3175034" y="2136239"/>
                    <a:pt x="2712241" y="2332968"/>
                  </a:cubicBezTo>
                  <a:cubicBezTo>
                    <a:pt x="1997227" y="2633847"/>
                    <a:pt x="171510" y="3247176"/>
                    <a:pt x="606535" y="4372000"/>
                  </a:cubicBezTo>
                  <a:cubicBezTo>
                    <a:pt x="729175" y="4686765"/>
                    <a:pt x="1029990" y="4897381"/>
                    <a:pt x="1316921" y="5047820"/>
                  </a:cubicBezTo>
                  <a:cubicBezTo>
                    <a:pt x="2186827" y="5499139"/>
                    <a:pt x="3628218" y="5507004"/>
                    <a:pt x="4723998" y="5435664"/>
                  </a:cubicBezTo>
                  <a:lnTo>
                    <a:pt x="4808310" y="5429676"/>
                  </a:lnTo>
                  <a:lnTo>
                    <a:pt x="4961760" y="5207111"/>
                  </a:lnTo>
                  <a:lnTo>
                    <a:pt x="5879683" y="5581914"/>
                  </a:lnTo>
                  <a:lnTo>
                    <a:pt x="4359923" y="6080019"/>
                  </a:lnTo>
                  <a:lnTo>
                    <a:pt x="4478454" y="5908101"/>
                  </a:lnTo>
                  <a:lnTo>
                    <a:pt x="4184148" y="5922625"/>
                  </a:lnTo>
                  <a:cubicBezTo>
                    <a:pt x="3187544" y="5964741"/>
                    <a:pt x="2102801" y="5947275"/>
                    <a:pt x="1205851" y="5552371"/>
                  </a:cubicBezTo>
                  <a:cubicBezTo>
                    <a:pt x="1002222" y="5462107"/>
                    <a:pt x="807849" y="5353328"/>
                    <a:pt x="625046" y="5223719"/>
                  </a:cubicBezTo>
                  <a:cubicBezTo>
                    <a:pt x="276" y="4774715"/>
                    <a:pt x="-221864" y="4103524"/>
                    <a:pt x="264068" y="3453163"/>
                  </a:cubicBezTo>
                  <a:cubicBezTo>
                    <a:pt x="743058" y="2809745"/>
                    <a:pt x="2263332" y="2351484"/>
                    <a:pt x="3019998" y="2011259"/>
                  </a:cubicBezTo>
                  <a:cubicBezTo>
                    <a:pt x="3293046" y="1888593"/>
                    <a:pt x="3577663" y="1745097"/>
                    <a:pt x="3816002" y="1564570"/>
                  </a:cubicBezTo>
                  <a:cubicBezTo>
                    <a:pt x="4491679" y="1057705"/>
                    <a:pt x="4359783" y="460576"/>
                    <a:pt x="3859967" y="0"/>
                  </a:cubicBez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5" name="Freeform 6"/>
            <p:cNvSpPr/>
            <p:nvPr/>
          </p:nvSpPr>
          <p:spPr bwMode="auto">
            <a:xfrm>
              <a:off x="6726851" y="793973"/>
              <a:ext cx="4081232" cy="5055161"/>
            </a:xfrm>
            <a:custGeom>
              <a:avLst/>
              <a:gdLst>
                <a:gd name="connsiteX0" fmla="*/ 2256537 w 4545444"/>
                <a:gd name="connsiteY0" fmla="*/ 5459202 h 5630150"/>
                <a:gd name="connsiteX1" fmla="*/ 2494614 w 4545444"/>
                <a:gd name="connsiteY1" fmla="*/ 5490324 h 5630150"/>
                <a:gd name="connsiteX2" fmla="*/ 4501279 w 4545444"/>
                <a:gd name="connsiteY2" fmla="*/ 5522041 h 5630150"/>
                <a:gd name="connsiteX3" fmla="*/ 4545249 w 4545444"/>
                <a:gd name="connsiteY3" fmla="*/ 5561385 h 5630150"/>
                <a:gd name="connsiteX4" fmla="*/ 4505907 w 4545444"/>
                <a:gd name="connsiteY4" fmla="*/ 5607672 h 5630150"/>
                <a:gd name="connsiteX5" fmla="*/ 2419318 w 4545444"/>
                <a:gd name="connsiteY5" fmla="*/ 5557726 h 5630150"/>
                <a:gd name="connsiteX6" fmla="*/ 2235390 w 4545444"/>
                <a:gd name="connsiteY6" fmla="*/ 5531069 h 5630150"/>
                <a:gd name="connsiteX7" fmla="*/ 618660 w 4545444"/>
                <a:gd name="connsiteY7" fmla="*/ 4907146 h 5630150"/>
                <a:gd name="connsiteX8" fmla="*/ 632400 w 4545444"/>
                <a:gd name="connsiteY8" fmla="*/ 4917588 h 5630150"/>
                <a:gd name="connsiteX9" fmla="*/ 1856847 w 4545444"/>
                <a:gd name="connsiteY9" fmla="*/ 5391925 h 5630150"/>
                <a:gd name="connsiteX10" fmla="*/ 2034852 w 4545444"/>
                <a:gd name="connsiteY10" fmla="*/ 5423658 h 5630150"/>
                <a:gd name="connsiteX11" fmla="*/ 2014093 w 4545444"/>
                <a:gd name="connsiteY11" fmla="*/ 5495358 h 5630150"/>
                <a:gd name="connsiteX12" fmla="*/ 1758065 w 4545444"/>
                <a:gd name="connsiteY12" fmla="*/ 5445168 h 5630150"/>
                <a:gd name="connsiteX13" fmla="*/ 623058 w 4545444"/>
                <a:gd name="connsiteY13" fmla="*/ 4995217 h 5630150"/>
                <a:gd name="connsiteX14" fmla="*/ 574601 w 4545444"/>
                <a:gd name="connsiteY14" fmla="*/ 4959683 h 5630150"/>
                <a:gd name="connsiteX15" fmla="*/ 56894 w 4545444"/>
                <a:gd name="connsiteY15" fmla="*/ 3655972 h 5630150"/>
                <a:gd name="connsiteX16" fmla="*/ 114769 w 4545444"/>
                <a:gd name="connsiteY16" fmla="*/ 3681320 h 5630150"/>
                <a:gd name="connsiteX17" fmla="*/ 80108 w 4545444"/>
                <a:gd name="connsiteY17" fmla="*/ 3791413 h 5630150"/>
                <a:gd name="connsiteX18" fmla="*/ 203845 w 4545444"/>
                <a:gd name="connsiteY18" fmla="*/ 4459754 h 5630150"/>
                <a:gd name="connsiteX19" fmla="*/ 432817 w 4545444"/>
                <a:gd name="connsiteY19" fmla="*/ 4753361 h 5630150"/>
                <a:gd name="connsiteX20" fmla="*/ 437043 w 4545444"/>
                <a:gd name="connsiteY20" fmla="*/ 4757128 h 5630150"/>
                <a:gd name="connsiteX21" fmla="*/ 393339 w 4545444"/>
                <a:gd name="connsiteY21" fmla="*/ 4809243 h 5630150"/>
                <a:gd name="connsiteX22" fmla="*/ 316280 w 4545444"/>
                <a:gd name="connsiteY22" fmla="*/ 4730599 h 5630150"/>
                <a:gd name="connsiteX23" fmla="*/ 102021 w 4545444"/>
                <a:gd name="connsiteY23" fmla="*/ 4404210 h 5630150"/>
                <a:gd name="connsiteX24" fmla="*/ 42457 w 4545444"/>
                <a:gd name="connsiteY24" fmla="*/ 3693267 h 5630150"/>
                <a:gd name="connsiteX25" fmla="*/ 929004 w 4545444"/>
                <a:gd name="connsiteY25" fmla="*/ 2786814 h 5630150"/>
                <a:gd name="connsiteX26" fmla="*/ 956746 w 4545444"/>
                <a:gd name="connsiteY26" fmla="*/ 2834023 h 5630150"/>
                <a:gd name="connsiteX27" fmla="*/ 807170 w 4545444"/>
                <a:gd name="connsiteY27" fmla="*/ 2926453 h 5630150"/>
                <a:gd name="connsiteX28" fmla="*/ 289168 w 4545444"/>
                <a:gd name="connsiteY28" fmla="*/ 3374474 h 5630150"/>
                <a:gd name="connsiteX29" fmla="*/ 202845 w 4545444"/>
                <a:gd name="connsiteY29" fmla="*/ 3497409 h 5630150"/>
                <a:gd name="connsiteX30" fmla="*/ 145829 w 4545444"/>
                <a:gd name="connsiteY30" fmla="*/ 3472437 h 5630150"/>
                <a:gd name="connsiteX31" fmla="*/ 199129 w 4545444"/>
                <a:gd name="connsiteY31" fmla="*/ 3391464 h 5630150"/>
                <a:gd name="connsiteX32" fmla="*/ 889422 w 4545444"/>
                <a:gd name="connsiteY32" fmla="*/ 2808754 h 5630150"/>
                <a:gd name="connsiteX33" fmla="*/ 1866690 w 4545444"/>
                <a:gd name="connsiteY33" fmla="*/ 2342652 h 5630150"/>
                <a:gd name="connsiteX34" fmla="*/ 1887488 w 4545444"/>
                <a:gd name="connsiteY34" fmla="*/ 2393291 h 5630150"/>
                <a:gd name="connsiteX35" fmla="*/ 1840098 w 4545444"/>
                <a:gd name="connsiteY35" fmla="*/ 2412028 h 5630150"/>
                <a:gd name="connsiteX36" fmla="*/ 1553013 w 4545444"/>
                <a:gd name="connsiteY36" fmla="*/ 2531900 h 5630150"/>
                <a:gd name="connsiteX37" fmla="*/ 1263822 w 4545444"/>
                <a:gd name="connsiteY37" fmla="*/ 2668275 h 5630150"/>
                <a:gd name="connsiteX38" fmla="*/ 1050436 w 4545444"/>
                <a:gd name="connsiteY38" fmla="*/ 2783374 h 5630150"/>
                <a:gd name="connsiteX39" fmla="*/ 1022313 w 4545444"/>
                <a:gd name="connsiteY39" fmla="*/ 2735091 h 5630150"/>
                <a:gd name="connsiteX40" fmla="*/ 1139549 w 4545444"/>
                <a:gd name="connsiteY40" fmla="*/ 2670106 h 5630150"/>
                <a:gd name="connsiteX41" fmla="*/ 1666136 w 4545444"/>
                <a:gd name="connsiteY41" fmla="*/ 2425016 h 5630150"/>
                <a:gd name="connsiteX42" fmla="*/ 2691412 w 4545444"/>
                <a:gd name="connsiteY42" fmla="*/ 2019045 h 5630150"/>
                <a:gd name="connsiteX43" fmla="*/ 2709493 w 4545444"/>
                <a:gd name="connsiteY43" fmla="*/ 2058447 h 5630150"/>
                <a:gd name="connsiteX44" fmla="*/ 2515802 w 4545444"/>
                <a:gd name="connsiteY44" fmla="*/ 2143103 h 5630150"/>
                <a:gd name="connsiteX45" fmla="*/ 1999688 w 4545444"/>
                <a:gd name="connsiteY45" fmla="*/ 2348928 h 5630150"/>
                <a:gd name="connsiteX46" fmla="*/ 1967235 w 4545444"/>
                <a:gd name="connsiteY46" fmla="*/ 2361760 h 5630150"/>
                <a:gd name="connsiteX47" fmla="*/ 1946919 w 4545444"/>
                <a:gd name="connsiteY47" fmla="*/ 2310047 h 5630150"/>
                <a:gd name="connsiteX48" fmla="*/ 2182498 w 4545444"/>
                <a:gd name="connsiteY48" fmla="*/ 2217829 h 5630150"/>
                <a:gd name="connsiteX49" fmla="*/ 2634236 w 4545444"/>
                <a:gd name="connsiteY49" fmla="*/ 2042495 h 5630150"/>
                <a:gd name="connsiteX50" fmla="*/ 3419929 w 4545444"/>
                <a:gd name="connsiteY50" fmla="*/ 1652893 h 5630150"/>
                <a:gd name="connsiteX51" fmla="*/ 3435936 w 4545444"/>
                <a:gd name="connsiteY51" fmla="*/ 1679865 h 5630150"/>
                <a:gd name="connsiteX52" fmla="*/ 3366230 w 4545444"/>
                <a:gd name="connsiteY52" fmla="*/ 1725659 h 5630150"/>
                <a:gd name="connsiteX53" fmla="*/ 2868625 w 4545444"/>
                <a:gd name="connsiteY53" fmla="*/ 1988895 h 5630150"/>
                <a:gd name="connsiteX54" fmla="*/ 2779467 w 4545444"/>
                <a:gd name="connsiteY54" fmla="*/ 2027864 h 5630150"/>
                <a:gd name="connsiteX55" fmla="*/ 2761652 w 4545444"/>
                <a:gd name="connsiteY55" fmla="*/ 1989574 h 5630150"/>
                <a:gd name="connsiteX56" fmla="*/ 2818870 w 4545444"/>
                <a:gd name="connsiteY56" fmla="*/ 1964884 h 5630150"/>
                <a:gd name="connsiteX57" fmla="*/ 3218283 w 4545444"/>
                <a:gd name="connsiteY57" fmla="*/ 1771311 h 5630150"/>
                <a:gd name="connsiteX58" fmla="*/ 3856693 w 4545444"/>
                <a:gd name="connsiteY58" fmla="*/ 1280930 h 5630150"/>
                <a:gd name="connsiteX59" fmla="*/ 3878857 w 4545444"/>
                <a:gd name="connsiteY59" fmla="*/ 1298486 h 5630150"/>
                <a:gd name="connsiteX60" fmla="*/ 3876698 w 4545444"/>
                <a:gd name="connsiteY60" fmla="*/ 1301552 h 5630150"/>
                <a:gd name="connsiteX61" fmla="*/ 3514716 w 4545444"/>
                <a:gd name="connsiteY61" fmla="*/ 1628110 h 5630150"/>
                <a:gd name="connsiteX62" fmla="*/ 3492103 w 4545444"/>
                <a:gd name="connsiteY62" fmla="*/ 1642966 h 5630150"/>
                <a:gd name="connsiteX63" fmla="*/ 3475028 w 4545444"/>
                <a:gd name="connsiteY63" fmla="*/ 1614196 h 5630150"/>
                <a:gd name="connsiteX64" fmla="*/ 3617263 w 4545444"/>
                <a:gd name="connsiteY64" fmla="*/ 1513296 h 5630150"/>
                <a:gd name="connsiteX65" fmla="*/ 3790149 w 4545444"/>
                <a:gd name="connsiteY65" fmla="*/ 1356801 h 5630150"/>
                <a:gd name="connsiteX66" fmla="*/ 4049529 w 4545444"/>
                <a:gd name="connsiteY66" fmla="*/ 911879 h 5630150"/>
                <a:gd name="connsiteX67" fmla="*/ 4075412 w 4545444"/>
                <a:gd name="connsiteY67" fmla="*/ 916031 h 5630150"/>
                <a:gd name="connsiteX68" fmla="*/ 4071869 w 4545444"/>
                <a:gd name="connsiteY68" fmla="*/ 931641 h 5630150"/>
                <a:gd name="connsiteX69" fmla="*/ 3962076 w 4545444"/>
                <a:gd name="connsiteY69" fmla="*/ 1180319 h 5630150"/>
                <a:gd name="connsiteX70" fmla="*/ 3914053 w 4545444"/>
                <a:gd name="connsiteY70" fmla="*/ 1248509 h 5630150"/>
                <a:gd name="connsiteX71" fmla="*/ 3893587 w 4545444"/>
                <a:gd name="connsiteY71" fmla="*/ 1232095 h 5630150"/>
                <a:gd name="connsiteX72" fmla="*/ 3931196 w 4545444"/>
                <a:gd name="connsiteY72" fmla="*/ 1180211 h 5630150"/>
                <a:gd name="connsiteX73" fmla="*/ 4029829 w 4545444"/>
                <a:gd name="connsiteY73" fmla="*/ 982194 h 5630150"/>
                <a:gd name="connsiteX74" fmla="*/ 4087808 w 4545444"/>
                <a:gd name="connsiteY74" fmla="*/ 593511 h 5630150"/>
                <a:gd name="connsiteX75" fmla="*/ 4093474 w 4545444"/>
                <a:gd name="connsiteY75" fmla="*/ 622281 h 5630150"/>
                <a:gd name="connsiteX76" fmla="*/ 4089935 w 4545444"/>
                <a:gd name="connsiteY76" fmla="*/ 852043 h 5630150"/>
                <a:gd name="connsiteX77" fmla="*/ 4087219 w 4545444"/>
                <a:gd name="connsiteY77" fmla="*/ 864013 h 5630150"/>
                <a:gd name="connsiteX78" fmla="*/ 4061852 w 4545444"/>
                <a:gd name="connsiteY78" fmla="*/ 860755 h 5630150"/>
                <a:gd name="connsiteX79" fmla="*/ 4075471 w 4545444"/>
                <a:gd name="connsiteY79" fmla="*/ 761421 h 5630150"/>
                <a:gd name="connsiteX80" fmla="*/ 4074987 w 4545444"/>
                <a:gd name="connsiteY80" fmla="*/ 646404 h 5630150"/>
                <a:gd name="connsiteX81" fmla="*/ 4067029 w 4545444"/>
                <a:gd name="connsiteY81" fmla="*/ 597339 h 5630150"/>
                <a:gd name="connsiteX82" fmla="*/ 4011395 w 4545444"/>
                <a:gd name="connsiteY82" fmla="*/ 373947 h 5630150"/>
                <a:gd name="connsiteX83" fmla="*/ 4028427 w 4545444"/>
                <a:gd name="connsiteY83" fmla="*/ 404785 h 5630150"/>
                <a:gd name="connsiteX84" fmla="*/ 4078941 w 4545444"/>
                <a:gd name="connsiteY84" fmla="*/ 548501 h 5630150"/>
                <a:gd name="connsiteX85" fmla="*/ 4080499 w 4545444"/>
                <a:gd name="connsiteY85" fmla="*/ 556408 h 5630150"/>
                <a:gd name="connsiteX86" fmla="*/ 4060972 w 4545444"/>
                <a:gd name="connsiteY86" fmla="*/ 560005 h 5630150"/>
                <a:gd name="connsiteX87" fmla="*/ 4057716 w 4545444"/>
                <a:gd name="connsiteY87" fmla="*/ 539931 h 5630150"/>
                <a:gd name="connsiteX88" fmla="*/ 4025964 w 4545444"/>
                <a:gd name="connsiteY88" fmla="*/ 440563 h 5630150"/>
                <a:gd name="connsiteX89" fmla="*/ 3997595 w 4545444"/>
                <a:gd name="connsiteY89" fmla="*/ 380051 h 5630150"/>
                <a:gd name="connsiteX90" fmla="*/ 3901155 w 4545444"/>
                <a:gd name="connsiteY90" fmla="*/ 197856 h 5630150"/>
                <a:gd name="connsiteX91" fmla="*/ 3951662 w 4545444"/>
                <a:gd name="connsiteY91" fmla="*/ 265789 h 5630150"/>
                <a:gd name="connsiteX92" fmla="*/ 3997798 w 4545444"/>
                <a:gd name="connsiteY92" fmla="*/ 349324 h 5630150"/>
                <a:gd name="connsiteX93" fmla="*/ 3985699 w 4545444"/>
                <a:gd name="connsiteY93" fmla="*/ 354676 h 5630150"/>
                <a:gd name="connsiteX94" fmla="*/ 3982036 w 4545444"/>
                <a:gd name="connsiteY94" fmla="*/ 346863 h 5630150"/>
                <a:gd name="connsiteX95" fmla="*/ 3928236 w 4545444"/>
                <a:gd name="connsiteY95" fmla="*/ 257395 h 5630150"/>
                <a:gd name="connsiteX96" fmla="*/ 3891077 w 4545444"/>
                <a:gd name="connsiteY96" fmla="*/ 204911 h 5630150"/>
                <a:gd name="connsiteX97" fmla="*/ 3831079 w 4545444"/>
                <a:gd name="connsiteY97" fmla="*/ 108914 h 5630150"/>
                <a:gd name="connsiteX98" fmla="*/ 3851464 w 4545444"/>
                <a:gd name="connsiteY98" fmla="*/ 131023 h 5630150"/>
                <a:gd name="connsiteX99" fmla="*/ 3891271 w 4545444"/>
                <a:gd name="connsiteY99" fmla="*/ 184563 h 5630150"/>
                <a:gd name="connsiteX100" fmla="*/ 3881402 w 4545444"/>
                <a:gd name="connsiteY100" fmla="*/ 191248 h 5630150"/>
                <a:gd name="connsiteX101" fmla="*/ 3866868 w 4545444"/>
                <a:gd name="connsiteY101" fmla="*/ 170720 h 5630150"/>
                <a:gd name="connsiteX102" fmla="*/ 3823189 w 4545444"/>
                <a:gd name="connsiteY102" fmla="*/ 115974 h 5630150"/>
                <a:gd name="connsiteX103" fmla="*/ 3730658 w 4545444"/>
                <a:gd name="connsiteY103" fmla="*/ 0 h 5630150"/>
                <a:gd name="connsiteX104" fmla="*/ 3822781 w 4545444"/>
                <a:gd name="connsiteY104" fmla="*/ 99914 h 5630150"/>
                <a:gd name="connsiteX105" fmla="*/ 3814969 w 4545444"/>
                <a:gd name="connsiteY105" fmla="*/ 105670 h 563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545444" h="5630150">
                  <a:moveTo>
                    <a:pt x="2256537" y="5459202"/>
                  </a:moveTo>
                  <a:lnTo>
                    <a:pt x="2494614" y="5490324"/>
                  </a:lnTo>
                  <a:cubicBezTo>
                    <a:pt x="3248051" y="5573048"/>
                    <a:pt x="4008214" y="5552417"/>
                    <a:pt x="4501279" y="5522041"/>
                  </a:cubicBezTo>
                  <a:cubicBezTo>
                    <a:pt x="4524421" y="5522041"/>
                    <a:pt x="4542935" y="5538242"/>
                    <a:pt x="4545249" y="5561385"/>
                  </a:cubicBezTo>
                  <a:cubicBezTo>
                    <a:pt x="4547563" y="5584529"/>
                    <a:pt x="4529049" y="5605358"/>
                    <a:pt x="4505907" y="5607672"/>
                  </a:cubicBezTo>
                  <a:cubicBezTo>
                    <a:pt x="3998668" y="5636023"/>
                    <a:pt x="3202626" y="5653742"/>
                    <a:pt x="2419318" y="5557726"/>
                  </a:cubicBezTo>
                  <a:lnTo>
                    <a:pt x="2235390" y="5531069"/>
                  </a:lnTo>
                  <a:close/>
                  <a:moveTo>
                    <a:pt x="618660" y="4907146"/>
                  </a:moveTo>
                  <a:lnTo>
                    <a:pt x="632400" y="4917588"/>
                  </a:lnTo>
                  <a:cubicBezTo>
                    <a:pt x="956939" y="5146045"/>
                    <a:pt x="1389337" y="5295867"/>
                    <a:pt x="1856847" y="5391925"/>
                  </a:cubicBezTo>
                  <a:lnTo>
                    <a:pt x="2034852" y="5423658"/>
                  </a:lnTo>
                  <a:lnTo>
                    <a:pt x="2014093" y="5495358"/>
                  </a:lnTo>
                  <a:lnTo>
                    <a:pt x="1758065" y="5445168"/>
                  </a:lnTo>
                  <a:cubicBezTo>
                    <a:pt x="1328685" y="5348354"/>
                    <a:pt x="931595" y="5204783"/>
                    <a:pt x="623058" y="4995217"/>
                  </a:cubicBezTo>
                  <a:lnTo>
                    <a:pt x="574601" y="4959683"/>
                  </a:lnTo>
                  <a:close/>
                  <a:moveTo>
                    <a:pt x="56894" y="3655972"/>
                  </a:moveTo>
                  <a:lnTo>
                    <a:pt x="114769" y="3681320"/>
                  </a:lnTo>
                  <a:lnTo>
                    <a:pt x="80108" y="3791413"/>
                  </a:lnTo>
                  <a:cubicBezTo>
                    <a:pt x="36211" y="3992545"/>
                    <a:pt x="66151" y="4215012"/>
                    <a:pt x="203845" y="4459754"/>
                  </a:cubicBezTo>
                  <a:cubicBezTo>
                    <a:pt x="264592" y="4567588"/>
                    <a:pt x="341815" y="4665151"/>
                    <a:pt x="432817" y="4753361"/>
                  </a:cubicBezTo>
                  <a:lnTo>
                    <a:pt x="437043" y="4757128"/>
                  </a:lnTo>
                  <a:lnTo>
                    <a:pt x="393339" y="4809243"/>
                  </a:lnTo>
                  <a:lnTo>
                    <a:pt x="316280" y="4730599"/>
                  </a:lnTo>
                  <a:cubicBezTo>
                    <a:pt x="228451" y="4632436"/>
                    <a:pt x="156043" y="4523978"/>
                    <a:pt x="102021" y="4404210"/>
                  </a:cubicBezTo>
                  <a:cubicBezTo>
                    <a:pt x="-16002" y="4141676"/>
                    <a:pt x="-25657" y="3905829"/>
                    <a:pt x="42457" y="3693267"/>
                  </a:cubicBezTo>
                  <a:close/>
                  <a:moveTo>
                    <a:pt x="929004" y="2786814"/>
                  </a:moveTo>
                  <a:lnTo>
                    <a:pt x="956746" y="2834023"/>
                  </a:lnTo>
                  <a:lnTo>
                    <a:pt x="807170" y="2926453"/>
                  </a:lnTo>
                  <a:cubicBezTo>
                    <a:pt x="608715" y="3055790"/>
                    <a:pt x="424743" y="3204817"/>
                    <a:pt x="289168" y="3374474"/>
                  </a:cubicBezTo>
                  <a:lnTo>
                    <a:pt x="202845" y="3497409"/>
                  </a:lnTo>
                  <a:lnTo>
                    <a:pt x="145829" y="3472437"/>
                  </a:lnTo>
                  <a:lnTo>
                    <a:pt x="199129" y="3391464"/>
                  </a:lnTo>
                  <a:cubicBezTo>
                    <a:pt x="360399" y="3169649"/>
                    <a:pt x="606694" y="2977213"/>
                    <a:pt x="889422" y="2808754"/>
                  </a:cubicBezTo>
                  <a:close/>
                  <a:moveTo>
                    <a:pt x="1866690" y="2342652"/>
                  </a:moveTo>
                  <a:lnTo>
                    <a:pt x="1887488" y="2393291"/>
                  </a:lnTo>
                  <a:lnTo>
                    <a:pt x="1840098" y="2412028"/>
                  </a:lnTo>
                  <a:cubicBezTo>
                    <a:pt x="1736774" y="2453321"/>
                    <a:pt x="1640084" y="2493135"/>
                    <a:pt x="1553013" y="2531900"/>
                  </a:cubicBezTo>
                  <a:cubicBezTo>
                    <a:pt x="1462182" y="2572691"/>
                    <a:pt x="1364371" y="2618110"/>
                    <a:pt x="1263822" y="2668275"/>
                  </a:cubicBezTo>
                  <a:lnTo>
                    <a:pt x="1050436" y="2783374"/>
                  </a:lnTo>
                  <a:lnTo>
                    <a:pt x="1022313" y="2735091"/>
                  </a:lnTo>
                  <a:lnTo>
                    <a:pt x="1139549" y="2670106"/>
                  </a:lnTo>
                  <a:cubicBezTo>
                    <a:pt x="1310738" y="2581420"/>
                    <a:pt x="1489289" y="2500060"/>
                    <a:pt x="1666136" y="2425016"/>
                  </a:cubicBezTo>
                  <a:close/>
                  <a:moveTo>
                    <a:pt x="2691412" y="2019045"/>
                  </a:moveTo>
                  <a:lnTo>
                    <a:pt x="2709493" y="2058447"/>
                  </a:lnTo>
                  <a:lnTo>
                    <a:pt x="2515802" y="2143103"/>
                  </a:lnTo>
                  <a:cubicBezTo>
                    <a:pt x="2338903" y="2216486"/>
                    <a:pt x="2163509" y="2284612"/>
                    <a:pt x="1999688" y="2348928"/>
                  </a:cubicBezTo>
                  <a:lnTo>
                    <a:pt x="1967235" y="2361760"/>
                  </a:lnTo>
                  <a:lnTo>
                    <a:pt x="1946919" y="2310047"/>
                  </a:lnTo>
                  <a:lnTo>
                    <a:pt x="2182498" y="2217829"/>
                  </a:lnTo>
                  <a:cubicBezTo>
                    <a:pt x="2346871" y="2154412"/>
                    <a:pt x="2500473" y="2096303"/>
                    <a:pt x="2634236" y="2042495"/>
                  </a:cubicBezTo>
                  <a:close/>
                  <a:moveTo>
                    <a:pt x="3419929" y="1652893"/>
                  </a:moveTo>
                  <a:lnTo>
                    <a:pt x="3435936" y="1679865"/>
                  </a:lnTo>
                  <a:lnTo>
                    <a:pt x="3366230" y="1725659"/>
                  </a:lnTo>
                  <a:cubicBezTo>
                    <a:pt x="3212281" y="1820595"/>
                    <a:pt x="3043056" y="1907857"/>
                    <a:pt x="2868625" y="1988895"/>
                  </a:cubicBezTo>
                  <a:lnTo>
                    <a:pt x="2779467" y="2027864"/>
                  </a:lnTo>
                  <a:lnTo>
                    <a:pt x="2761652" y="1989574"/>
                  </a:lnTo>
                  <a:lnTo>
                    <a:pt x="2818870" y="1964884"/>
                  </a:lnTo>
                  <a:cubicBezTo>
                    <a:pt x="2942679" y="1909918"/>
                    <a:pt x="3080517" y="1845984"/>
                    <a:pt x="3218283" y="1771311"/>
                  </a:cubicBezTo>
                  <a:close/>
                  <a:moveTo>
                    <a:pt x="3856693" y="1280930"/>
                  </a:moveTo>
                  <a:lnTo>
                    <a:pt x="3878857" y="1298486"/>
                  </a:lnTo>
                  <a:lnTo>
                    <a:pt x="3876698" y="1301552"/>
                  </a:lnTo>
                  <a:cubicBezTo>
                    <a:pt x="3781380" y="1419528"/>
                    <a:pt x="3657364" y="1527897"/>
                    <a:pt x="3514716" y="1628110"/>
                  </a:cubicBezTo>
                  <a:lnTo>
                    <a:pt x="3492103" y="1642966"/>
                  </a:lnTo>
                  <a:lnTo>
                    <a:pt x="3475028" y="1614196"/>
                  </a:lnTo>
                  <a:lnTo>
                    <a:pt x="3617263" y="1513296"/>
                  </a:lnTo>
                  <a:cubicBezTo>
                    <a:pt x="3679023" y="1464333"/>
                    <a:pt x="3737239" y="1412242"/>
                    <a:pt x="3790149" y="1356801"/>
                  </a:cubicBezTo>
                  <a:close/>
                  <a:moveTo>
                    <a:pt x="4049529" y="911879"/>
                  </a:moveTo>
                  <a:lnTo>
                    <a:pt x="4075412" y="916031"/>
                  </a:lnTo>
                  <a:lnTo>
                    <a:pt x="4071869" y="931641"/>
                  </a:lnTo>
                  <a:cubicBezTo>
                    <a:pt x="4049346" y="1012031"/>
                    <a:pt x="4013278" y="1094833"/>
                    <a:pt x="3962076" y="1180319"/>
                  </a:cubicBezTo>
                  <a:lnTo>
                    <a:pt x="3914053" y="1248509"/>
                  </a:lnTo>
                  <a:lnTo>
                    <a:pt x="3893587" y="1232095"/>
                  </a:lnTo>
                  <a:lnTo>
                    <a:pt x="3931196" y="1180211"/>
                  </a:lnTo>
                  <a:cubicBezTo>
                    <a:pt x="3971731" y="1117849"/>
                    <a:pt x="4005196" y="1051917"/>
                    <a:pt x="4029829" y="982194"/>
                  </a:cubicBezTo>
                  <a:close/>
                  <a:moveTo>
                    <a:pt x="4087808" y="593511"/>
                  </a:moveTo>
                  <a:lnTo>
                    <a:pt x="4093474" y="622281"/>
                  </a:lnTo>
                  <a:cubicBezTo>
                    <a:pt x="4104254" y="696733"/>
                    <a:pt x="4103603" y="773228"/>
                    <a:pt x="4089935" y="852043"/>
                  </a:cubicBezTo>
                  <a:lnTo>
                    <a:pt x="4087219" y="864013"/>
                  </a:lnTo>
                  <a:lnTo>
                    <a:pt x="4061852" y="860755"/>
                  </a:lnTo>
                  <a:lnTo>
                    <a:pt x="4075471" y="761421"/>
                  </a:lnTo>
                  <a:cubicBezTo>
                    <a:pt x="4078364" y="721499"/>
                    <a:pt x="4078075" y="683239"/>
                    <a:pt x="4074987" y="646404"/>
                  </a:cubicBezTo>
                  <a:lnTo>
                    <a:pt x="4067029" y="597339"/>
                  </a:lnTo>
                  <a:close/>
                  <a:moveTo>
                    <a:pt x="4011395" y="373947"/>
                  </a:moveTo>
                  <a:lnTo>
                    <a:pt x="4028427" y="404785"/>
                  </a:lnTo>
                  <a:cubicBezTo>
                    <a:pt x="4049797" y="451877"/>
                    <a:pt x="4066792" y="499755"/>
                    <a:pt x="4078941" y="548501"/>
                  </a:cubicBezTo>
                  <a:lnTo>
                    <a:pt x="4080499" y="556408"/>
                  </a:lnTo>
                  <a:lnTo>
                    <a:pt x="4060972" y="560005"/>
                  </a:lnTo>
                  <a:lnTo>
                    <a:pt x="4057716" y="539931"/>
                  </a:lnTo>
                  <a:cubicBezTo>
                    <a:pt x="4049418" y="505704"/>
                    <a:pt x="4038706" y="472661"/>
                    <a:pt x="4025964" y="440563"/>
                  </a:cubicBezTo>
                  <a:lnTo>
                    <a:pt x="3997595" y="380051"/>
                  </a:lnTo>
                  <a:close/>
                  <a:moveTo>
                    <a:pt x="3901155" y="197856"/>
                  </a:moveTo>
                  <a:lnTo>
                    <a:pt x="3951662" y="265789"/>
                  </a:lnTo>
                  <a:lnTo>
                    <a:pt x="3997798" y="349324"/>
                  </a:lnTo>
                  <a:lnTo>
                    <a:pt x="3985699" y="354676"/>
                  </a:lnTo>
                  <a:lnTo>
                    <a:pt x="3982036" y="346863"/>
                  </a:lnTo>
                  <a:cubicBezTo>
                    <a:pt x="3965620" y="316415"/>
                    <a:pt x="3947559" y="286672"/>
                    <a:pt x="3928236" y="257395"/>
                  </a:cubicBezTo>
                  <a:lnTo>
                    <a:pt x="3891077" y="204911"/>
                  </a:lnTo>
                  <a:close/>
                  <a:moveTo>
                    <a:pt x="3831079" y="108914"/>
                  </a:moveTo>
                  <a:lnTo>
                    <a:pt x="3851464" y="131023"/>
                  </a:lnTo>
                  <a:lnTo>
                    <a:pt x="3891271" y="184563"/>
                  </a:lnTo>
                  <a:lnTo>
                    <a:pt x="3881402" y="191248"/>
                  </a:lnTo>
                  <a:lnTo>
                    <a:pt x="3866868" y="170720"/>
                  </a:lnTo>
                  <a:lnTo>
                    <a:pt x="3823189" y="115974"/>
                  </a:lnTo>
                  <a:close/>
                  <a:moveTo>
                    <a:pt x="3730658" y="0"/>
                  </a:moveTo>
                  <a:lnTo>
                    <a:pt x="3822781" y="99914"/>
                  </a:lnTo>
                  <a:lnTo>
                    <a:pt x="3814969" y="1056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66" name="Freeform 21"/>
            <p:cNvSpPr/>
            <p:nvPr/>
          </p:nvSpPr>
          <p:spPr bwMode="auto">
            <a:xfrm>
              <a:off x="10527058" y="5580009"/>
              <a:ext cx="471838" cy="430541"/>
            </a:xfrm>
            <a:custGeom>
              <a:avLst/>
              <a:gdLst>
                <a:gd name="T0" fmla="*/ 0 w 537"/>
                <a:gd name="T1" fmla="*/ 490 h 490"/>
                <a:gd name="T2" fmla="*/ 339 w 537"/>
                <a:gd name="T3" fmla="*/ 0 h 490"/>
                <a:gd name="T4" fmla="*/ 537 w 537"/>
                <a:gd name="T5" fmla="*/ 130 h 490"/>
                <a:gd name="T6" fmla="*/ 433 w 537"/>
                <a:gd name="T7" fmla="*/ 426 h 490"/>
                <a:gd name="T8" fmla="*/ 0 w 537"/>
                <a:gd name="T9" fmla="*/ 49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7" h="490">
                  <a:moveTo>
                    <a:pt x="0" y="490"/>
                  </a:moveTo>
                  <a:lnTo>
                    <a:pt x="339" y="0"/>
                  </a:lnTo>
                  <a:lnTo>
                    <a:pt x="537" y="130"/>
                  </a:lnTo>
                  <a:lnTo>
                    <a:pt x="433" y="426"/>
                  </a:lnTo>
                  <a:lnTo>
                    <a:pt x="0" y="49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grpSp>
        <p:nvGrpSpPr>
          <p:cNvPr id="167" name="Group 8"/>
          <p:cNvGrpSpPr/>
          <p:nvPr/>
        </p:nvGrpSpPr>
        <p:grpSpPr>
          <a:xfrm>
            <a:off x="9582057" y="1705815"/>
            <a:ext cx="216149" cy="187154"/>
            <a:chOff x="9322422" y="1072507"/>
            <a:chExt cx="216149" cy="187154"/>
          </a:xfrm>
        </p:grpSpPr>
        <p:sp>
          <p:nvSpPr>
            <p:cNvPr id="168" name="Freeform 22"/>
            <p:cNvSpPr/>
            <p:nvPr/>
          </p:nvSpPr>
          <p:spPr bwMode="auto">
            <a:xfrm>
              <a:off x="9467400" y="1081293"/>
              <a:ext cx="36024" cy="43054"/>
            </a:xfrm>
            <a:custGeom>
              <a:avLst/>
              <a:gdLst>
                <a:gd name="T0" fmla="*/ 41 w 41"/>
                <a:gd name="T1" fmla="*/ 0 h 49"/>
                <a:gd name="T2" fmla="*/ 0 w 41"/>
                <a:gd name="T3" fmla="*/ 0 h 49"/>
                <a:gd name="T4" fmla="*/ 0 w 41"/>
                <a:gd name="T5" fmla="*/ 16 h 49"/>
                <a:gd name="T6" fmla="*/ 41 w 41"/>
                <a:gd name="T7" fmla="*/ 49 h 49"/>
                <a:gd name="T8" fmla="*/ 41 w 41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9">
                  <a:moveTo>
                    <a:pt x="41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41" y="49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69" name="Freeform 23"/>
            <p:cNvSpPr/>
            <p:nvPr/>
          </p:nvSpPr>
          <p:spPr bwMode="auto">
            <a:xfrm>
              <a:off x="9357568" y="1118197"/>
              <a:ext cx="145857" cy="141464"/>
            </a:xfrm>
            <a:custGeom>
              <a:avLst/>
              <a:gdLst>
                <a:gd name="T0" fmla="*/ 166 w 166"/>
                <a:gd name="T1" fmla="*/ 85 h 161"/>
                <a:gd name="T2" fmla="*/ 166 w 166"/>
                <a:gd name="T3" fmla="*/ 69 h 161"/>
                <a:gd name="T4" fmla="*/ 125 w 166"/>
                <a:gd name="T5" fmla="*/ 36 h 161"/>
                <a:gd name="T6" fmla="*/ 83 w 166"/>
                <a:gd name="T7" fmla="*/ 0 h 161"/>
                <a:gd name="T8" fmla="*/ 0 w 166"/>
                <a:gd name="T9" fmla="*/ 69 h 161"/>
                <a:gd name="T10" fmla="*/ 0 w 166"/>
                <a:gd name="T11" fmla="*/ 161 h 161"/>
                <a:gd name="T12" fmla="*/ 52 w 166"/>
                <a:gd name="T13" fmla="*/ 161 h 161"/>
                <a:gd name="T14" fmla="*/ 52 w 166"/>
                <a:gd name="T15" fmla="*/ 69 h 161"/>
                <a:gd name="T16" fmla="*/ 114 w 166"/>
                <a:gd name="T17" fmla="*/ 69 h 161"/>
                <a:gd name="T18" fmla="*/ 114 w 166"/>
                <a:gd name="T19" fmla="*/ 161 h 161"/>
                <a:gd name="T20" fmla="*/ 166 w 166"/>
                <a:gd name="T21" fmla="*/ 161 h 161"/>
                <a:gd name="T22" fmla="*/ 166 w 166"/>
                <a:gd name="T23" fmla="*/ 85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6" h="161">
                  <a:moveTo>
                    <a:pt x="166" y="85"/>
                  </a:moveTo>
                  <a:lnTo>
                    <a:pt x="166" y="69"/>
                  </a:lnTo>
                  <a:lnTo>
                    <a:pt x="125" y="36"/>
                  </a:lnTo>
                  <a:lnTo>
                    <a:pt x="83" y="0"/>
                  </a:lnTo>
                  <a:lnTo>
                    <a:pt x="0" y="69"/>
                  </a:lnTo>
                  <a:lnTo>
                    <a:pt x="0" y="161"/>
                  </a:lnTo>
                  <a:lnTo>
                    <a:pt x="52" y="161"/>
                  </a:lnTo>
                  <a:lnTo>
                    <a:pt x="52" y="69"/>
                  </a:lnTo>
                  <a:lnTo>
                    <a:pt x="114" y="69"/>
                  </a:lnTo>
                  <a:lnTo>
                    <a:pt x="114" y="161"/>
                  </a:lnTo>
                  <a:lnTo>
                    <a:pt x="166" y="161"/>
                  </a:lnTo>
                  <a:lnTo>
                    <a:pt x="166" y="85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70" name="Freeform 24"/>
            <p:cNvSpPr/>
            <p:nvPr/>
          </p:nvSpPr>
          <p:spPr bwMode="auto">
            <a:xfrm>
              <a:off x="9322422" y="1072507"/>
              <a:ext cx="216149" cy="109832"/>
            </a:xfrm>
            <a:custGeom>
              <a:avLst/>
              <a:gdLst>
                <a:gd name="T0" fmla="*/ 40 w 246"/>
                <a:gd name="T1" fmla="*/ 111 h 125"/>
                <a:gd name="T2" fmla="*/ 123 w 246"/>
                <a:gd name="T3" fmla="*/ 45 h 125"/>
                <a:gd name="T4" fmla="*/ 165 w 246"/>
                <a:gd name="T5" fmla="*/ 78 h 125"/>
                <a:gd name="T6" fmla="*/ 206 w 246"/>
                <a:gd name="T7" fmla="*/ 111 h 125"/>
                <a:gd name="T8" fmla="*/ 224 w 246"/>
                <a:gd name="T9" fmla="*/ 125 h 125"/>
                <a:gd name="T10" fmla="*/ 246 w 246"/>
                <a:gd name="T11" fmla="*/ 102 h 125"/>
                <a:gd name="T12" fmla="*/ 206 w 246"/>
                <a:gd name="T13" fmla="*/ 69 h 125"/>
                <a:gd name="T14" fmla="*/ 165 w 246"/>
                <a:gd name="T15" fmla="*/ 36 h 125"/>
                <a:gd name="T16" fmla="*/ 123 w 246"/>
                <a:gd name="T17" fmla="*/ 0 h 125"/>
                <a:gd name="T18" fmla="*/ 0 w 246"/>
                <a:gd name="T19" fmla="*/ 102 h 125"/>
                <a:gd name="T20" fmla="*/ 21 w 246"/>
                <a:gd name="T21" fmla="*/ 125 h 125"/>
                <a:gd name="T22" fmla="*/ 40 w 246"/>
                <a:gd name="T23" fmla="*/ 11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6" h="125">
                  <a:moveTo>
                    <a:pt x="40" y="111"/>
                  </a:moveTo>
                  <a:lnTo>
                    <a:pt x="123" y="45"/>
                  </a:lnTo>
                  <a:lnTo>
                    <a:pt x="165" y="78"/>
                  </a:lnTo>
                  <a:lnTo>
                    <a:pt x="206" y="111"/>
                  </a:lnTo>
                  <a:lnTo>
                    <a:pt x="224" y="125"/>
                  </a:lnTo>
                  <a:lnTo>
                    <a:pt x="246" y="102"/>
                  </a:lnTo>
                  <a:lnTo>
                    <a:pt x="206" y="69"/>
                  </a:lnTo>
                  <a:lnTo>
                    <a:pt x="165" y="36"/>
                  </a:lnTo>
                  <a:lnTo>
                    <a:pt x="123" y="0"/>
                  </a:lnTo>
                  <a:lnTo>
                    <a:pt x="0" y="102"/>
                  </a:lnTo>
                  <a:lnTo>
                    <a:pt x="21" y="125"/>
                  </a:lnTo>
                  <a:lnTo>
                    <a:pt x="40" y="111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171" name="Freeform 25"/>
          <p:cNvSpPr/>
          <p:nvPr/>
        </p:nvSpPr>
        <p:spPr bwMode="auto">
          <a:xfrm>
            <a:off x="8758757" y="2001043"/>
            <a:ext cx="681837" cy="238994"/>
          </a:xfrm>
          <a:custGeom>
            <a:avLst/>
            <a:gdLst>
              <a:gd name="T0" fmla="*/ 250 w 328"/>
              <a:gd name="T1" fmla="*/ 65 h 115"/>
              <a:gd name="T2" fmla="*/ 274 w 328"/>
              <a:gd name="T3" fmla="*/ 115 h 115"/>
              <a:gd name="T4" fmla="*/ 165 w 328"/>
              <a:gd name="T5" fmla="*/ 65 h 115"/>
              <a:gd name="T6" fmla="*/ 24 w 328"/>
              <a:gd name="T7" fmla="*/ 33 h 115"/>
              <a:gd name="T8" fmla="*/ 122 w 328"/>
              <a:gd name="T9" fmla="*/ 0 h 115"/>
              <a:gd name="T10" fmla="*/ 308 w 328"/>
              <a:gd name="T11" fmla="*/ 33 h 115"/>
              <a:gd name="T12" fmla="*/ 250 w 328"/>
              <a:gd name="T13" fmla="*/ 65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8" h="115">
                <a:moveTo>
                  <a:pt x="250" y="65"/>
                </a:moveTo>
                <a:cubicBezTo>
                  <a:pt x="274" y="115"/>
                  <a:pt x="274" y="115"/>
                  <a:pt x="274" y="115"/>
                </a:cubicBezTo>
                <a:cubicBezTo>
                  <a:pt x="165" y="65"/>
                  <a:pt x="165" y="65"/>
                  <a:pt x="165" y="65"/>
                </a:cubicBezTo>
                <a:cubicBezTo>
                  <a:pt x="102" y="61"/>
                  <a:pt x="44" y="48"/>
                  <a:pt x="24" y="33"/>
                </a:cubicBezTo>
                <a:cubicBezTo>
                  <a:pt x="0" y="15"/>
                  <a:pt x="44" y="0"/>
                  <a:pt x="122" y="0"/>
                </a:cubicBezTo>
                <a:cubicBezTo>
                  <a:pt x="201" y="0"/>
                  <a:pt x="284" y="15"/>
                  <a:pt x="308" y="33"/>
                </a:cubicBezTo>
                <a:cubicBezTo>
                  <a:pt x="328" y="48"/>
                  <a:pt x="302" y="61"/>
                  <a:pt x="250" y="65"/>
                </a:cubicBezTo>
                <a:close/>
              </a:path>
            </a:pathLst>
          </a:custGeom>
          <a:solidFill>
            <a:srgbClr val="D0DB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172" name="Group 13"/>
          <p:cNvGrpSpPr/>
          <p:nvPr/>
        </p:nvGrpSpPr>
        <p:grpSpPr>
          <a:xfrm>
            <a:off x="8557545" y="2241795"/>
            <a:ext cx="201212" cy="168702"/>
            <a:chOff x="8297910" y="1608487"/>
            <a:chExt cx="201212" cy="168702"/>
          </a:xfrm>
        </p:grpSpPr>
        <p:sp>
          <p:nvSpPr>
            <p:cNvPr id="173" name="Freeform 29"/>
            <p:cNvSpPr/>
            <p:nvPr/>
          </p:nvSpPr>
          <p:spPr bwMode="auto">
            <a:xfrm>
              <a:off x="8297910" y="1725348"/>
              <a:ext cx="201212" cy="51841"/>
            </a:xfrm>
            <a:custGeom>
              <a:avLst/>
              <a:gdLst>
                <a:gd name="T0" fmla="*/ 149 w 229"/>
                <a:gd name="T1" fmla="*/ 31 h 59"/>
                <a:gd name="T2" fmla="*/ 78 w 229"/>
                <a:gd name="T3" fmla="*/ 31 h 59"/>
                <a:gd name="T4" fmla="*/ 78 w 229"/>
                <a:gd name="T5" fmla="*/ 0 h 59"/>
                <a:gd name="T6" fmla="*/ 0 w 229"/>
                <a:gd name="T7" fmla="*/ 0 h 59"/>
                <a:gd name="T8" fmla="*/ 0 w 229"/>
                <a:gd name="T9" fmla="*/ 59 h 59"/>
                <a:gd name="T10" fmla="*/ 229 w 229"/>
                <a:gd name="T11" fmla="*/ 59 h 59"/>
                <a:gd name="T12" fmla="*/ 229 w 229"/>
                <a:gd name="T13" fmla="*/ 0 h 59"/>
                <a:gd name="T14" fmla="*/ 149 w 229"/>
                <a:gd name="T15" fmla="*/ 0 h 59"/>
                <a:gd name="T16" fmla="*/ 149 w 229"/>
                <a:gd name="T17" fmla="*/ 3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59">
                  <a:moveTo>
                    <a:pt x="149" y="31"/>
                  </a:moveTo>
                  <a:lnTo>
                    <a:pt x="78" y="31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59"/>
                  </a:lnTo>
                  <a:lnTo>
                    <a:pt x="229" y="59"/>
                  </a:lnTo>
                  <a:lnTo>
                    <a:pt x="229" y="0"/>
                  </a:lnTo>
                  <a:lnTo>
                    <a:pt x="149" y="0"/>
                  </a:lnTo>
                  <a:lnTo>
                    <a:pt x="149" y="31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74" name="Rectangle 30"/>
            <p:cNvSpPr>
              <a:spLocks noChangeArrowheads="1"/>
            </p:cNvSpPr>
            <p:nvPr/>
          </p:nvSpPr>
          <p:spPr bwMode="auto">
            <a:xfrm>
              <a:off x="8378746" y="1725348"/>
              <a:ext cx="37782" cy="16694"/>
            </a:xfrm>
            <a:prstGeom prst="rect">
              <a:avLst/>
            </a:pr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75" name="Freeform 31"/>
            <p:cNvSpPr>
              <a:spLocks noEditPoints="1"/>
            </p:cNvSpPr>
            <p:nvPr/>
          </p:nvSpPr>
          <p:spPr bwMode="auto">
            <a:xfrm>
              <a:off x="8297910" y="1608487"/>
              <a:ext cx="201212" cy="106317"/>
            </a:xfrm>
            <a:custGeom>
              <a:avLst/>
              <a:gdLst>
                <a:gd name="T0" fmla="*/ 170 w 229"/>
                <a:gd name="T1" fmla="*/ 0 h 121"/>
                <a:gd name="T2" fmla="*/ 114 w 229"/>
                <a:gd name="T3" fmla="*/ 0 h 121"/>
                <a:gd name="T4" fmla="*/ 114 w 229"/>
                <a:gd name="T5" fmla="*/ 19 h 121"/>
                <a:gd name="T6" fmla="*/ 151 w 229"/>
                <a:gd name="T7" fmla="*/ 19 h 121"/>
                <a:gd name="T8" fmla="*/ 151 w 229"/>
                <a:gd name="T9" fmla="*/ 43 h 121"/>
                <a:gd name="T10" fmla="*/ 114 w 229"/>
                <a:gd name="T11" fmla="*/ 43 h 121"/>
                <a:gd name="T12" fmla="*/ 114 w 229"/>
                <a:gd name="T13" fmla="*/ 121 h 121"/>
                <a:gd name="T14" fmla="*/ 149 w 229"/>
                <a:gd name="T15" fmla="*/ 121 h 121"/>
                <a:gd name="T16" fmla="*/ 229 w 229"/>
                <a:gd name="T17" fmla="*/ 121 h 121"/>
                <a:gd name="T18" fmla="*/ 229 w 229"/>
                <a:gd name="T19" fmla="*/ 43 h 121"/>
                <a:gd name="T20" fmla="*/ 170 w 229"/>
                <a:gd name="T21" fmla="*/ 43 h 121"/>
                <a:gd name="T22" fmla="*/ 170 w 229"/>
                <a:gd name="T23" fmla="*/ 0 h 121"/>
                <a:gd name="T24" fmla="*/ 114 w 229"/>
                <a:gd name="T25" fmla="*/ 0 h 121"/>
                <a:gd name="T26" fmla="*/ 57 w 229"/>
                <a:gd name="T27" fmla="*/ 0 h 121"/>
                <a:gd name="T28" fmla="*/ 57 w 229"/>
                <a:gd name="T29" fmla="*/ 43 h 121"/>
                <a:gd name="T30" fmla="*/ 0 w 229"/>
                <a:gd name="T31" fmla="*/ 43 h 121"/>
                <a:gd name="T32" fmla="*/ 0 w 229"/>
                <a:gd name="T33" fmla="*/ 121 h 121"/>
                <a:gd name="T34" fmla="*/ 78 w 229"/>
                <a:gd name="T35" fmla="*/ 121 h 121"/>
                <a:gd name="T36" fmla="*/ 114 w 229"/>
                <a:gd name="T37" fmla="*/ 121 h 121"/>
                <a:gd name="T38" fmla="*/ 114 w 229"/>
                <a:gd name="T39" fmla="*/ 43 h 121"/>
                <a:gd name="T40" fmla="*/ 78 w 229"/>
                <a:gd name="T41" fmla="*/ 43 h 121"/>
                <a:gd name="T42" fmla="*/ 78 w 229"/>
                <a:gd name="T43" fmla="*/ 43 h 121"/>
                <a:gd name="T44" fmla="*/ 78 w 229"/>
                <a:gd name="T45" fmla="*/ 19 h 121"/>
                <a:gd name="T46" fmla="*/ 114 w 229"/>
                <a:gd name="T47" fmla="*/ 19 h 121"/>
                <a:gd name="T48" fmla="*/ 114 w 229"/>
                <a:gd name="T4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9" h="121">
                  <a:moveTo>
                    <a:pt x="170" y="0"/>
                  </a:moveTo>
                  <a:lnTo>
                    <a:pt x="114" y="0"/>
                  </a:lnTo>
                  <a:lnTo>
                    <a:pt x="114" y="19"/>
                  </a:lnTo>
                  <a:lnTo>
                    <a:pt x="151" y="19"/>
                  </a:lnTo>
                  <a:lnTo>
                    <a:pt x="151" y="43"/>
                  </a:lnTo>
                  <a:lnTo>
                    <a:pt x="114" y="43"/>
                  </a:lnTo>
                  <a:lnTo>
                    <a:pt x="114" y="121"/>
                  </a:lnTo>
                  <a:lnTo>
                    <a:pt x="149" y="121"/>
                  </a:lnTo>
                  <a:lnTo>
                    <a:pt x="229" y="121"/>
                  </a:lnTo>
                  <a:lnTo>
                    <a:pt x="229" y="43"/>
                  </a:lnTo>
                  <a:lnTo>
                    <a:pt x="170" y="43"/>
                  </a:lnTo>
                  <a:lnTo>
                    <a:pt x="170" y="0"/>
                  </a:lnTo>
                  <a:close/>
                  <a:moveTo>
                    <a:pt x="114" y="0"/>
                  </a:moveTo>
                  <a:lnTo>
                    <a:pt x="57" y="0"/>
                  </a:lnTo>
                  <a:lnTo>
                    <a:pt x="57" y="43"/>
                  </a:lnTo>
                  <a:lnTo>
                    <a:pt x="0" y="43"/>
                  </a:lnTo>
                  <a:lnTo>
                    <a:pt x="0" y="121"/>
                  </a:lnTo>
                  <a:lnTo>
                    <a:pt x="78" y="121"/>
                  </a:lnTo>
                  <a:lnTo>
                    <a:pt x="114" y="121"/>
                  </a:lnTo>
                  <a:lnTo>
                    <a:pt x="114" y="43"/>
                  </a:lnTo>
                  <a:lnTo>
                    <a:pt x="78" y="43"/>
                  </a:lnTo>
                  <a:lnTo>
                    <a:pt x="78" y="43"/>
                  </a:lnTo>
                  <a:lnTo>
                    <a:pt x="78" y="19"/>
                  </a:lnTo>
                  <a:lnTo>
                    <a:pt x="114" y="19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176" name="Freeform 32"/>
          <p:cNvSpPr/>
          <p:nvPr/>
        </p:nvSpPr>
        <p:spPr bwMode="auto">
          <a:xfrm>
            <a:off x="7620899" y="2456186"/>
            <a:ext cx="915558" cy="376064"/>
          </a:xfrm>
          <a:custGeom>
            <a:avLst/>
            <a:gdLst>
              <a:gd name="T0" fmla="*/ 333 w 441"/>
              <a:gd name="T1" fmla="*/ 102 h 181"/>
              <a:gd name="T2" fmla="*/ 356 w 441"/>
              <a:gd name="T3" fmla="*/ 181 h 181"/>
              <a:gd name="T4" fmla="*/ 217 w 441"/>
              <a:gd name="T5" fmla="*/ 102 h 181"/>
              <a:gd name="T6" fmla="*/ 30 w 441"/>
              <a:gd name="T7" fmla="*/ 52 h 181"/>
              <a:gd name="T8" fmla="*/ 170 w 441"/>
              <a:gd name="T9" fmla="*/ 0 h 181"/>
              <a:gd name="T10" fmla="*/ 417 w 441"/>
              <a:gd name="T11" fmla="*/ 52 h 181"/>
              <a:gd name="T12" fmla="*/ 333 w 441"/>
              <a:gd name="T13" fmla="*/ 10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1" h="181">
                <a:moveTo>
                  <a:pt x="333" y="102"/>
                </a:moveTo>
                <a:cubicBezTo>
                  <a:pt x="356" y="181"/>
                  <a:pt x="356" y="181"/>
                  <a:pt x="356" y="181"/>
                </a:cubicBezTo>
                <a:cubicBezTo>
                  <a:pt x="217" y="102"/>
                  <a:pt x="217" y="102"/>
                  <a:pt x="217" y="102"/>
                </a:cubicBezTo>
                <a:cubicBezTo>
                  <a:pt x="132" y="95"/>
                  <a:pt x="54" y="76"/>
                  <a:pt x="30" y="52"/>
                </a:cubicBezTo>
                <a:cubicBezTo>
                  <a:pt x="0" y="23"/>
                  <a:pt x="63" y="0"/>
                  <a:pt x="170" y="0"/>
                </a:cubicBezTo>
                <a:cubicBezTo>
                  <a:pt x="277" y="0"/>
                  <a:pt x="387" y="23"/>
                  <a:pt x="417" y="52"/>
                </a:cubicBezTo>
                <a:cubicBezTo>
                  <a:pt x="441" y="76"/>
                  <a:pt x="405" y="95"/>
                  <a:pt x="333" y="102"/>
                </a:cubicBezTo>
                <a:close/>
              </a:path>
            </a:pathLst>
          </a:custGeom>
          <a:solidFill>
            <a:srgbClr val="D0DB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185" name="Group 26"/>
          <p:cNvGrpSpPr/>
          <p:nvPr/>
        </p:nvGrpSpPr>
        <p:grpSpPr>
          <a:xfrm>
            <a:off x="9033776" y="1219918"/>
            <a:ext cx="589578" cy="1020118"/>
            <a:chOff x="8774141" y="586610"/>
            <a:chExt cx="589578" cy="1020118"/>
          </a:xfrm>
        </p:grpSpPr>
        <p:sp>
          <p:nvSpPr>
            <p:cNvPr id="186" name="Oval 27"/>
            <p:cNvSpPr>
              <a:spLocks noChangeArrowheads="1"/>
            </p:cNvSpPr>
            <p:nvPr/>
          </p:nvSpPr>
          <p:spPr bwMode="auto">
            <a:xfrm>
              <a:off x="8774141" y="586610"/>
              <a:ext cx="589578" cy="5895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7" name="Freeform 26"/>
            <p:cNvSpPr/>
            <p:nvPr/>
          </p:nvSpPr>
          <p:spPr bwMode="auto">
            <a:xfrm>
              <a:off x="8969203" y="1008364"/>
              <a:ext cx="199454" cy="598364"/>
            </a:xfrm>
            <a:custGeom>
              <a:avLst/>
              <a:gdLst>
                <a:gd name="T0" fmla="*/ 113 w 227"/>
                <a:gd name="T1" fmla="*/ 681 h 681"/>
                <a:gd name="T2" fmla="*/ 0 w 227"/>
                <a:gd name="T3" fmla="*/ 113 h 681"/>
                <a:gd name="T4" fmla="*/ 94 w 227"/>
                <a:gd name="T5" fmla="*/ 0 h 681"/>
                <a:gd name="T6" fmla="*/ 227 w 227"/>
                <a:gd name="T7" fmla="*/ 113 h 681"/>
                <a:gd name="T8" fmla="*/ 113 w 227"/>
                <a:gd name="T9" fmla="*/ 681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681">
                  <a:moveTo>
                    <a:pt x="113" y="681"/>
                  </a:moveTo>
                  <a:lnTo>
                    <a:pt x="0" y="113"/>
                  </a:lnTo>
                  <a:lnTo>
                    <a:pt x="94" y="0"/>
                  </a:lnTo>
                  <a:lnTo>
                    <a:pt x="227" y="113"/>
                  </a:lnTo>
                  <a:lnTo>
                    <a:pt x="113" y="6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8" name="Oval 28"/>
            <p:cNvSpPr>
              <a:spLocks noChangeArrowheads="1"/>
            </p:cNvSpPr>
            <p:nvPr/>
          </p:nvSpPr>
          <p:spPr bwMode="auto">
            <a:xfrm>
              <a:off x="8836526" y="650752"/>
              <a:ext cx="464808" cy="46305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9" name="TextBox 30"/>
            <p:cNvSpPr txBox="1"/>
            <p:nvPr/>
          </p:nvSpPr>
          <p:spPr>
            <a:xfrm>
              <a:off x="8834971" y="693183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36772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01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36772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190" name="Group 31"/>
          <p:cNvGrpSpPr/>
          <p:nvPr/>
        </p:nvGrpSpPr>
        <p:grpSpPr>
          <a:xfrm>
            <a:off x="7959181" y="1439582"/>
            <a:ext cx="803970" cy="1392669"/>
            <a:chOff x="7699546" y="806274"/>
            <a:chExt cx="803970" cy="1392669"/>
          </a:xfrm>
        </p:grpSpPr>
        <p:sp>
          <p:nvSpPr>
            <p:cNvPr id="191" name="Freeform 33"/>
            <p:cNvSpPr/>
            <p:nvPr/>
          </p:nvSpPr>
          <p:spPr bwMode="auto">
            <a:xfrm>
              <a:off x="7965778" y="1380036"/>
              <a:ext cx="271504" cy="818907"/>
            </a:xfrm>
            <a:custGeom>
              <a:avLst/>
              <a:gdLst>
                <a:gd name="T0" fmla="*/ 153 w 309"/>
                <a:gd name="T1" fmla="*/ 932 h 932"/>
                <a:gd name="T2" fmla="*/ 0 w 309"/>
                <a:gd name="T3" fmla="*/ 156 h 932"/>
                <a:gd name="T4" fmla="*/ 127 w 309"/>
                <a:gd name="T5" fmla="*/ 0 h 932"/>
                <a:gd name="T6" fmla="*/ 309 w 309"/>
                <a:gd name="T7" fmla="*/ 156 h 932"/>
                <a:gd name="T8" fmla="*/ 153 w 309"/>
                <a:gd name="T9" fmla="*/ 93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932">
                  <a:moveTo>
                    <a:pt x="153" y="932"/>
                  </a:moveTo>
                  <a:lnTo>
                    <a:pt x="0" y="156"/>
                  </a:lnTo>
                  <a:lnTo>
                    <a:pt x="127" y="0"/>
                  </a:lnTo>
                  <a:lnTo>
                    <a:pt x="309" y="156"/>
                  </a:lnTo>
                  <a:lnTo>
                    <a:pt x="153" y="9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2" name="Oval 34"/>
            <p:cNvSpPr>
              <a:spLocks noChangeArrowheads="1"/>
            </p:cNvSpPr>
            <p:nvPr/>
          </p:nvSpPr>
          <p:spPr bwMode="auto">
            <a:xfrm>
              <a:off x="7699546" y="806274"/>
              <a:ext cx="803970" cy="8048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3" name="Oval 35"/>
            <p:cNvSpPr>
              <a:spLocks noChangeArrowheads="1"/>
            </p:cNvSpPr>
            <p:nvPr/>
          </p:nvSpPr>
          <p:spPr bwMode="auto">
            <a:xfrm>
              <a:off x="7784775" y="891503"/>
              <a:ext cx="633511" cy="63439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4" name="TextBox 35"/>
            <p:cNvSpPr txBox="1"/>
            <p:nvPr/>
          </p:nvSpPr>
          <p:spPr>
            <a:xfrm>
              <a:off x="7820043" y="977865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5C8B6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02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5C8B6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10" name="Group 51"/>
          <p:cNvGrpSpPr/>
          <p:nvPr/>
        </p:nvGrpSpPr>
        <p:grpSpPr>
          <a:xfrm>
            <a:off x="1811642" y="1896148"/>
            <a:ext cx="4379234" cy="800682"/>
            <a:chOff x="1811642" y="1907437"/>
            <a:chExt cx="3502279" cy="800682"/>
          </a:xfrm>
        </p:grpSpPr>
        <p:sp>
          <p:nvSpPr>
            <p:cNvPr id="211" name="TextBox 52"/>
            <p:cNvSpPr txBox="1"/>
            <p:nvPr/>
          </p:nvSpPr>
          <p:spPr>
            <a:xfrm>
              <a:off x="1811642" y="190743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Roboto Light"/>
                  <a:ea typeface="+mn-ea"/>
                </a:rPr>
                <a:t>中断跳转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Light"/>
                <a:ea typeface="+mn-ea"/>
              </a:endParaRPr>
            </a:p>
          </p:txBody>
        </p:sp>
        <p:sp>
          <p:nvSpPr>
            <p:cNvPr id="212" name="TextBox 53"/>
            <p:cNvSpPr txBox="1"/>
            <p:nvPr/>
          </p:nvSpPr>
          <p:spPr>
            <a:xfrm>
              <a:off x="1811643" y="2277745"/>
              <a:ext cx="3502278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+mn-cs"/>
                </a:rPr>
                <a:t>跳转到该中断所对应的中断服务程序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13" name="Group 66"/>
          <p:cNvGrpSpPr/>
          <p:nvPr/>
        </p:nvGrpSpPr>
        <p:grpSpPr>
          <a:xfrm>
            <a:off x="1100743" y="1948530"/>
            <a:ext cx="622647" cy="622647"/>
            <a:chOff x="1100743" y="1959819"/>
            <a:chExt cx="622647" cy="622647"/>
          </a:xfrm>
        </p:grpSpPr>
        <p:sp>
          <p:nvSpPr>
            <p:cNvPr id="214" name="Oval 67"/>
            <p:cNvSpPr/>
            <p:nvPr/>
          </p:nvSpPr>
          <p:spPr>
            <a:xfrm>
              <a:off x="1100743" y="1959819"/>
              <a:ext cx="622647" cy="62264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grpSp>
          <p:nvGrpSpPr>
            <p:cNvPr id="215" name="Group 68"/>
            <p:cNvGrpSpPr/>
            <p:nvPr/>
          </p:nvGrpSpPr>
          <p:grpSpPr>
            <a:xfrm>
              <a:off x="1236606" y="2119219"/>
              <a:ext cx="350920" cy="303846"/>
              <a:chOff x="9322422" y="1072507"/>
              <a:chExt cx="216149" cy="187154"/>
            </a:xfrm>
            <a:solidFill>
              <a:schemeClr val="bg1"/>
            </a:solidFill>
          </p:grpSpPr>
          <p:sp>
            <p:nvSpPr>
              <p:cNvPr id="216" name="Freeform 22"/>
              <p:cNvSpPr/>
              <p:nvPr/>
            </p:nvSpPr>
            <p:spPr bwMode="auto">
              <a:xfrm>
                <a:off x="9467400" y="1081293"/>
                <a:ext cx="36024" cy="43054"/>
              </a:xfrm>
              <a:custGeom>
                <a:avLst/>
                <a:gdLst>
                  <a:gd name="T0" fmla="*/ 41 w 41"/>
                  <a:gd name="T1" fmla="*/ 0 h 49"/>
                  <a:gd name="T2" fmla="*/ 0 w 41"/>
                  <a:gd name="T3" fmla="*/ 0 h 49"/>
                  <a:gd name="T4" fmla="*/ 0 w 41"/>
                  <a:gd name="T5" fmla="*/ 16 h 49"/>
                  <a:gd name="T6" fmla="*/ 41 w 41"/>
                  <a:gd name="T7" fmla="*/ 49 h 49"/>
                  <a:gd name="T8" fmla="*/ 41 w 41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9">
                    <a:moveTo>
                      <a:pt x="41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41" y="49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217" name="Freeform 23"/>
              <p:cNvSpPr/>
              <p:nvPr/>
            </p:nvSpPr>
            <p:spPr bwMode="auto">
              <a:xfrm>
                <a:off x="9357568" y="1118197"/>
                <a:ext cx="145857" cy="141464"/>
              </a:xfrm>
              <a:custGeom>
                <a:avLst/>
                <a:gdLst>
                  <a:gd name="T0" fmla="*/ 166 w 166"/>
                  <a:gd name="T1" fmla="*/ 85 h 161"/>
                  <a:gd name="T2" fmla="*/ 166 w 166"/>
                  <a:gd name="T3" fmla="*/ 69 h 161"/>
                  <a:gd name="T4" fmla="*/ 125 w 166"/>
                  <a:gd name="T5" fmla="*/ 36 h 161"/>
                  <a:gd name="T6" fmla="*/ 83 w 166"/>
                  <a:gd name="T7" fmla="*/ 0 h 161"/>
                  <a:gd name="T8" fmla="*/ 0 w 166"/>
                  <a:gd name="T9" fmla="*/ 69 h 161"/>
                  <a:gd name="T10" fmla="*/ 0 w 166"/>
                  <a:gd name="T11" fmla="*/ 161 h 161"/>
                  <a:gd name="T12" fmla="*/ 52 w 166"/>
                  <a:gd name="T13" fmla="*/ 161 h 161"/>
                  <a:gd name="T14" fmla="*/ 52 w 166"/>
                  <a:gd name="T15" fmla="*/ 69 h 161"/>
                  <a:gd name="T16" fmla="*/ 114 w 166"/>
                  <a:gd name="T17" fmla="*/ 69 h 161"/>
                  <a:gd name="T18" fmla="*/ 114 w 166"/>
                  <a:gd name="T19" fmla="*/ 161 h 161"/>
                  <a:gd name="T20" fmla="*/ 166 w 166"/>
                  <a:gd name="T21" fmla="*/ 161 h 161"/>
                  <a:gd name="T22" fmla="*/ 166 w 166"/>
                  <a:gd name="T23" fmla="*/ 8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6" h="161">
                    <a:moveTo>
                      <a:pt x="166" y="85"/>
                    </a:moveTo>
                    <a:lnTo>
                      <a:pt x="166" y="69"/>
                    </a:lnTo>
                    <a:lnTo>
                      <a:pt x="125" y="36"/>
                    </a:lnTo>
                    <a:lnTo>
                      <a:pt x="83" y="0"/>
                    </a:lnTo>
                    <a:lnTo>
                      <a:pt x="0" y="69"/>
                    </a:lnTo>
                    <a:lnTo>
                      <a:pt x="0" y="161"/>
                    </a:lnTo>
                    <a:lnTo>
                      <a:pt x="52" y="161"/>
                    </a:lnTo>
                    <a:lnTo>
                      <a:pt x="52" y="69"/>
                    </a:lnTo>
                    <a:lnTo>
                      <a:pt x="114" y="69"/>
                    </a:lnTo>
                    <a:lnTo>
                      <a:pt x="114" y="161"/>
                    </a:lnTo>
                    <a:lnTo>
                      <a:pt x="166" y="161"/>
                    </a:lnTo>
                    <a:lnTo>
                      <a:pt x="166" y="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218" name="Freeform 24"/>
              <p:cNvSpPr/>
              <p:nvPr/>
            </p:nvSpPr>
            <p:spPr bwMode="auto">
              <a:xfrm>
                <a:off x="9322422" y="1072507"/>
                <a:ext cx="216149" cy="109832"/>
              </a:xfrm>
              <a:custGeom>
                <a:avLst/>
                <a:gdLst>
                  <a:gd name="T0" fmla="*/ 40 w 246"/>
                  <a:gd name="T1" fmla="*/ 111 h 125"/>
                  <a:gd name="T2" fmla="*/ 123 w 246"/>
                  <a:gd name="T3" fmla="*/ 45 h 125"/>
                  <a:gd name="T4" fmla="*/ 165 w 246"/>
                  <a:gd name="T5" fmla="*/ 78 h 125"/>
                  <a:gd name="T6" fmla="*/ 206 w 246"/>
                  <a:gd name="T7" fmla="*/ 111 h 125"/>
                  <a:gd name="T8" fmla="*/ 224 w 246"/>
                  <a:gd name="T9" fmla="*/ 125 h 125"/>
                  <a:gd name="T10" fmla="*/ 246 w 246"/>
                  <a:gd name="T11" fmla="*/ 102 h 125"/>
                  <a:gd name="T12" fmla="*/ 206 w 246"/>
                  <a:gd name="T13" fmla="*/ 69 h 125"/>
                  <a:gd name="T14" fmla="*/ 165 w 246"/>
                  <a:gd name="T15" fmla="*/ 36 h 125"/>
                  <a:gd name="T16" fmla="*/ 123 w 246"/>
                  <a:gd name="T17" fmla="*/ 0 h 125"/>
                  <a:gd name="T18" fmla="*/ 0 w 246"/>
                  <a:gd name="T19" fmla="*/ 102 h 125"/>
                  <a:gd name="T20" fmla="*/ 21 w 246"/>
                  <a:gd name="T21" fmla="*/ 125 h 125"/>
                  <a:gd name="T22" fmla="*/ 40 w 246"/>
                  <a:gd name="T23" fmla="*/ 111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6" h="125">
                    <a:moveTo>
                      <a:pt x="40" y="111"/>
                    </a:moveTo>
                    <a:lnTo>
                      <a:pt x="123" y="45"/>
                    </a:lnTo>
                    <a:lnTo>
                      <a:pt x="165" y="78"/>
                    </a:lnTo>
                    <a:lnTo>
                      <a:pt x="206" y="111"/>
                    </a:lnTo>
                    <a:lnTo>
                      <a:pt x="224" y="125"/>
                    </a:lnTo>
                    <a:lnTo>
                      <a:pt x="246" y="102"/>
                    </a:lnTo>
                    <a:lnTo>
                      <a:pt x="206" y="69"/>
                    </a:lnTo>
                    <a:lnTo>
                      <a:pt x="165" y="36"/>
                    </a:lnTo>
                    <a:lnTo>
                      <a:pt x="123" y="0"/>
                    </a:lnTo>
                    <a:lnTo>
                      <a:pt x="0" y="102"/>
                    </a:lnTo>
                    <a:lnTo>
                      <a:pt x="21" y="125"/>
                    </a:lnTo>
                    <a:lnTo>
                      <a:pt x="4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9" name="Group 54"/>
          <p:cNvGrpSpPr/>
          <p:nvPr/>
        </p:nvGrpSpPr>
        <p:grpSpPr>
          <a:xfrm>
            <a:off x="1811641" y="2779399"/>
            <a:ext cx="4308845" cy="1247963"/>
            <a:chOff x="1811642" y="2790688"/>
            <a:chExt cx="3502278" cy="1247963"/>
          </a:xfrm>
        </p:grpSpPr>
        <p:sp>
          <p:nvSpPr>
            <p:cNvPr id="70" name="TextBox 55"/>
            <p:cNvSpPr txBox="1"/>
            <p:nvPr/>
          </p:nvSpPr>
          <p:spPr>
            <a:xfrm>
              <a:off x="1814754" y="2790688"/>
              <a:ext cx="2646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rPr>
                <a:t>执行中断服务程序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1" name="TextBox 56"/>
            <p:cNvSpPr txBox="1"/>
            <p:nvPr/>
          </p:nvSpPr>
          <p:spPr>
            <a:xfrm>
              <a:off x="1811642" y="3207654"/>
              <a:ext cx="350227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noProof="0" dirty="0">
                  <a:latin typeface="+mn-ea"/>
                  <a:ea typeface="+mn-ea"/>
                </a:rPr>
                <a:t>执行在</a:t>
              </a:r>
              <a:r>
                <a:rPr lang="en-US" altLang="zh-CN" sz="2000" b="1" dirty="0">
                  <a:latin typeface="+mn-ea"/>
                  <a:ea typeface="+mn-ea"/>
                </a:rPr>
                <a:t>stm32f4xx_it.c</a:t>
              </a:r>
              <a:r>
                <a:rPr lang="zh-CN" altLang="en-US" sz="2000" b="1" dirty="0">
                  <a:latin typeface="+mn-ea"/>
                  <a:ea typeface="+mn-ea"/>
                </a:rPr>
                <a:t>中对应的中断服务程序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100743" y="2805551"/>
            <a:ext cx="622647" cy="622647"/>
            <a:chOff x="1100743" y="2816840"/>
            <a:chExt cx="622647" cy="622647"/>
          </a:xfrm>
        </p:grpSpPr>
        <p:sp>
          <p:nvSpPr>
            <p:cNvPr id="73" name="Oval 73"/>
            <p:cNvSpPr/>
            <p:nvPr/>
          </p:nvSpPr>
          <p:spPr>
            <a:xfrm>
              <a:off x="1100743" y="2816840"/>
              <a:ext cx="622647" cy="6226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1248731" y="2973201"/>
              <a:ext cx="326670" cy="273890"/>
              <a:chOff x="8297910" y="1608487"/>
              <a:chExt cx="201212" cy="168702"/>
            </a:xfrm>
            <a:solidFill>
              <a:schemeClr val="bg1"/>
            </a:solidFill>
          </p:grpSpPr>
          <p:sp>
            <p:nvSpPr>
              <p:cNvPr id="75" name="Freeform 29"/>
              <p:cNvSpPr/>
              <p:nvPr/>
            </p:nvSpPr>
            <p:spPr bwMode="auto">
              <a:xfrm>
                <a:off x="8297910" y="1725348"/>
                <a:ext cx="201212" cy="51841"/>
              </a:xfrm>
              <a:custGeom>
                <a:avLst/>
                <a:gdLst>
                  <a:gd name="T0" fmla="*/ 149 w 229"/>
                  <a:gd name="T1" fmla="*/ 31 h 59"/>
                  <a:gd name="T2" fmla="*/ 78 w 229"/>
                  <a:gd name="T3" fmla="*/ 31 h 59"/>
                  <a:gd name="T4" fmla="*/ 78 w 229"/>
                  <a:gd name="T5" fmla="*/ 0 h 59"/>
                  <a:gd name="T6" fmla="*/ 0 w 229"/>
                  <a:gd name="T7" fmla="*/ 0 h 59"/>
                  <a:gd name="T8" fmla="*/ 0 w 229"/>
                  <a:gd name="T9" fmla="*/ 59 h 59"/>
                  <a:gd name="T10" fmla="*/ 229 w 229"/>
                  <a:gd name="T11" fmla="*/ 59 h 59"/>
                  <a:gd name="T12" fmla="*/ 229 w 229"/>
                  <a:gd name="T13" fmla="*/ 0 h 59"/>
                  <a:gd name="T14" fmla="*/ 149 w 229"/>
                  <a:gd name="T15" fmla="*/ 0 h 59"/>
                  <a:gd name="T16" fmla="*/ 149 w 229"/>
                  <a:gd name="T17" fmla="*/ 3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9" h="59">
                    <a:moveTo>
                      <a:pt x="149" y="31"/>
                    </a:moveTo>
                    <a:lnTo>
                      <a:pt x="78" y="31"/>
                    </a:lnTo>
                    <a:lnTo>
                      <a:pt x="78" y="0"/>
                    </a:lnTo>
                    <a:lnTo>
                      <a:pt x="0" y="0"/>
                    </a:lnTo>
                    <a:lnTo>
                      <a:pt x="0" y="59"/>
                    </a:lnTo>
                    <a:lnTo>
                      <a:pt x="229" y="59"/>
                    </a:lnTo>
                    <a:lnTo>
                      <a:pt x="229" y="0"/>
                    </a:lnTo>
                    <a:lnTo>
                      <a:pt x="149" y="0"/>
                    </a:lnTo>
                    <a:lnTo>
                      <a:pt x="149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76" name="Rectangle 30"/>
              <p:cNvSpPr>
                <a:spLocks noChangeArrowheads="1"/>
              </p:cNvSpPr>
              <p:nvPr/>
            </p:nvSpPr>
            <p:spPr bwMode="auto">
              <a:xfrm>
                <a:off x="8378746" y="1725348"/>
                <a:ext cx="37782" cy="166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77" name="Freeform 31"/>
              <p:cNvSpPr>
                <a:spLocks noEditPoints="1"/>
              </p:cNvSpPr>
              <p:nvPr/>
            </p:nvSpPr>
            <p:spPr bwMode="auto">
              <a:xfrm>
                <a:off x="8297910" y="1608487"/>
                <a:ext cx="201212" cy="106317"/>
              </a:xfrm>
              <a:custGeom>
                <a:avLst/>
                <a:gdLst>
                  <a:gd name="T0" fmla="*/ 170 w 229"/>
                  <a:gd name="T1" fmla="*/ 0 h 121"/>
                  <a:gd name="T2" fmla="*/ 114 w 229"/>
                  <a:gd name="T3" fmla="*/ 0 h 121"/>
                  <a:gd name="T4" fmla="*/ 114 w 229"/>
                  <a:gd name="T5" fmla="*/ 19 h 121"/>
                  <a:gd name="T6" fmla="*/ 151 w 229"/>
                  <a:gd name="T7" fmla="*/ 19 h 121"/>
                  <a:gd name="T8" fmla="*/ 151 w 229"/>
                  <a:gd name="T9" fmla="*/ 43 h 121"/>
                  <a:gd name="T10" fmla="*/ 114 w 229"/>
                  <a:gd name="T11" fmla="*/ 43 h 121"/>
                  <a:gd name="T12" fmla="*/ 114 w 229"/>
                  <a:gd name="T13" fmla="*/ 121 h 121"/>
                  <a:gd name="T14" fmla="*/ 149 w 229"/>
                  <a:gd name="T15" fmla="*/ 121 h 121"/>
                  <a:gd name="T16" fmla="*/ 229 w 229"/>
                  <a:gd name="T17" fmla="*/ 121 h 121"/>
                  <a:gd name="T18" fmla="*/ 229 w 229"/>
                  <a:gd name="T19" fmla="*/ 43 h 121"/>
                  <a:gd name="T20" fmla="*/ 170 w 229"/>
                  <a:gd name="T21" fmla="*/ 43 h 121"/>
                  <a:gd name="T22" fmla="*/ 170 w 229"/>
                  <a:gd name="T23" fmla="*/ 0 h 121"/>
                  <a:gd name="T24" fmla="*/ 114 w 229"/>
                  <a:gd name="T25" fmla="*/ 0 h 121"/>
                  <a:gd name="T26" fmla="*/ 57 w 229"/>
                  <a:gd name="T27" fmla="*/ 0 h 121"/>
                  <a:gd name="T28" fmla="*/ 57 w 229"/>
                  <a:gd name="T29" fmla="*/ 43 h 121"/>
                  <a:gd name="T30" fmla="*/ 0 w 229"/>
                  <a:gd name="T31" fmla="*/ 43 h 121"/>
                  <a:gd name="T32" fmla="*/ 0 w 229"/>
                  <a:gd name="T33" fmla="*/ 121 h 121"/>
                  <a:gd name="T34" fmla="*/ 78 w 229"/>
                  <a:gd name="T35" fmla="*/ 121 h 121"/>
                  <a:gd name="T36" fmla="*/ 114 w 229"/>
                  <a:gd name="T37" fmla="*/ 121 h 121"/>
                  <a:gd name="T38" fmla="*/ 114 w 229"/>
                  <a:gd name="T39" fmla="*/ 43 h 121"/>
                  <a:gd name="T40" fmla="*/ 78 w 229"/>
                  <a:gd name="T41" fmla="*/ 43 h 121"/>
                  <a:gd name="T42" fmla="*/ 78 w 229"/>
                  <a:gd name="T43" fmla="*/ 43 h 121"/>
                  <a:gd name="T44" fmla="*/ 78 w 229"/>
                  <a:gd name="T45" fmla="*/ 19 h 121"/>
                  <a:gd name="T46" fmla="*/ 114 w 229"/>
                  <a:gd name="T47" fmla="*/ 19 h 121"/>
                  <a:gd name="T48" fmla="*/ 114 w 229"/>
                  <a:gd name="T49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29" h="121">
                    <a:moveTo>
                      <a:pt x="170" y="0"/>
                    </a:moveTo>
                    <a:lnTo>
                      <a:pt x="114" y="0"/>
                    </a:lnTo>
                    <a:lnTo>
                      <a:pt x="114" y="19"/>
                    </a:lnTo>
                    <a:lnTo>
                      <a:pt x="151" y="19"/>
                    </a:lnTo>
                    <a:lnTo>
                      <a:pt x="151" y="43"/>
                    </a:lnTo>
                    <a:lnTo>
                      <a:pt x="114" y="43"/>
                    </a:lnTo>
                    <a:lnTo>
                      <a:pt x="114" y="121"/>
                    </a:lnTo>
                    <a:lnTo>
                      <a:pt x="149" y="121"/>
                    </a:lnTo>
                    <a:lnTo>
                      <a:pt x="229" y="121"/>
                    </a:lnTo>
                    <a:lnTo>
                      <a:pt x="229" y="43"/>
                    </a:lnTo>
                    <a:lnTo>
                      <a:pt x="170" y="43"/>
                    </a:lnTo>
                    <a:lnTo>
                      <a:pt x="170" y="0"/>
                    </a:lnTo>
                    <a:close/>
                    <a:moveTo>
                      <a:pt x="114" y="0"/>
                    </a:moveTo>
                    <a:lnTo>
                      <a:pt x="57" y="0"/>
                    </a:lnTo>
                    <a:lnTo>
                      <a:pt x="57" y="43"/>
                    </a:lnTo>
                    <a:lnTo>
                      <a:pt x="0" y="43"/>
                    </a:lnTo>
                    <a:lnTo>
                      <a:pt x="0" y="121"/>
                    </a:lnTo>
                    <a:lnTo>
                      <a:pt x="78" y="121"/>
                    </a:lnTo>
                    <a:lnTo>
                      <a:pt x="114" y="121"/>
                    </a:lnTo>
                    <a:lnTo>
                      <a:pt x="114" y="43"/>
                    </a:lnTo>
                    <a:lnTo>
                      <a:pt x="78" y="43"/>
                    </a:lnTo>
                    <a:lnTo>
                      <a:pt x="78" y="43"/>
                    </a:lnTo>
                    <a:lnTo>
                      <a:pt x="78" y="19"/>
                    </a:lnTo>
                    <a:lnTo>
                      <a:pt x="114" y="19"/>
                    </a:lnTo>
                    <a:lnTo>
                      <a:pt x="11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</p:grpSp>
      </p:grpSp>
      <p:sp>
        <p:nvSpPr>
          <p:cNvPr id="55" name="Freeform 36"/>
          <p:cNvSpPr/>
          <p:nvPr/>
        </p:nvSpPr>
        <p:spPr bwMode="auto">
          <a:xfrm>
            <a:off x="6355635" y="3158232"/>
            <a:ext cx="1098319" cy="424391"/>
          </a:xfrm>
          <a:custGeom>
            <a:avLst/>
            <a:gdLst>
              <a:gd name="T0" fmla="*/ 393 w 529"/>
              <a:gd name="T1" fmla="*/ 116 h 204"/>
              <a:gd name="T2" fmla="*/ 408 w 529"/>
              <a:gd name="T3" fmla="*/ 204 h 204"/>
              <a:gd name="T4" fmla="*/ 251 w 529"/>
              <a:gd name="T5" fmla="*/ 116 h 204"/>
              <a:gd name="T6" fmla="*/ 31 w 529"/>
              <a:gd name="T7" fmla="*/ 59 h 204"/>
              <a:gd name="T8" fmla="*/ 210 w 529"/>
              <a:gd name="T9" fmla="*/ 0 h 204"/>
              <a:gd name="T10" fmla="*/ 503 w 529"/>
              <a:gd name="T11" fmla="*/ 59 h 204"/>
              <a:gd name="T12" fmla="*/ 393 w 529"/>
              <a:gd name="T13" fmla="*/ 116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9" h="204">
                <a:moveTo>
                  <a:pt x="393" y="116"/>
                </a:moveTo>
                <a:cubicBezTo>
                  <a:pt x="408" y="204"/>
                  <a:pt x="408" y="204"/>
                  <a:pt x="408" y="204"/>
                </a:cubicBezTo>
                <a:cubicBezTo>
                  <a:pt x="251" y="116"/>
                  <a:pt x="251" y="116"/>
                  <a:pt x="251" y="116"/>
                </a:cubicBezTo>
                <a:cubicBezTo>
                  <a:pt x="148" y="108"/>
                  <a:pt x="57" y="86"/>
                  <a:pt x="31" y="59"/>
                </a:cubicBezTo>
                <a:cubicBezTo>
                  <a:pt x="0" y="27"/>
                  <a:pt x="80" y="0"/>
                  <a:pt x="210" y="0"/>
                </a:cubicBezTo>
                <a:cubicBezTo>
                  <a:pt x="340" y="0"/>
                  <a:pt x="472" y="27"/>
                  <a:pt x="503" y="59"/>
                </a:cubicBezTo>
                <a:cubicBezTo>
                  <a:pt x="529" y="86"/>
                  <a:pt x="481" y="108"/>
                  <a:pt x="393" y="116"/>
                </a:cubicBezTo>
                <a:close/>
              </a:path>
            </a:pathLst>
          </a:custGeom>
          <a:solidFill>
            <a:srgbClr val="D0DB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56" name="Freeform 40"/>
          <p:cNvSpPr>
            <a:spLocks noEditPoints="1"/>
          </p:cNvSpPr>
          <p:nvPr/>
        </p:nvSpPr>
        <p:spPr bwMode="auto">
          <a:xfrm>
            <a:off x="7400356" y="2836644"/>
            <a:ext cx="182760" cy="184517"/>
          </a:xfrm>
          <a:custGeom>
            <a:avLst/>
            <a:gdLst>
              <a:gd name="T0" fmla="*/ 66 w 88"/>
              <a:gd name="T1" fmla="*/ 83 h 89"/>
              <a:gd name="T2" fmla="*/ 82 w 88"/>
              <a:gd name="T3" fmla="*/ 67 h 89"/>
              <a:gd name="T4" fmla="*/ 87 w 88"/>
              <a:gd name="T5" fmla="*/ 53 h 89"/>
              <a:gd name="T6" fmla="*/ 87 w 88"/>
              <a:gd name="T7" fmla="*/ 36 h 89"/>
              <a:gd name="T8" fmla="*/ 82 w 88"/>
              <a:gd name="T9" fmla="*/ 22 h 89"/>
              <a:gd name="T10" fmla="*/ 66 w 88"/>
              <a:gd name="T11" fmla="*/ 6 h 89"/>
              <a:gd name="T12" fmla="*/ 60 w 88"/>
              <a:gd name="T13" fmla="*/ 3 h 89"/>
              <a:gd name="T14" fmla="*/ 47 w 88"/>
              <a:gd name="T15" fmla="*/ 0 h 89"/>
              <a:gd name="T16" fmla="*/ 49 w 88"/>
              <a:gd name="T17" fmla="*/ 5 h 89"/>
              <a:gd name="T18" fmla="*/ 54 w 88"/>
              <a:gd name="T19" fmla="*/ 5 h 89"/>
              <a:gd name="T20" fmla="*/ 59 w 88"/>
              <a:gd name="T21" fmla="*/ 6 h 89"/>
              <a:gd name="T22" fmla="*/ 58 w 88"/>
              <a:gd name="T23" fmla="*/ 7 h 89"/>
              <a:gd name="T24" fmla="*/ 51 w 88"/>
              <a:gd name="T25" fmla="*/ 10 h 89"/>
              <a:gd name="T26" fmla="*/ 52 w 88"/>
              <a:gd name="T27" fmla="*/ 14 h 89"/>
              <a:gd name="T28" fmla="*/ 56 w 88"/>
              <a:gd name="T29" fmla="*/ 17 h 89"/>
              <a:gd name="T30" fmla="*/ 62 w 88"/>
              <a:gd name="T31" fmla="*/ 9 h 89"/>
              <a:gd name="T32" fmla="*/ 67 w 88"/>
              <a:gd name="T33" fmla="*/ 10 h 89"/>
              <a:gd name="T34" fmla="*/ 71 w 88"/>
              <a:gd name="T35" fmla="*/ 12 h 89"/>
              <a:gd name="T36" fmla="*/ 73 w 88"/>
              <a:gd name="T37" fmla="*/ 18 h 89"/>
              <a:gd name="T38" fmla="*/ 71 w 88"/>
              <a:gd name="T39" fmla="*/ 21 h 89"/>
              <a:gd name="T40" fmla="*/ 69 w 88"/>
              <a:gd name="T41" fmla="*/ 19 h 89"/>
              <a:gd name="T42" fmla="*/ 63 w 88"/>
              <a:gd name="T43" fmla="*/ 20 h 89"/>
              <a:gd name="T44" fmla="*/ 67 w 88"/>
              <a:gd name="T45" fmla="*/ 22 h 89"/>
              <a:gd name="T46" fmla="*/ 58 w 88"/>
              <a:gd name="T47" fmla="*/ 26 h 89"/>
              <a:gd name="T48" fmla="*/ 53 w 88"/>
              <a:gd name="T49" fmla="*/ 29 h 89"/>
              <a:gd name="T50" fmla="*/ 48 w 88"/>
              <a:gd name="T51" fmla="*/ 34 h 89"/>
              <a:gd name="T52" fmla="*/ 51 w 88"/>
              <a:gd name="T53" fmla="*/ 53 h 89"/>
              <a:gd name="T54" fmla="*/ 56 w 88"/>
              <a:gd name="T55" fmla="*/ 54 h 89"/>
              <a:gd name="T56" fmla="*/ 61 w 88"/>
              <a:gd name="T57" fmla="*/ 56 h 89"/>
              <a:gd name="T58" fmla="*/ 69 w 88"/>
              <a:gd name="T59" fmla="*/ 60 h 89"/>
              <a:gd name="T60" fmla="*/ 73 w 88"/>
              <a:gd name="T61" fmla="*/ 64 h 89"/>
              <a:gd name="T62" fmla="*/ 80 w 88"/>
              <a:gd name="T63" fmla="*/ 67 h 89"/>
              <a:gd name="T64" fmla="*/ 50 w 88"/>
              <a:gd name="T65" fmla="*/ 78 h 89"/>
              <a:gd name="T66" fmla="*/ 0 w 88"/>
              <a:gd name="T67" fmla="*/ 38 h 89"/>
              <a:gd name="T68" fmla="*/ 1 w 88"/>
              <a:gd name="T69" fmla="*/ 56 h 89"/>
              <a:gd name="T70" fmla="*/ 9 w 88"/>
              <a:gd name="T71" fmla="*/ 72 h 89"/>
              <a:gd name="T72" fmla="*/ 28 w 88"/>
              <a:gd name="T73" fmla="*/ 86 h 89"/>
              <a:gd name="T74" fmla="*/ 45 w 88"/>
              <a:gd name="T75" fmla="*/ 71 h 89"/>
              <a:gd name="T76" fmla="*/ 43 w 88"/>
              <a:gd name="T77" fmla="*/ 63 h 89"/>
              <a:gd name="T78" fmla="*/ 45 w 88"/>
              <a:gd name="T79" fmla="*/ 57 h 89"/>
              <a:gd name="T80" fmla="*/ 40 w 88"/>
              <a:gd name="T81" fmla="*/ 55 h 89"/>
              <a:gd name="T82" fmla="*/ 34 w 88"/>
              <a:gd name="T83" fmla="*/ 51 h 89"/>
              <a:gd name="T84" fmla="*/ 25 w 88"/>
              <a:gd name="T85" fmla="*/ 47 h 89"/>
              <a:gd name="T86" fmla="*/ 21 w 88"/>
              <a:gd name="T87" fmla="*/ 40 h 89"/>
              <a:gd name="T88" fmla="*/ 19 w 88"/>
              <a:gd name="T89" fmla="*/ 39 h 89"/>
              <a:gd name="T90" fmla="*/ 19 w 88"/>
              <a:gd name="T91" fmla="*/ 40 h 89"/>
              <a:gd name="T92" fmla="*/ 16 w 88"/>
              <a:gd name="T93" fmla="*/ 33 h 89"/>
              <a:gd name="T94" fmla="*/ 16 w 88"/>
              <a:gd name="T95" fmla="*/ 26 h 89"/>
              <a:gd name="T96" fmla="*/ 19 w 88"/>
              <a:gd name="T97" fmla="*/ 18 h 89"/>
              <a:gd name="T98" fmla="*/ 18 w 88"/>
              <a:gd name="T99" fmla="*/ 13 h 89"/>
              <a:gd name="T100" fmla="*/ 39 w 88"/>
              <a:gd name="T101" fmla="*/ 3 h 89"/>
              <a:gd name="T102" fmla="*/ 47 w 88"/>
              <a:gd name="T103" fmla="*/ 0 h 89"/>
              <a:gd name="T104" fmla="*/ 27 w 88"/>
              <a:gd name="T105" fmla="*/ 3 h 89"/>
              <a:gd name="T106" fmla="*/ 13 w 88"/>
              <a:gd name="T107" fmla="*/ 13 h 89"/>
              <a:gd name="T108" fmla="*/ 3 w 88"/>
              <a:gd name="T109" fmla="*/ 28 h 89"/>
              <a:gd name="T110" fmla="*/ 47 w 88"/>
              <a:gd name="T111" fmla="*/ 56 h 89"/>
              <a:gd name="T112" fmla="*/ 40 w 88"/>
              <a:gd name="T113" fmla="*/ 49 h 89"/>
              <a:gd name="T114" fmla="*/ 39 w 88"/>
              <a:gd name="T115" fmla="*/ 45 h 89"/>
              <a:gd name="T116" fmla="*/ 31 w 88"/>
              <a:gd name="T117" fmla="*/ 46 h 89"/>
              <a:gd name="T118" fmla="*/ 35 w 88"/>
              <a:gd name="T119" fmla="*/ 37 h 89"/>
              <a:gd name="T120" fmla="*/ 43 w 88"/>
              <a:gd name="T121" fmla="*/ 37 h 89"/>
              <a:gd name="T122" fmla="*/ 46 w 88"/>
              <a:gd name="T123" fmla="*/ 37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8" h="89">
                <a:moveTo>
                  <a:pt x="47" y="89"/>
                </a:moveTo>
                <a:cubicBezTo>
                  <a:pt x="49" y="89"/>
                  <a:pt x="52" y="88"/>
                  <a:pt x="54" y="88"/>
                </a:cubicBezTo>
                <a:cubicBezTo>
                  <a:pt x="55" y="87"/>
                  <a:pt x="57" y="87"/>
                  <a:pt x="58" y="86"/>
                </a:cubicBezTo>
                <a:cubicBezTo>
                  <a:pt x="59" y="86"/>
                  <a:pt x="59" y="86"/>
                  <a:pt x="60" y="86"/>
                </a:cubicBezTo>
                <a:cubicBezTo>
                  <a:pt x="61" y="85"/>
                  <a:pt x="63" y="85"/>
                  <a:pt x="64" y="84"/>
                </a:cubicBezTo>
                <a:cubicBezTo>
                  <a:pt x="65" y="84"/>
                  <a:pt x="65" y="83"/>
                  <a:pt x="66" y="83"/>
                </a:cubicBezTo>
                <a:cubicBezTo>
                  <a:pt x="69" y="81"/>
                  <a:pt x="71" y="79"/>
                  <a:pt x="74" y="77"/>
                </a:cubicBezTo>
                <a:cubicBezTo>
                  <a:pt x="74" y="77"/>
                  <a:pt x="75" y="76"/>
                  <a:pt x="75" y="76"/>
                </a:cubicBezTo>
                <a:cubicBezTo>
                  <a:pt x="76" y="75"/>
                  <a:pt x="76" y="75"/>
                  <a:pt x="77" y="74"/>
                </a:cubicBezTo>
                <a:cubicBezTo>
                  <a:pt x="77" y="73"/>
                  <a:pt x="78" y="73"/>
                  <a:pt x="79" y="72"/>
                </a:cubicBezTo>
                <a:cubicBezTo>
                  <a:pt x="80" y="71"/>
                  <a:pt x="81" y="69"/>
                  <a:pt x="82" y="68"/>
                </a:cubicBezTo>
                <a:cubicBezTo>
                  <a:pt x="82" y="67"/>
                  <a:pt x="82" y="67"/>
                  <a:pt x="82" y="67"/>
                </a:cubicBezTo>
                <a:cubicBezTo>
                  <a:pt x="83" y="66"/>
                  <a:pt x="83" y="65"/>
                  <a:pt x="83" y="65"/>
                </a:cubicBezTo>
                <a:cubicBezTo>
                  <a:pt x="84" y="64"/>
                  <a:pt x="84" y="64"/>
                  <a:pt x="84" y="64"/>
                </a:cubicBezTo>
                <a:cubicBezTo>
                  <a:pt x="84" y="63"/>
                  <a:pt x="84" y="62"/>
                  <a:pt x="85" y="62"/>
                </a:cubicBezTo>
                <a:cubicBezTo>
                  <a:pt x="85" y="61"/>
                  <a:pt x="85" y="60"/>
                  <a:pt x="86" y="60"/>
                </a:cubicBezTo>
                <a:cubicBezTo>
                  <a:pt x="86" y="58"/>
                  <a:pt x="86" y="57"/>
                  <a:pt x="87" y="56"/>
                </a:cubicBezTo>
                <a:cubicBezTo>
                  <a:pt x="87" y="55"/>
                  <a:pt x="87" y="54"/>
                  <a:pt x="87" y="53"/>
                </a:cubicBezTo>
                <a:cubicBezTo>
                  <a:pt x="87" y="53"/>
                  <a:pt x="88" y="52"/>
                  <a:pt x="88" y="51"/>
                </a:cubicBezTo>
                <a:cubicBezTo>
                  <a:pt x="88" y="50"/>
                  <a:pt x="88" y="50"/>
                  <a:pt x="88" y="49"/>
                </a:cubicBezTo>
                <a:cubicBezTo>
                  <a:pt x="88" y="47"/>
                  <a:pt x="88" y="46"/>
                  <a:pt x="88" y="44"/>
                </a:cubicBezTo>
                <a:cubicBezTo>
                  <a:pt x="88" y="43"/>
                  <a:pt x="88" y="41"/>
                  <a:pt x="88" y="40"/>
                </a:cubicBezTo>
                <a:cubicBezTo>
                  <a:pt x="88" y="39"/>
                  <a:pt x="88" y="38"/>
                  <a:pt x="88" y="38"/>
                </a:cubicBezTo>
                <a:cubicBezTo>
                  <a:pt x="88" y="37"/>
                  <a:pt x="87" y="36"/>
                  <a:pt x="87" y="36"/>
                </a:cubicBezTo>
                <a:cubicBezTo>
                  <a:pt x="87" y="35"/>
                  <a:pt x="87" y="34"/>
                  <a:pt x="87" y="33"/>
                </a:cubicBezTo>
                <a:cubicBezTo>
                  <a:pt x="86" y="32"/>
                  <a:pt x="86" y="31"/>
                  <a:pt x="86" y="29"/>
                </a:cubicBezTo>
                <a:cubicBezTo>
                  <a:pt x="85" y="29"/>
                  <a:pt x="85" y="29"/>
                  <a:pt x="85" y="28"/>
                </a:cubicBezTo>
                <a:cubicBezTo>
                  <a:pt x="85" y="27"/>
                  <a:pt x="84" y="26"/>
                  <a:pt x="84" y="25"/>
                </a:cubicBezTo>
                <a:cubicBezTo>
                  <a:pt x="84" y="25"/>
                  <a:pt x="84" y="25"/>
                  <a:pt x="83" y="24"/>
                </a:cubicBezTo>
                <a:cubicBezTo>
                  <a:pt x="83" y="24"/>
                  <a:pt x="83" y="23"/>
                  <a:pt x="82" y="22"/>
                </a:cubicBezTo>
                <a:cubicBezTo>
                  <a:pt x="81" y="21"/>
                  <a:pt x="80" y="19"/>
                  <a:pt x="79" y="17"/>
                </a:cubicBezTo>
                <a:cubicBezTo>
                  <a:pt x="78" y="16"/>
                  <a:pt x="77" y="15"/>
                  <a:pt x="77" y="15"/>
                </a:cubicBezTo>
                <a:cubicBezTo>
                  <a:pt x="76" y="14"/>
                  <a:pt x="76" y="14"/>
                  <a:pt x="75" y="13"/>
                </a:cubicBezTo>
                <a:cubicBezTo>
                  <a:pt x="75" y="13"/>
                  <a:pt x="74" y="12"/>
                  <a:pt x="74" y="12"/>
                </a:cubicBezTo>
                <a:cubicBezTo>
                  <a:pt x="73" y="11"/>
                  <a:pt x="72" y="10"/>
                  <a:pt x="71" y="9"/>
                </a:cubicBezTo>
                <a:cubicBezTo>
                  <a:pt x="69" y="8"/>
                  <a:pt x="68" y="7"/>
                  <a:pt x="66" y="6"/>
                </a:cubicBezTo>
                <a:cubicBezTo>
                  <a:pt x="65" y="6"/>
                  <a:pt x="65" y="5"/>
                  <a:pt x="64" y="5"/>
                </a:cubicBezTo>
                <a:cubicBezTo>
                  <a:pt x="64" y="5"/>
                  <a:pt x="64" y="5"/>
                  <a:pt x="63" y="5"/>
                </a:cubicBezTo>
                <a:cubicBezTo>
                  <a:pt x="63" y="4"/>
                  <a:pt x="63" y="4"/>
                  <a:pt x="62" y="4"/>
                </a:cubicBezTo>
                <a:cubicBezTo>
                  <a:pt x="62" y="4"/>
                  <a:pt x="62" y="4"/>
                  <a:pt x="62" y="4"/>
                </a:cubicBezTo>
                <a:cubicBezTo>
                  <a:pt x="61" y="4"/>
                  <a:pt x="61" y="3"/>
                  <a:pt x="60" y="3"/>
                </a:cubicBezTo>
                <a:cubicBezTo>
                  <a:pt x="60" y="3"/>
                  <a:pt x="60" y="3"/>
                  <a:pt x="60" y="3"/>
                </a:cubicBezTo>
                <a:cubicBezTo>
                  <a:pt x="60" y="3"/>
                  <a:pt x="59" y="3"/>
                  <a:pt x="58" y="3"/>
                </a:cubicBezTo>
                <a:cubicBezTo>
                  <a:pt x="58" y="3"/>
                  <a:pt x="58" y="2"/>
                  <a:pt x="58" y="2"/>
                </a:cubicBezTo>
                <a:cubicBezTo>
                  <a:pt x="57" y="2"/>
                  <a:pt x="55" y="2"/>
                  <a:pt x="54" y="1"/>
                </a:cubicBezTo>
                <a:cubicBezTo>
                  <a:pt x="54" y="1"/>
                  <a:pt x="53" y="1"/>
                  <a:pt x="53" y="1"/>
                </a:cubicBezTo>
                <a:cubicBezTo>
                  <a:pt x="53" y="1"/>
                  <a:pt x="52" y="1"/>
                  <a:pt x="52" y="1"/>
                </a:cubicBezTo>
                <a:cubicBezTo>
                  <a:pt x="50" y="1"/>
                  <a:pt x="49" y="0"/>
                  <a:pt x="47" y="0"/>
                </a:cubicBezTo>
                <a:cubicBezTo>
                  <a:pt x="47" y="3"/>
                  <a:pt x="47" y="3"/>
                  <a:pt x="47" y="3"/>
                </a:cubicBezTo>
                <a:cubicBezTo>
                  <a:pt x="49" y="3"/>
                  <a:pt x="51" y="3"/>
                  <a:pt x="52" y="3"/>
                </a:cubicBezTo>
                <a:cubicBezTo>
                  <a:pt x="52" y="4"/>
                  <a:pt x="52" y="3"/>
                  <a:pt x="51" y="4"/>
                </a:cubicBezTo>
                <a:cubicBezTo>
                  <a:pt x="51" y="4"/>
                  <a:pt x="51" y="4"/>
                  <a:pt x="51" y="4"/>
                </a:cubicBezTo>
                <a:cubicBezTo>
                  <a:pt x="50" y="4"/>
                  <a:pt x="49" y="4"/>
                  <a:pt x="48" y="4"/>
                </a:cubicBezTo>
                <a:cubicBezTo>
                  <a:pt x="48" y="4"/>
                  <a:pt x="49" y="4"/>
                  <a:pt x="49" y="5"/>
                </a:cubicBezTo>
                <a:cubicBezTo>
                  <a:pt x="50" y="5"/>
                  <a:pt x="50" y="5"/>
                  <a:pt x="51" y="5"/>
                </a:cubicBezTo>
                <a:cubicBezTo>
                  <a:pt x="52" y="5"/>
                  <a:pt x="52" y="5"/>
                  <a:pt x="53" y="5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4" y="4"/>
                  <a:pt x="54" y="5"/>
                </a:cubicBezTo>
                <a:cubicBezTo>
                  <a:pt x="55" y="5"/>
                  <a:pt x="55" y="5"/>
                  <a:pt x="56" y="4"/>
                </a:cubicBezTo>
                <a:cubicBezTo>
                  <a:pt x="56" y="4"/>
                  <a:pt x="56" y="4"/>
                  <a:pt x="56" y="4"/>
                </a:cubicBezTo>
                <a:cubicBezTo>
                  <a:pt x="57" y="4"/>
                  <a:pt x="57" y="5"/>
                  <a:pt x="58" y="5"/>
                </a:cubicBezTo>
                <a:cubicBezTo>
                  <a:pt x="59" y="5"/>
                  <a:pt x="60" y="6"/>
                  <a:pt x="61" y="6"/>
                </a:cubicBezTo>
                <a:cubicBezTo>
                  <a:pt x="61" y="6"/>
                  <a:pt x="60" y="6"/>
                  <a:pt x="60" y="6"/>
                </a:cubicBezTo>
                <a:cubicBezTo>
                  <a:pt x="60" y="6"/>
                  <a:pt x="60" y="6"/>
                  <a:pt x="59" y="6"/>
                </a:cubicBezTo>
                <a:cubicBezTo>
                  <a:pt x="59" y="6"/>
                  <a:pt x="60" y="7"/>
                  <a:pt x="60" y="7"/>
                </a:cubicBezTo>
                <a:cubicBezTo>
                  <a:pt x="61" y="7"/>
                  <a:pt x="61" y="7"/>
                  <a:pt x="61" y="8"/>
                </a:cubicBezTo>
                <a:cubicBezTo>
                  <a:pt x="61" y="9"/>
                  <a:pt x="60" y="8"/>
                  <a:pt x="60" y="8"/>
                </a:cubicBezTo>
                <a:cubicBezTo>
                  <a:pt x="59" y="8"/>
                  <a:pt x="58" y="9"/>
                  <a:pt x="57" y="8"/>
                </a:cubicBezTo>
                <a:cubicBezTo>
                  <a:pt x="57" y="7"/>
                  <a:pt x="58" y="7"/>
                  <a:pt x="58" y="7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7"/>
                  <a:pt x="57" y="7"/>
                  <a:pt x="57" y="7"/>
                </a:cubicBezTo>
                <a:cubicBezTo>
                  <a:pt x="57" y="7"/>
                  <a:pt x="57" y="8"/>
                  <a:pt x="56" y="8"/>
                </a:cubicBezTo>
                <a:cubicBezTo>
                  <a:pt x="56" y="8"/>
                  <a:pt x="56" y="8"/>
                  <a:pt x="55" y="8"/>
                </a:cubicBezTo>
                <a:cubicBezTo>
                  <a:pt x="55" y="8"/>
                  <a:pt x="54" y="8"/>
                  <a:pt x="54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2" y="9"/>
                  <a:pt x="52" y="9"/>
                  <a:pt x="51" y="10"/>
                </a:cubicBezTo>
                <a:cubicBezTo>
                  <a:pt x="50" y="10"/>
                  <a:pt x="50" y="10"/>
                  <a:pt x="49" y="11"/>
                </a:cubicBezTo>
                <a:cubicBezTo>
                  <a:pt x="49" y="11"/>
                  <a:pt x="49" y="11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3"/>
                  <a:pt x="50" y="13"/>
                  <a:pt x="50" y="13"/>
                </a:cubicBezTo>
                <a:cubicBezTo>
                  <a:pt x="51" y="13"/>
                  <a:pt x="51" y="14"/>
                  <a:pt x="52" y="14"/>
                </a:cubicBezTo>
                <a:cubicBezTo>
                  <a:pt x="52" y="14"/>
                  <a:pt x="53" y="15"/>
                  <a:pt x="53" y="15"/>
                </a:cubicBezTo>
                <a:cubicBezTo>
                  <a:pt x="54" y="15"/>
                  <a:pt x="55" y="15"/>
                  <a:pt x="55" y="15"/>
                </a:cubicBezTo>
                <a:cubicBezTo>
                  <a:pt x="55" y="16"/>
                  <a:pt x="54" y="16"/>
                  <a:pt x="54" y="16"/>
                </a:cubicBezTo>
                <a:cubicBezTo>
                  <a:pt x="55" y="17"/>
                  <a:pt x="54" y="17"/>
                  <a:pt x="54" y="17"/>
                </a:cubicBezTo>
                <a:cubicBezTo>
                  <a:pt x="54" y="18"/>
                  <a:pt x="54" y="18"/>
                  <a:pt x="55" y="18"/>
                </a:cubicBezTo>
                <a:cubicBezTo>
                  <a:pt x="55" y="18"/>
                  <a:pt x="56" y="18"/>
                  <a:pt x="56" y="17"/>
                </a:cubicBezTo>
                <a:cubicBezTo>
                  <a:pt x="56" y="17"/>
                  <a:pt x="56" y="16"/>
                  <a:pt x="57" y="15"/>
                </a:cubicBezTo>
                <a:cubicBezTo>
                  <a:pt x="59" y="15"/>
                  <a:pt x="61" y="14"/>
                  <a:pt x="61" y="12"/>
                </a:cubicBezTo>
                <a:cubicBezTo>
                  <a:pt x="61" y="12"/>
                  <a:pt x="61" y="12"/>
                  <a:pt x="61" y="11"/>
                </a:cubicBezTo>
                <a:cubicBezTo>
                  <a:pt x="61" y="11"/>
                  <a:pt x="61" y="11"/>
                  <a:pt x="61" y="10"/>
                </a:cubicBezTo>
                <a:cubicBezTo>
                  <a:pt x="61" y="10"/>
                  <a:pt x="62" y="10"/>
                  <a:pt x="62" y="10"/>
                </a:cubicBezTo>
                <a:cubicBezTo>
                  <a:pt x="62" y="9"/>
                  <a:pt x="62" y="9"/>
                  <a:pt x="62" y="9"/>
                </a:cubicBezTo>
                <a:cubicBezTo>
                  <a:pt x="62" y="9"/>
                  <a:pt x="62" y="9"/>
                  <a:pt x="62" y="9"/>
                </a:cubicBezTo>
                <a:cubicBezTo>
                  <a:pt x="63" y="9"/>
                  <a:pt x="63" y="9"/>
                  <a:pt x="63" y="9"/>
                </a:cubicBezTo>
                <a:cubicBezTo>
                  <a:pt x="63" y="9"/>
                  <a:pt x="64" y="9"/>
                  <a:pt x="64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6" y="9"/>
                  <a:pt x="66" y="10"/>
                  <a:pt x="66" y="10"/>
                </a:cubicBezTo>
                <a:cubicBezTo>
                  <a:pt x="66" y="10"/>
                  <a:pt x="67" y="10"/>
                  <a:pt x="67" y="10"/>
                </a:cubicBezTo>
                <a:cubicBezTo>
                  <a:pt x="67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2"/>
                  <a:pt x="67" y="12"/>
                  <a:pt x="67" y="12"/>
                </a:cubicBezTo>
                <a:cubicBezTo>
                  <a:pt x="68" y="12"/>
                  <a:pt x="68" y="12"/>
                  <a:pt x="68" y="12"/>
                </a:cubicBezTo>
                <a:cubicBezTo>
                  <a:pt x="69" y="12"/>
                  <a:pt x="69" y="11"/>
                  <a:pt x="69" y="11"/>
                </a:cubicBezTo>
                <a:cubicBezTo>
                  <a:pt x="70" y="11"/>
                  <a:pt x="70" y="12"/>
                  <a:pt x="71" y="12"/>
                </a:cubicBezTo>
                <a:cubicBezTo>
                  <a:pt x="71" y="12"/>
                  <a:pt x="71" y="13"/>
                  <a:pt x="71" y="13"/>
                </a:cubicBezTo>
                <a:cubicBezTo>
                  <a:pt x="71" y="13"/>
                  <a:pt x="71" y="14"/>
                  <a:pt x="71" y="14"/>
                </a:cubicBezTo>
                <a:cubicBezTo>
                  <a:pt x="71" y="15"/>
                  <a:pt x="72" y="15"/>
                  <a:pt x="72" y="15"/>
                </a:cubicBezTo>
                <a:cubicBezTo>
                  <a:pt x="73" y="15"/>
                  <a:pt x="73" y="16"/>
                  <a:pt x="73" y="16"/>
                </a:cubicBezTo>
                <a:cubicBezTo>
                  <a:pt x="73" y="16"/>
                  <a:pt x="73" y="16"/>
                  <a:pt x="73" y="17"/>
                </a:cubicBezTo>
                <a:cubicBezTo>
                  <a:pt x="73" y="17"/>
                  <a:pt x="73" y="17"/>
                  <a:pt x="73" y="18"/>
                </a:cubicBezTo>
                <a:cubicBezTo>
                  <a:pt x="72" y="19"/>
                  <a:pt x="72" y="19"/>
                  <a:pt x="72" y="19"/>
                </a:cubicBezTo>
                <a:cubicBezTo>
                  <a:pt x="72" y="20"/>
                  <a:pt x="73" y="19"/>
                  <a:pt x="73" y="20"/>
                </a:cubicBezTo>
                <a:cubicBezTo>
                  <a:pt x="74" y="20"/>
                  <a:pt x="73" y="20"/>
                  <a:pt x="73" y="21"/>
                </a:cubicBezTo>
                <a:cubicBezTo>
                  <a:pt x="74" y="21"/>
                  <a:pt x="74" y="22"/>
                  <a:pt x="73" y="22"/>
                </a:cubicBezTo>
                <a:cubicBezTo>
                  <a:pt x="73" y="22"/>
                  <a:pt x="73" y="22"/>
                  <a:pt x="72" y="22"/>
                </a:cubicBezTo>
                <a:cubicBezTo>
                  <a:pt x="72" y="22"/>
                  <a:pt x="72" y="22"/>
                  <a:pt x="71" y="21"/>
                </a:cubicBezTo>
                <a:cubicBezTo>
                  <a:pt x="71" y="21"/>
                  <a:pt x="71" y="21"/>
                  <a:pt x="71" y="21"/>
                </a:cubicBezTo>
                <a:cubicBezTo>
                  <a:pt x="70" y="21"/>
                  <a:pt x="69" y="21"/>
                  <a:pt x="69" y="21"/>
                </a:cubicBezTo>
                <a:cubicBezTo>
                  <a:pt x="70" y="20"/>
                  <a:pt x="70" y="20"/>
                  <a:pt x="71" y="19"/>
                </a:cubicBezTo>
                <a:cubicBezTo>
                  <a:pt x="71" y="19"/>
                  <a:pt x="72" y="19"/>
                  <a:pt x="72" y="18"/>
                </a:cubicBezTo>
                <a:cubicBezTo>
                  <a:pt x="71" y="18"/>
                  <a:pt x="71" y="18"/>
                  <a:pt x="70" y="18"/>
                </a:cubicBezTo>
                <a:cubicBezTo>
                  <a:pt x="70" y="19"/>
                  <a:pt x="69" y="19"/>
                  <a:pt x="69" y="19"/>
                </a:cubicBezTo>
                <a:cubicBezTo>
                  <a:pt x="68" y="19"/>
                  <a:pt x="67" y="19"/>
                  <a:pt x="67" y="19"/>
                </a:cubicBezTo>
                <a:cubicBezTo>
                  <a:pt x="66" y="20"/>
                  <a:pt x="67" y="19"/>
                  <a:pt x="67" y="20"/>
                </a:cubicBezTo>
                <a:cubicBezTo>
                  <a:pt x="67" y="20"/>
                  <a:pt x="67" y="20"/>
                  <a:pt x="66" y="20"/>
                </a:cubicBezTo>
                <a:cubicBezTo>
                  <a:pt x="66" y="20"/>
                  <a:pt x="66" y="19"/>
                  <a:pt x="66" y="19"/>
                </a:cubicBezTo>
                <a:cubicBezTo>
                  <a:pt x="66" y="19"/>
                  <a:pt x="65" y="19"/>
                  <a:pt x="64" y="19"/>
                </a:cubicBezTo>
                <a:cubicBezTo>
                  <a:pt x="64" y="19"/>
                  <a:pt x="64" y="19"/>
                  <a:pt x="63" y="20"/>
                </a:cubicBezTo>
                <a:cubicBezTo>
                  <a:pt x="64" y="20"/>
                  <a:pt x="65" y="20"/>
                  <a:pt x="65" y="20"/>
                </a:cubicBezTo>
                <a:cubicBezTo>
                  <a:pt x="65" y="21"/>
                  <a:pt x="64" y="21"/>
                  <a:pt x="64" y="22"/>
                </a:cubicBezTo>
                <a:cubicBezTo>
                  <a:pt x="64" y="22"/>
                  <a:pt x="65" y="23"/>
                  <a:pt x="65" y="23"/>
                </a:cubicBezTo>
                <a:cubicBezTo>
                  <a:pt x="65" y="23"/>
                  <a:pt x="65" y="23"/>
                  <a:pt x="66" y="23"/>
                </a:cubicBezTo>
                <a:cubicBezTo>
                  <a:pt x="66" y="23"/>
                  <a:pt x="66" y="23"/>
                  <a:pt x="66" y="23"/>
                </a:cubicBezTo>
                <a:cubicBezTo>
                  <a:pt x="67" y="23"/>
                  <a:pt x="67" y="22"/>
                  <a:pt x="67" y="22"/>
                </a:cubicBezTo>
                <a:cubicBezTo>
                  <a:pt x="68" y="23"/>
                  <a:pt x="67" y="23"/>
                  <a:pt x="66" y="23"/>
                </a:cubicBezTo>
                <a:cubicBezTo>
                  <a:pt x="65" y="24"/>
                  <a:pt x="64" y="24"/>
                  <a:pt x="64" y="24"/>
                </a:cubicBezTo>
                <a:cubicBezTo>
                  <a:pt x="64" y="24"/>
                  <a:pt x="62" y="25"/>
                  <a:pt x="62" y="25"/>
                </a:cubicBezTo>
                <a:cubicBezTo>
                  <a:pt x="62" y="24"/>
                  <a:pt x="63" y="24"/>
                  <a:pt x="63" y="24"/>
                </a:cubicBezTo>
                <a:cubicBezTo>
                  <a:pt x="62" y="23"/>
                  <a:pt x="61" y="24"/>
                  <a:pt x="61" y="24"/>
                </a:cubicBezTo>
                <a:cubicBezTo>
                  <a:pt x="60" y="24"/>
                  <a:pt x="58" y="25"/>
                  <a:pt x="58" y="26"/>
                </a:cubicBezTo>
                <a:cubicBezTo>
                  <a:pt x="58" y="26"/>
                  <a:pt x="58" y="26"/>
                  <a:pt x="58" y="27"/>
                </a:cubicBezTo>
                <a:cubicBezTo>
                  <a:pt x="58" y="27"/>
                  <a:pt x="57" y="27"/>
                  <a:pt x="57" y="27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5" y="27"/>
                  <a:pt x="55" y="27"/>
                </a:cubicBezTo>
                <a:cubicBezTo>
                  <a:pt x="55" y="28"/>
                  <a:pt x="55" y="28"/>
                  <a:pt x="54" y="28"/>
                </a:cubicBezTo>
                <a:cubicBezTo>
                  <a:pt x="54" y="29"/>
                  <a:pt x="54" y="29"/>
                  <a:pt x="53" y="29"/>
                </a:cubicBezTo>
                <a:cubicBezTo>
                  <a:pt x="53" y="29"/>
                  <a:pt x="53" y="30"/>
                  <a:pt x="53" y="30"/>
                </a:cubicBezTo>
                <a:cubicBezTo>
                  <a:pt x="52" y="30"/>
                  <a:pt x="52" y="30"/>
                  <a:pt x="52" y="30"/>
                </a:cubicBezTo>
                <a:cubicBezTo>
                  <a:pt x="52" y="30"/>
                  <a:pt x="52" y="31"/>
                  <a:pt x="52" y="32"/>
                </a:cubicBezTo>
                <a:cubicBezTo>
                  <a:pt x="51" y="32"/>
                  <a:pt x="51" y="33"/>
                  <a:pt x="50" y="33"/>
                </a:cubicBezTo>
                <a:cubicBezTo>
                  <a:pt x="50" y="33"/>
                  <a:pt x="49" y="33"/>
                  <a:pt x="49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7" y="34"/>
                  <a:pt x="47" y="35"/>
                  <a:pt x="47" y="35"/>
                </a:cubicBezTo>
                <a:cubicBezTo>
                  <a:pt x="47" y="55"/>
                  <a:pt x="47" y="55"/>
                  <a:pt x="47" y="55"/>
                </a:cubicBezTo>
                <a:cubicBezTo>
                  <a:pt x="47" y="55"/>
                  <a:pt x="47" y="55"/>
                  <a:pt x="48" y="55"/>
                </a:cubicBezTo>
                <a:cubicBezTo>
                  <a:pt x="48" y="54"/>
                  <a:pt x="48" y="54"/>
                  <a:pt x="48" y="54"/>
                </a:cubicBezTo>
                <a:cubicBezTo>
                  <a:pt x="49" y="53"/>
                  <a:pt x="49" y="53"/>
                  <a:pt x="50" y="53"/>
                </a:cubicBezTo>
                <a:cubicBezTo>
                  <a:pt x="50" y="53"/>
                  <a:pt x="50" y="53"/>
                  <a:pt x="51" y="53"/>
                </a:cubicBezTo>
                <a:cubicBezTo>
                  <a:pt x="51" y="53"/>
                  <a:pt x="51" y="52"/>
                  <a:pt x="51" y="52"/>
                </a:cubicBezTo>
                <a:cubicBezTo>
                  <a:pt x="52" y="53"/>
                  <a:pt x="51" y="53"/>
                  <a:pt x="51" y="53"/>
                </a:cubicBezTo>
                <a:cubicBezTo>
                  <a:pt x="52" y="54"/>
                  <a:pt x="52" y="53"/>
                  <a:pt x="53" y="53"/>
                </a:cubicBezTo>
                <a:cubicBezTo>
                  <a:pt x="53" y="53"/>
                  <a:pt x="53" y="53"/>
                  <a:pt x="54" y="53"/>
                </a:cubicBezTo>
                <a:cubicBezTo>
                  <a:pt x="54" y="53"/>
                  <a:pt x="54" y="54"/>
                  <a:pt x="55" y="54"/>
                </a:cubicBezTo>
                <a:cubicBezTo>
                  <a:pt x="55" y="54"/>
                  <a:pt x="55" y="54"/>
                  <a:pt x="56" y="54"/>
                </a:cubicBezTo>
                <a:cubicBezTo>
                  <a:pt x="56" y="54"/>
                  <a:pt x="56" y="54"/>
                  <a:pt x="57" y="54"/>
                </a:cubicBezTo>
                <a:cubicBezTo>
                  <a:pt x="57" y="54"/>
                  <a:pt x="58" y="54"/>
                  <a:pt x="58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60" y="54"/>
                  <a:pt x="60" y="54"/>
                  <a:pt x="60" y="54"/>
                </a:cubicBezTo>
                <a:cubicBezTo>
                  <a:pt x="60" y="55"/>
                  <a:pt x="60" y="55"/>
                  <a:pt x="60" y="55"/>
                </a:cubicBezTo>
                <a:cubicBezTo>
                  <a:pt x="61" y="55"/>
                  <a:pt x="61" y="55"/>
                  <a:pt x="61" y="56"/>
                </a:cubicBezTo>
                <a:cubicBezTo>
                  <a:pt x="61" y="56"/>
                  <a:pt x="61" y="56"/>
                  <a:pt x="62" y="56"/>
                </a:cubicBezTo>
                <a:cubicBezTo>
                  <a:pt x="62" y="56"/>
                  <a:pt x="62" y="57"/>
                  <a:pt x="63" y="57"/>
                </a:cubicBezTo>
                <a:cubicBezTo>
                  <a:pt x="63" y="58"/>
                  <a:pt x="64" y="58"/>
                  <a:pt x="64" y="58"/>
                </a:cubicBezTo>
                <a:cubicBezTo>
                  <a:pt x="65" y="58"/>
                  <a:pt x="65" y="58"/>
                  <a:pt x="66" y="58"/>
                </a:cubicBezTo>
                <a:cubicBezTo>
                  <a:pt x="67" y="58"/>
                  <a:pt x="67" y="59"/>
                  <a:pt x="68" y="59"/>
                </a:cubicBezTo>
                <a:cubicBezTo>
                  <a:pt x="68" y="59"/>
                  <a:pt x="69" y="60"/>
                  <a:pt x="69" y="60"/>
                </a:cubicBezTo>
                <a:cubicBezTo>
                  <a:pt x="69" y="60"/>
                  <a:pt x="69" y="61"/>
                  <a:pt x="69" y="61"/>
                </a:cubicBezTo>
                <a:cubicBezTo>
                  <a:pt x="69" y="61"/>
                  <a:pt x="70" y="62"/>
                  <a:pt x="70" y="63"/>
                </a:cubicBezTo>
                <a:cubicBezTo>
                  <a:pt x="70" y="63"/>
                  <a:pt x="70" y="63"/>
                  <a:pt x="71" y="63"/>
                </a:cubicBezTo>
                <a:cubicBezTo>
                  <a:pt x="71" y="63"/>
                  <a:pt x="71" y="64"/>
                  <a:pt x="71" y="64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4"/>
                  <a:pt x="73" y="64"/>
                  <a:pt x="73" y="64"/>
                </a:cubicBezTo>
                <a:cubicBezTo>
                  <a:pt x="74" y="64"/>
                  <a:pt x="74" y="64"/>
                  <a:pt x="74" y="65"/>
                </a:cubicBezTo>
                <a:cubicBezTo>
                  <a:pt x="74" y="65"/>
                  <a:pt x="74" y="65"/>
                  <a:pt x="75" y="65"/>
                </a:cubicBezTo>
                <a:cubicBezTo>
                  <a:pt x="75" y="66"/>
                  <a:pt x="75" y="65"/>
                  <a:pt x="76" y="65"/>
                </a:cubicBezTo>
                <a:cubicBezTo>
                  <a:pt x="76" y="65"/>
                  <a:pt x="77" y="66"/>
                  <a:pt x="77" y="66"/>
                </a:cubicBezTo>
                <a:cubicBezTo>
                  <a:pt x="78" y="66"/>
                  <a:pt x="78" y="66"/>
                  <a:pt x="78" y="66"/>
                </a:cubicBezTo>
                <a:cubicBezTo>
                  <a:pt x="79" y="66"/>
                  <a:pt x="79" y="66"/>
                  <a:pt x="80" y="67"/>
                </a:cubicBezTo>
                <a:cubicBezTo>
                  <a:pt x="74" y="76"/>
                  <a:pt x="65" y="83"/>
                  <a:pt x="54" y="85"/>
                </a:cubicBezTo>
                <a:cubicBezTo>
                  <a:pt x="54" y="85"/>
                  <a:pt x="54" y="84"/>
                  <a:pt x="54" y="84"/>
                </a:cubicBezTo>
                <a:cubicBezTo>
                  <a:pt x="54" y="83"/>
                  <a:pt x="54" y="82"/>
                  <a:pt x="54" y="82"/>
                </a:cubicBezTo>
                <a:cubicBezTo>
                  <a:pt x="53" y="81"/>
                  <a:pt x="53" y="80"/>
                  <a:pt x="53" y="80"/>
                </a:cubicBezTo>
                <a:cubicBezTo>
                  <a:pt x="53" y="79"/>
                  <a:pt x="52" y="78"/>
                  <a:pt x="51" y="78"/>
                </a:cubicBezTo>
                <a:cubicBezTo>
                  <a:pt x="51" y="78"/>
                  <a:pt x="51" y="78"/>
                  <a:pt x="50" y="78"/>
                </a:cubicBezTo>
                <a:cubicBezTo>
                  <a:pt x="49" y="77"/>
                  <a:pt x="48" y="77"/>
                  <a:pt x="48" y="76"/>
                </a:cubicBezTo>
                <a:cubicBezTo>
                  <a:pt x="47" y="76"/>
                  <a:pt x="47" y="75"/>
                  <a:pt x="47" y="75"/>
                </a:cubicBezTo>
                <a:cubicBezTo>
                  <a:pt x="47" y="75"/>
                  <a:pt x="47" y="75"/>
                  <a:pt x="47" y="74"/>
                </a:cubicBezTo>
                <a:lnTo>
                  <a:pt x="47" y="89"/>
                </a:lnTo>
                <a:close/>
                <a:moveTo>
                  <a:pt x="0" y="36"/>
                </a:moveTo>
                <a:cubicBezTo>
                  <a:pt x="0" y="36"/>
                  <a:pt x="0" y="37"/>
                  <a:pt x="0" y="38"/>
                </a:cubicBezTo>
                <a:cubicBezTo>
                  <a:pt x="0" y="38"/>
                  <a:pt x="0" y="39"/>
                  <a:pt x="0" y="40"/>
                </a:cubicBezTo>
                <a:cubicBezTo>
                  <a:pt x="0" y="41"/>
                  <a:pt x="0" y="43"/>
                  <a:pt x="0" y="44"/>
                </a:cubicBezTo>
                <a:cubicBezTo>
                  <a:pt x="0" y="46"/>
                  <a:pt x="0" y="47"/>
                  <a:pt x="0" y="49"/>
                </a:cubicBezTo>
                <a:cubicBezTo>
                  <a:pt x="0" y="50"/>
                  <a:pt x="0" y="50"/>
                  <a:pt x="0" y="51"/>
                </a:cubicBezTo>
                <a:cubicBezTo>
                  <a:pt x="0" y="52"/>
                  <a:pt x="0" y="53"/>
                  <a:pt x="0" y="53"/>
                </a:cubicBezTo>
                <a:cubicBezTo>
                  <a:pt x="1" y="54"/>
                  <a:pt x="1" y="55"/>
                  <a:pt x="1" y="56"/>
                </a:cubicBezTo>
                <a:cubicBezTo>
                  <a:pt x="1" y="57"/>
                  <a:pt x="2" y="58"/>
                  <a:pt x="2" y="60"/>
                </a:cubicBezTo>
                <a:cubicBezTo>
                  <a:pt x="2" y="60"/>
                  <a:pt x="3" y="61"/>
                  <a:pt x="3" y="62"/>
                </a:cubicBezTo>
                <a:cubicBezTo>
                  <a:pt x="3" y="62"/>
                  <a:pt x="4" y="63"/>
                  <a:pt x="4" y="64"/>
                </a:cubicBezTo>
                <a:cubicBezTo>
                  <a:pt x="4" y="64"/>
                  <a:pt x="4" y="64"/>
                  <a:pt x="4" y="65"/>
                </a:cubicBezTo>
                <a:cubicBezTo>
                  <a:pt x="5" y="65"/>
                  <a:pt x="5" y="66"/>
                  <a:pt x="5" y="67"/>
                </a:cubicBezTo>
                <a:cubicBezTo>
                  <a:pt x="6" y="68"/>
                  <a:pt x="8" y="70"/>
                  <a:pt x="9" y="72"/>
                </a:cubicBezTo>
                <a:cubicBezTo>
                  <a:pt x="10" y="73"/>
                  <a:pt x="10" y="73"/>
                  <a:pt x="11" y="74"/>
                </a:cubicBezTo>
                <a:cubicBezTo>
                  <a:pt x="12" y="75"/>
                  <a:pt x="12" y="75"/>
                  <a:pt x="13" y="76"/>
                </a:cubicBezTo>
                <a:cubicBezTo>
                  <a:pt x="13" y="76"/>
                  <a:pt x="14" y="77"/>
                  <a:pt x="14" y="77"/>
                </a:cubicBezTo>
                <a:cubicBezTo>
                  <a:pt x="16" y="79"/>
                  <a:pt x="19" y="81"/>
                  <a:pt x="22" y="83"/>
                </a:cubicBezTo>
                <a:cubicBezTo>
                  <a:pt x="22" y="83"/>
                  <a:pt x="23" y="84"/>
                  <a:pt x="24" y="84"/>
                </a:cubicBezTo>
                <a:cubicBezTo>
                  <a:pt x="25" y="85"/>
                  <a:pt x="26" y="85"/>
                  <a:pt x="28" y="86"/>
                </a:cubicBezTo>
                <a:cubicBezTo>
                  <a:pt x="28" y="86"/>
                  <a:pt x="29" y="86"/>
                  <a:pt x="30" y="86"/>
                </a:cubicBezTo>
                <a:cubicBezTo>
                  <a:pt x="34" y="88"/>
                  <a:pt x="39" y="89"/>
                  <a:pt x="44" y="89"/>
                </a:cubicBezTo>
                <a:cubicBezTo>
                  <a:pt x="45" y="89"/>
                  <a:pt x="46" y="89"/>
                  <a:pt x="47" y="89"/>
                </a:cubicBezTo>
                <a:cubicBezTo>
                  <a:pt x="47" y="74"/>
                  <a:pt x="47" y="74"/>
                  <a:pt x="47" y="74"/>
                </a:cubicBezTo>
                <a:cubicBezTo>
                  <a:pt x="47" y="74"/>
                  <a:pt x="47" y="74"/>
                  <a:pt x="46" y="74"/>
                </a:cubicBezTo>
                <a:cubicBezTo>
                  <a:pt x="46" y="73"/>
                  <a:pt x="45" y="72"/>
                  <a:pt x="45" y="71"/>
                </a:cubicBezTo>
                <a:cubicBezTo>
                  <a:pt x="44" y="70"/>
                  <a:pt x="44" y="70"/>
                  <a:pt x="44" y="69"/>
                </a:cubicBezTo>
                <a:cubicBezTo>
                  <a:pt x="44" y="69"/>
                  <a:pt x="43" y="69"/>
                  <a:pt x="43" y="69"/>
                </a:cubicBezTo>
                <a:cubicBezTo>
                  <a:pt x="43" y="68"/>
                  <a:pt x="43" y="68"/>
                  <a:pt x="43" y="67"/>
                </a:cubicBezTo>
                <a:cubicBezTo>
                  <a:pt x="43" y="67"/>
                  <a:pt x="44" y="66"/>
                  <a:pt x="44" y="66"/>
                </a:cubicBezTo>
                <a:cubicBezTo>
                  <a:pt x="44" y="66"/>
                  <a:pt x="43" y="65"/>
                  <a:pt x="43" y="65"/>
                </a:cubicBezTo>
                <a:cubicBezTo>
                  <a:pt x="43" y="64"/>
                  <a:pt x="43" y="64"/>
                  <a:pt x="43" y="63"/>
                </a:cubicBezTo>
                <a:cubicBezTo>
                  <a:pt x="43" y="63"/>
                  <a:pt x="44" y="63"/>
                  <a:pt x="44" y="63"/>
                </a:cubicBezTo>
                <a:cubicBezTo>
                  <a:pt x="44" y="62"/>
                  <a:pt x="44" y="62"/>
                  <a:pt x="44" y="62"/>
                </a:cubicBezTo>
                <a:cubicBezTo>
                  <a:pt x="45" y="62"/>
                  <a:pt x="45" y="62"/>
                  <a:pt x="45" y="61"/>
                </a:cubicBezTo>
                <a:cubicBezTo>
                  <a:pt x="45" y="61"/>
                  <a:pt x="46" y="61"/>
                  <a:pt x="46" y="60"/>
                </a:cubicBezTo>
                <a:cubicBezTo>
                  <a:pt x="46" y="60"/>
                  <a:pt x="46" y="58"/>
                  <a:pt x="46" y="58"/>
                </a:cubicBezTo>
                <a:cubicBezTo>
                  <a:pt x="46" y="57"/>
                  <a:pt x="46" y="57"/>
                  <a:pt x="45" y="57"/>
                </a:cubicBezTo>
                <a:cubicBezTo>
                  <a:pt x="45" y="56"/>
                  <a:pt x="45" y="55"/>
                  <a:pt x="45" y="55"/>
                </a:cubicBezTo>
                <a:cubicBezTo>
                  <a:pt x="44" y="55"/>
                  <a:pt x="44" y="56"/>
                  <a:pt x="44" y="56"/>
                </a:cubicBezTo>
                <a:cubicBezTo>
                  <a:pt x="44" y="56"/>
                  <a:pt x="44" y="57"/>
                  <a:pt x="43" y="57"/>
                </a:cubicBezTo>
                <a:cubicBezTo>
                  <a:pt x="43" y="57"/>
                  <a:pt x="43" y="56"/>
                  <a:pt x="42" y="56"/>
                </a:cubicBezTo>
                <a:cubicBezTo>
                  <a:pt x="42" y="56"/>
                  <a:pt x="41" y="56"/>
                  <a:pt x="41" y="56"/>
                </a:cubicBezTo>
                <a:cubicBezTo>
                  <a:pt x="41" y="56"/>
                  <a:pt x="41" y="55"/>
                  <a:pt x="40" y="55"/>
                </a:cubicBezTo>
                <a:cubicBezTo>
                  <a:pt x="40" y="55"/>
                  <a:pt x="39" y="55"/>
                  <a:pt x="39" y="54"/>
                </a:cubicBezTo>
                <a:cubicBezTo>
                  <a:pt x="39" y="54"/>
                  <a:pt x="39" y="54"/>
                  <a:pt x="39" y="53"/>
                </a:cubicBezTo>
                <a:cubicBezTo>
                  <a:pt x="38" y="53"/>
                  <a:pt x="38" y="52"/>
                  <a:pt x="37" y="52"/>
                </a:cubicBezTo>
                <a:cubicBezTo>
                  <a:pt x="37" y="51"/>
                  <a:pt x="36" y="52"/>
                  <a:pt x="36" y="51"/>
                </a:cubicBezTo>
                <a:cubicBezTo>
                  <a:pt x="36" y="51"/>
                  <a:pt x="35" y="51"/>
                  <a:pt x="35" y="51"/>
                </a:cubicBezTo>
                <a:cubicBezTo>
                  <a:pt x="35" y="51"/>
                  <a:pt x="35" y="51"/>
                  <a:pt x="34" y="51"/>
                </a:cubicBezTo>
                <a:cubicBezTo>
                  <a:pt x="33" y="50"/>
                  <a:pt x="33" y="49"/>
                  <a:pt x="32" y="49"/>
                </a:cubicBezTo>
                <a:cubicBezTo>
                  <a:pt x="31" y="49"/>
                  <a:pt x="31" y="49"/>
                  <a:pt x="30" y="49"/>
                </a:cubicBezTo>
                <a:cubicBezTo>
                  <a:pt x="30" y="49"/>
                  <a:pt x="29" y="49"/>
                  <a:pt x="29" y="49"/>
                </a:cubicBezTo>
                <a:cubicBezTo>
                  <a:pt x="28" y="49"/>
                  <a:pt x="27" y="48"/>
                  <a:pt x="27" y="48"/>
                </a:cubicBezTo>
                <a:cubicBezTo>
                  <a:pt x="26" y="48"/>
                  <a:pt x="26" y="48"/>
                  <a:pt x="26" y="47"/>
                </a:cubicBezTo>
                <a:cubicBezTo>
                  <a:pt x="26" y="47"/>
                  <a:pt x="25" y="47"/>
                  <a:pt x="25" y="47"/>
                </a:cubicBezTo>
                <a:cubicBezTo>
                  <a:pt x="25" y="47"/>
                  <a:pt x="24" y="47"/>
                  <a:pt x="24" y="46"/>
                </a:cubicBezTo>
                <a:cubicBezTo>
                  <a:pt x="24" y="46"/>
                  <a:pt x="23" y="46"/>
                  <a:pt x="23" y="46"/>
                </a:cubicBezTo>
                <a:cubicBezTo>
                  <a:pt x="23" y="45"/>
                  <a:pt x="24" y="45"/>
                  <a:pt x="24" y="44"/>
                </a:cubicBezTo>
                <a:cubicBezTo>
                  <a:pt x="24" y="43"/>
                  <a:pt x="23" y="43"/>
                  <a:pt x="22" y="42"/>
                </a:cubicBezTo>
                <a:cubicBezTo>
                  <a:pt x="22" y="41"/>
                  <a:pt x="22" y="41"/>
                  <a:pt x="21" y="40"/>
                </a:cubicBezTo>
                <a:cubicBezTo>
                  <a:pt x="21" y="40"/>
                  <a:pt x="21" y="40"/>
                  <a:pt x="21" y="40"/>
                </a:cubicBezTo>
                <a:cubicBezTo>
                  <a:pt x="21" y="40"/>
                  <a:pt x="21" y="39"/>
                  <a:pt x="20" y="39"/>
                </a:cubicBezTo>
                <a:cubicBezTo>
                  <a:pt x="20" y="38"/>
                  <a:pt x="19" y="38"/>
                  <a:pt x="19" y="37"/>
                </a:cubicBezTo>
                <a:cubicBezTo>
                  <a:pt x="19" y="37"/>
                  <a:pt x="20" y="36"/>
                  <a:pt x="19" y="36"/>
                </a:cubicBezTo>
                <a:cubicBezTo>
                  <a:pt x="19" y="35"/>
                  <a:pt x="18" y="35"/>
                  <a:pt x="18" y="37"/>
                </a:cubicBezTo>
                <a:cubicBezTo>
                  <a:pt x="18" y="37"/>
                  <a:pt x="18" y="37"/>
                  <a:pt x="19" y="38"/>
                </a:cubicBezTo>
                <a:cubicBezTo>
                  <a:pt x="19" y="38"/>
                  <a:pt x="19" y="38"/>
                  <a:pt x="19" y="39"/>
                </a:cubicBezTo>
                <a:cubicBezTo>
                  <a:pt x="19" y="39"/>
                  <a:pt x="19" y="39"/>
                  <a:pt x="19" y="40"/>
                </a:cubicBezTo>
                <a:cubicBezTo>
                  <a:pt x="20" y="40"/>
                  <a:pt x="20" y="41"/>
                  <a:pt x="20" y="42"/>
                </a:cubicBezTo>
                <a:cubicBezTo>
                  <a:pt x="20" y="42"/>
                  <a:pt x="21" y="42"/>
                  <a:pt x="20" y="43"/>
                </a:cubicBezTo>
                <a:cubicBezTo>
                  <a:pt x="20" y="43"/>
                  <a:pt x="20" y="42"/>
                  <a:pt x="19" y="42"/>
                </a:cubicBezTo>
                <a:cubicBezTo>
                  <a:pt x="19" y="42"/>
                  <a:pt x="19" y="42"/>
                  <a:pt x="19" y="41"/>
                </a:cubicBezTo>
                <a:cubicBezTo>
                  <a:pt x="18" y="41"/>
                  <a:pt x="19" y="41"/>
                  <a:pt x="19" y="40"/>
                </a:cubicBezTo>
                <a:cubicBezTo>
                  <a:pt x="18" y="40"/>
                  <a:pt x="17" y="40"/>
                  <a:pt x="17" y="39"/>
                </a:cubicBezTo>
                <a:cubicBezTo>
                  <a:pt x="17" y="39"/>
                  <a:pt x="18" y="38"/>
                  <a:pt x="18" y="38"/>
                </a:cubicBezTo>
                <a:cubicBezTo>
                  <a:pt x="18" y="38"/>
                  <a:pt x="17" y="37"/>
                  <a:pt x="17" y="37"/>
                </a:cubicBezTo>
                <a:cubicBezTo>
                  <a:pt x="17" y="36"/>
                  <a:pt x="17" y="36"/>
                  <a:pt x="17" y="35"/>
                </a:cubicBezTo>
                <a:cubicBezTo>
                  <a:pt x="17" y="35"/>
                  <a:pt x="17" y="34"/>
                  <a:pt x="17" y="34"/>
                </a:cubicBezTo>
                <a:cubicBezTo>
                  <a:pt x="17" y="34"/>
                  <a:pt x="16" y="33"/>
                  <a:pt x="16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2"/>
                  <a:pt x="14" y="32"/>
                  <a:pt x="14" y="31"/>
                </a:cubicBezTo>
                <a:cubicBezTo>
                  <a:pt x="14" y="31"/>
                  <a:pt x="14" y="30"/>
                  <a:pt x="14" y="30"/>
                </a:cubicBezTo>
                <a:cubicBezTo>
                  <a:pt x="14" y="29"/>
                  <a:pt x="14" y="28"/>
                  <a:pt x="14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6"/>
                  <a:pt x="16" y="26"/>
                  <a:pt x="16" y="26"/>
                </a:cubicBezTo>
                <a:cubicBezTo>
                  <a:pt x="16" y="25"/>
                  <a:pt x="17" y="24"/>
                  <a:pt x="17" y="24"/>
                </a:cubicBezTo>
                <a:cubicBezTo>
                  <a:pt x="18" y="23"/>
                  <a:pt x="18" y="22"/>
                  <a:pt x="19" y="22"/>
                </a:cubicBezTo>
                <a:cubicBezTo>
                  <a:pt x="19" y="21"/>
                  <a:pt x="19" y="21"/>
                  <a:pt x="19" y="20"/>
                </a:cubicBezTo>
                <a:cubicBezTo>
                  <a:pt x="19" y="20"/>
                  <a:pt x="18" y="20"/>
                  <a:pt x="18" y="19"/>
                </a:cubicBezTo>
                <a:cubicBezTo>
                  <a:pt x="18" y="19"/>
                  <a:pt x="19" y="19"/>
                  <a:pt x="19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7"/>
                  <a:pt x="19" y="17"/>
                  <a:pt x="19" y="16"/>
                </a:cubicBezTo>
                <a:cubicBezTo>
                  <a:pt x="19" y="16"/>
                  <a:pt x="20" y="16"/>
                  <a:pt x="19" y="15"/>
                </a:cubicBezTo>
                <a:cubicBezTo>
                  <a:pt x="19" y="15"/>
                  <a:pt x="18" y="15"/>
                  <a:pt x="18" y="15"/>
                </a:cubicBezTo>
                <a:cubicBezTo>
                  <a:pt x="18" y="15"/>
                  <a:pt x="18" y="14"/>
                  <a:pt x="18" y="14"/>
                </a:cubicBezTo>
                <a:cubicBezTo>
                  <a:pt x="18" y="14"/>
                  <a:pt x="18" y="14"/>
                  <a:pt x="18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8" y="12"/>
                  <a:pt x="18" y="12"/>
                  <a:pt x="18" y="12"/>
                </a:cubicBezTo>
                <a:cubicBezTo>
                  <a:pt x="23" y="7"/>
                  <a:pt x="29" y="4"/>
                  <a:pt x="36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3"/>
                  <a:pt x="37" y="3"/>
                  <a:pt x="37" y="4"/>
                </a:cubicBezTo>
                <a:cubicBezTo>
                  <a:pt x="37" y="3"/>
                  <a:pt x="38" y="4"/>
                  <a:pt x="38" y="4"/>
                </a:cubicBezTo>
                <a:cubicBezTo>
                  <a:pt x="38" y="4"/>
                  <a:pt x="39" y="3"/>
                  <a:pt x="39" y="3"/>
                </a:cubicBezTo>
                <a:cubicBezTo>
                  <a:pt x="40" y="4"/>
                  <a:pt x="41" y="4"/>
                  <a:pt x="42" y="4"/>
                </a:cubicBezTo>
                <a:cubicBezTo>
                  <a:pt x="42" y="4"/>
                  <a:pt x="42" y="4"/>
                  <a:pt x="42" y="3"/>
                </a:cubicBezTo>
                <a:cubicBezTo>
                  <a:pt x="43" y="3"/>
                  <a:pt x="43" y="3"/>
                  <a:pt x="43" y="2"/>
                </a:cubicBezTo>
                <a:cubicBezTo>
                  <a:pt x="43" y="2"/>
                  <a:pt x="44" y="2"/>
                  <a:pt x="44" y="2"/>
                </a:cubicBezTo>
                <a:cubicBezTo>
                  <a:pt x="45" y="2"/>
                  <a:pt x="46" y="3"/>
                  <a:pt x="47" y="3"/>
                </a:cubicBezTo>
                <a:cubicBezTo>
                  <a:pt x="47" y="0"/>
                  <a:pt x="47" y="0"/>
                  <a:pt x="47" y="0"/>
                </a:cubicBezTo>
                <a:cubicBezTo>
                  <a:pt x="46" y="0"/>
                  <a:pt x="45" y="0"/>
                  <a:pt x="45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38" y="0"/>
                  <a:pt x="34" y="1"/>
                  <a:pt x="30" y="2"/>
                </a:cubicBezTo>
                <a:cubicBezTo>
                  <a:pt x="29" y="3"/>
                  <a:pt x="28" y="3"/>
                  <a:pt x="28" y="3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4"/>
                  <a:pt x="26" y="4"/>
                  <a:pt x="26" y="4"/>
                </a:cubicBezTo>
                <a:cubicBezTo>
                  <a:pt x="25" y="4"/>
                  <a:pt x="24" y="5"/>
                  <a:pt x="24" y="5"/>
                </a:cubicBezTo>
                <a:cubicBezTo>
                  <a:pt x="23" y="5"/>
                  <a:pt x="22" y="6"/>
                  <a:pt x="22" y="6"/>
                </a:cubicBezTo>
                <a:cubicBezTo>
                  <a:pt x="19" y="7"/>
                  <a:pt x="17" y="9"/>
                  <a:pt x="15" y="11"/>
                </a:cubicBezTo>
                <a:cubicBezTo>
                  <a:pt x="15" y="11"/>
                  <a:pt x="14" y="11"/>
                  <a:pt x="14" y="12"/>
                </a:cubicBezTo>
                <a:cubicBezTo>
                  <a:pt x="14" y="12"/>
                  <a:pt x="13" y="13"/>
                  <a:pt x="13" y="13"/>
                </a:cubicBezTo>
                <a:cubicBezTo>
                  <a:pt x="12" y="14"/>
                  <a:pt x="12" y="14"/>
                  <a:pt x="11" y="15"/>
                </a:cubicBezTo>
                <a:cubicBezTo>
                  <a:pt x="10" y="15"/>
                  <a:pt x="10" y="16"/>
                  <a:pt x="9" y="17"/>
                </a:cubicBezTo>
                <a:cubicBezTo>
                  <a:pt x="8" y="19"/>
                  <a:pt x="6" y="21"/>
                  <a:pt x="5" y="22"/>
                </a:cubicBezTo>
                <a:cubicBezTo>
                  <a:pt x="5" y="23"/>
                  <a:pt x="5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3" y="26"/>
                  <a:pt x="3" y="27"/>
                  <a:pt x="3" y="28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31"/>
                  <a:pt x="1" y="32"/>
                  <a:pt x="1" y="33"/>
                </a:cubicBezTo>
                <a:cubicBezTo>
                  <a:pt x="1" y="34"/>
                  <a:pt x="1" y="35"/>
                  <a:pt x="0" y="36"/>
                </a:cubicBezTo>
                <a:close/>
                <a:moveTo>
                  <a:pt x="47" y="35"/>
                </a:moveTo>
                <a:cubicBezTo>
                  <a:pt x="47" y="55"/>
                  <a:pt x="47" y="55"/>
                  <a:pt x="47" y="55"/>
                </a:cubicBezTo>
                <a:cubicBezTo>
                  <a:pt x="47" y="56"/>
                  <a:pt x="47" y="56"/>
                  <a:pt x="47" y="56"/>
                </a:cubicBezTo>
                <a:cubicBezTo>
                  <a:pt x="46" y="56"/>
                  <a:pt x="46" y="55"/>
                  <a:pt x="45" y="55"/>
                </a:cubicBezTo>
                <a:cubicBezTo>
                  <a:pt x="44" y="55"/>
                  <a:pt x="44" y="55"/>
                  <a:pt x="43" y="55"/>
                </a:cubicBezTo>
                <a:cubicBezTo>
                  <a:pt x="42" y="55"/>
                  <a:pt x="41" y="54"/>
                  <a:pt x="41" y="53"/>
                </a:cubicBezTo>
                <a:cubicBezTo>
                  <a:pt x="41" y="53"/>
                  <a:pt x="41" y="52"/>
                  <a:pt x="41" y="51"/>
                </a:cubicBezTo>
                <a:cubicBezTo>
                  <a:pt x="41" y="51"/>
                  <a:pt x="42" y="51"/>
                  <a:pt x="42" y="50"/>
                </a:cubicBezTo>
                <a:cubicBezTo>
                  <a:pt x="42" y="50"/>
                  <a:pt x="41" y="49"/>
                  <a:pt x="40" y="49"/>
                </a:cubicBezTo>
                <a:cubicBezTo>
                  <a:pt x="40" y="49"/>
                  <a:pt x="38" y="50"/>
                  <a:pt x="37" y="49"/>
                </a:cubicBezTo>
                <a:cubicBezTo>
                  <a:pt x="37" y="49"/>
                  <a:pt x="38" y="49"/>
                  <a:pt x="38" y="48"/>
                </a:cubicBezTo>
                <a:cubicBezTo>
                  <a:pt x="38" y="48"/>
                  <a:pt x="38" y="48"/>
                  <a:pt x="38" y="48"/>
                </a:cubicBezTo>
                <a:cubicBezTo>
                  <a:pt x="38" y="47"/>
                  <a:pt x="38" y="47"/>
                  <a:pt x="38" y="47"/>
                </a:cubicBezTo>
                <a:cubicBezTo>
                  <a:pt x="38" y="47"/>
                  <a:pt x="38" y="46"/>
                  <a:pt x="39" y="46"/>
                </a:cubicBezTo>
                <a:cubicBezTo>
                  <a:pt x="39" y="46"/>
                  <a:pt x="39" y="45"/>
                  <a:pt x="39" y="45"/>
                </a:cubicBezTo>
                <a:cubicBezTo>
                  <a:pt x="39" y="45"/>
                  <a:pt x="39" y="44"/>
                  <a:pt x="39" y="44"/>
                </a:cubicBezTo>
                <a:cubicBezTo>
                  <a:pt x="38" y="44"/>
                  <a:pt x="37" y="44"/>
                  <a:pt x="37" y="44"/>
                </a:cubicBezTo>
                <a:cubicBezTo>
                  <a:pt x="36" y="45"/>
                  <a:pt x="36" y="46"/>
                  <a:pt x="35" y="47"/>
                </a:cubicBezTo>
                <a:cubicBezTo>
                  <a:pt x="35" y="47"/>
                  <a:pt x="34" y="47"/>
                  <a:pt x="34" y="47"/>
                </a:cubicBezTo>
                <a:cubicBezTo>
                  <a:pt x="33" y="47"/>
                  <a:pt x="33" y="47"/>
                  <a:pt x="33" y="47"/>
                </a:cubicBezTo>
                <a:cubicBezTo>
                  <a:pt x="32" y="47"/>
                  <a:pt x="31" y="47"/>
                  <a:pt x="31" y="46"/>
                </a:cubicBezTo>
                <a:cubicBezTo>
                  <a:pt x="31" y="46"/>
                  <a:pt x="30" y="45"/>
                  <a:pt x="30" y="45"/>
                </a:cubicBezTo>
                <a:cubicBezTo>
                  <a:pt x="30" y="43"/>
                  <a:pt x="30" y="42"/>
                  <a:pt x="31" y="41"/>
                </a:cubicBezTo>
                <a:cubicBezTo>
                  <a:pt x="31" y="41"/>
                  <a:pt x="31" y="41"/>
                  <a:pt x="31" y="41"/>
                </a:cubicBezTo>
                <a:cubicBezTo>
                  <a:pt x="31" y="40"/>
                  <a:pt x="31" y="40"/>
                  <a:pt x="32" y="39"/>
                </a:cubicBezTo>
                <a:cubicBezTo>
                  <a:pt x="32" y="39"/>
                  <a:pt x="33" y="38"/>
                  <a:pt x="33" y="38"/>
                </a:cubicBezTo>
                <a:cubicBezTo>
                  <a:pt x="34" y="38"/>
                  <a:pt x="34" y="37"/>
                  <a:pt x="35" y="37"/>
                </a:cubicBezTo>
                <a:cubicBezTo>
                  <a:pt x="36" y="37"/>
                  <a:pt x="36" y="37"/>
                  <a:pt x="37" y="37"/>
                </a:cubicBezTo>
                <a:cubicBezTo>
                  <a:pt x="37" y="37"/>
                  <a:pt x="37" y="37"/>
                  <a:pt x="38" y="37"/>
                </a:cubicBezTo>
                <a:cubicBezTo>
                  <a:pt x="38" y="38"/>
                  <a:pt x="39" y="37"/>
                  <a:pt x="39" y="36"/>
                </a:cubicBezTo>
                <a:cubicBezTo>
                  <a:pt x="40" y="37"/>
                  <a:pt x="41" y="36"/>
                  <a:pt x="41" y="36"/>
                </a:cubicBezTo>
                <a:cubicBezTo>
                  <a:pt x="42" y="36"/>
                  <a:pt x="42" y="37"/>
                  <a:pt x="42" y="37"/>
                </a:cubicBezTo>
                <a:cubicBezTo>
                  <a:pt x="43" y="37"/>
                  <a:pt x="43" y="37"/>
                  <a:pt x="43" y="37"/>
                </a:cubicBezTo>
                <a:cubicBezTo>
                  <a:pt x="44" y="37"/>
                  <a:pt x="44" y="37"/>
                  <a:pt x="44" y="38"/>
                </a:cubicBezTo>
                <a:cubicBezTo>
                  <a:pt x="44" y="38"/>
                  <a:pt x="44" y="39"/>
                  <a:pt x="44" y="39"/>
                </a:cubicBezTo>
                <a:cubicBezTo>
                  <a:pt x="44" y="40"/>
                  <a:pt x="45" y="40"/>
                  <a:pt x="46" y="40"/>
                </a:cubicBezTo>
                <a:cubicBezTo>
                  <a:pt x="46" y="40"/>
                  <a:pt x="46" y="39"/>
                  <a:pt x="46" y="38"/>
                </a:cubicBezTo>
                <a:cubicBezTo>
                  <a:pt x="46" y="38"/>
                  <a:pt x="46" y="38"/>
                  <a:pt x="46" y="38"/>
                </a:cubicBezTo>
                <a:cubicBezTo>
                  <a:pt x="46" y="37"/>
                  <a:pt x="46" y="37"/>
                  <a:pt x="46" y="37"/>
                </a:cubicBezTo>
                <a:cubicBezTo>
                  <a:pt x="46" y="36"/>
                  <a:pt x="46" y="35"/>
                  <a:pt x="47" y="35"/>
                </a:cubicBezTo>
                <a:close/>
              </a:path>
            </a:pathLst>
          </a:custGeom>
          <a:solidFill>
            <a:srgbClr val="6C79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57" name="Group 36"/>
          <p:cNvGrpSpPr/>
          <p:nvPr/>
        </p:nvGrpSpPr>
        <p:grpSpPr>
          <a:xfrm>
            <a:off x="6712369" y="1885060"/>
            <a:ext cx="980579" cy="1697563"/>
            <a:chOff x="6452734" y="1251752"/>
            <a:chExt cx="980579" cy="1697563"/>
          </a:xfrm>
        </p:grpSpPr>
        <p:sp>
          <p:nvSpPr>
            <p:cNvPr id="58" name="Freeform 37"/>
            <p:cNvSpPr/>
            <p:nvPr/>
          </p:nvSpPr>
          <p:spPr bwMode="auto">
            <a:xfrm>
              <a:off x="6779594" y="1952041"/>
              <a:ext cx="329496" cy="997274"/>
            </a:xfrm>
            <a:custGeom>
              <a:avLst/>
              <a:gdLst>
                <a:gd name="T0" fmla="*/ 186 w 375"/>
                <a:gd name="T1" fmla="*/ 1135 h 1135"/>
                <a:gd name="T2" fmla="*/ 0 w 375"/>
                <a:gd name="T3" fmla="*/ 189 h 1135"/>
                <a:gd name="T4" fmla="*/ 156 w 375"/>
                <a:gd name="T5" fmla="*/ 0 h 1135"/>
                <a:gd name="T6" fmla="*/ 375 w 375"/>
                <a:gd name="T7" fmla="*/ 189 h 1135"/>
                <a:gd name="T8" fmla="*/ 186 w 375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5" h="1135">
                  <a:moveTo>
                    <a:pt x="186" y="1135"/>
                  </a:moveTo>
                  <a:lnTo>
                    <a:pt x="0" y="189"/>
                  </a:lnTo>
                  <a:lnTo>
                    <a:pt x="156" y="0"/>
                  </a:lnTo>
                  <a:lnTo>
                    <a:pt x="375" y="189"/>
                  </a:lnTo>
                  <a:lnTo>
                    <a:pt x="186" y="113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59" name="Oval 38"/>
            <p:cNvSpPr>
              <a:spLocks noChangeArrowheads="1"/>
            </p:cNvSpPr>
            <p:nvPr/>
          </p:nvSpPr>
          <p:spPr bwMode="auto">
            <a:xfrm>
              <a:off x="6452734" y="1251752"/>
              <a:ext cx="980579" cy="98233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60" name="Oval 39"/>
            <p:cNvSpPr>
              <a:spLocks noChangeArrowheads="1"/>
            </p:cNvSpPr>
            <p:nvPr/>
          </p:nvSpPr>
          <p:spPr bwMode="auto">
            <a:xfrm>
              <a:off x="6556415" y="1357191"/>
              <a:ext cx="773217" cy="771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61" name="TextBox 40"/>
            <p:cNvSpPr txBox="1"/>
            <p:nvPr/>
          </p:nvSpPr>
          <p:spPr>
            <a:xfrm>
              <a:off x="6593842" y="1449654"/>
              <a:ext cx="6912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81DC63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03</a:t>
              </a:r>
              <a:endPara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81DC63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62" name="Group 57"/>
          <p:cNvGrpSpPr/>
          <p:nvPr/>
        </p:nvGrpSpPr>
        <p:grpSpPr>
          <a:xfrm>
            <a:off x="1830778" y="3999800"/>
            <a:ext cx="3502278" cy="1240900"/>
            <a:chOff x="1811642" y="3621479"/>
            <a:chExt cx="3502278" cy="1240900"/>
          </a:xfrm>
        </p:grpSpPr>
        <p:sp>
          <p:nvSpPr>
            <p:cNvPr id="63" name="TextBox 58"/>
            <p:cNvSpPr txBox="1"/>
            <p:nvPr/>
          </p:nvSpPr>
          <p:spPr>
            <a:xfrm>
              <a:off x="1811642" y="3621479"/>
              <a:ext cx="32624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Roboto Light"/>
                  <a:ea typeface="+mn-ea"/>
                </a:rPr>
                <a:t>外部中断通用处理函数</a:t>
              </a:r>
              <a:endParaRPr lang="zh-CN" altLang="en-US" sz="2400" b="1" dirty="0">
                <a:solidFill>
                  <a:srgbClr val="FF0000"/>
                </a:solidFill>
                <a:latin typeface="Roboto Light"/>
                <a:ea typeface="+mn-ea"/>
              </a:endParaRPr>
            </a:p>
          </p:txBody>
        </p:sp>
        <p:sp>
          <p:nvSpPr>
            <p:cNvPr id="64" name="TextBox 59"/>
            <p:cNvSpPr txBox="1"/>
            <p:nvPr/>
          </p:nvSpPr>
          <p:spPr>
            <a:xfrm>
              <a:off x="1811642" y="4066007"/>
              <a:ext cx="3502278" cy="796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latin typeface="Roboto Light"/>
                  <a:ea typeface="+mn-ea"/>
                </a:rPr>
                <a:t>判断中断标志并清除，调用外部中断回调函数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Light"/>
                <a:ea typeface="+mn-ea"/>
              </a:endParaRPr>
            </a:p>
          </p:txBody>
        </p:sp>
      </p:grpSp>
      <p:grpSp>
        <p:nvGrpSpPr>
          <p:cNvPr id="65" name="Group 78"/>
          <p:cNvGrpSpPr/>
          <p:nvPr/>
        </p:nvGrpSpPr>
        <p:grpSpPr>
          <a:xfrm>
            <a:off x="1119879" y="4052182"/>
            <a:ext cx="622647" cy="622647"/>
            <a:chOff x="1100743" y="3673861"/>
            <a:chExt cx="622647" cy="622647"/>
          </a:xfrm>
        </p:grpSpPr>
        <p:sp>
          <p:nvSpPr>
            <p:cNvPr id="66" name="Oval 79"/>
            <p:cNvSpPr/>
            <p:nvPr/>
          </p:nvSpPr>
          <p:spPr>
            <a:xfrm>
              <a:off x="1100743" y="3673861"/>
              <a:ext cx="622647" cy="62264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7" name="Freeform 40"/>
            <p:cNvSpPr>
              <a:spLocks noEditPoints="1"/>
            </p:cNvSpPr>
            <p:nvPr/>
          </p:nvSpPr>
          <p:spPr bwMode="auto">
            <a:xfrm>
              <a:off x="1263710" y="3835401"/>
              <a:ext cx="296713" cy="299566"/>
            </a:xfrm>
            <a:custGeom>
              <a:avLst/>
              <a:gdLst>
                <a:gd name="T0" fmla="*/ 66 w 88"/>
                <a:gd name="T1" fmla="*/ 83 h 89"/>
                <a:gd name="T2" fmla="*/ 82 w 88"/>
                <a:gd name="T3" fmla="*/ 67 h 89"/>
                <a:gd name="T4" fmla="*/ 87 w 88"/>
                <a:gd name="T5" fmla="*/ 53 h 89"/>
                <a:gd name="T6" fmla="*/ 87 w 88"/>
                <a:gd name="T7" fmla="*/ 36 h 89"/>
                <a:gd name="T8" fmla="*/ 82 w 88"/>
                <a:gd name="T9" fmla="*/ 22 h 89"/>
                <a:gd name="T10" fmla="*/ 66 w 88"/>
                <a:gd name="T11" fmla="*/ 6 h 89"/>
                <a:gd name="T12" fmla="*/ 60 w 88"/>
                <a:gd name="T13" fmla="*/ 3 h 89"/>
                <a:gd name="T14" fmla="*/ 47 w 88"/>
                <a:gd name="T15" fmla="*/ 0 h 89"/>
                <a:gd name="T16" fmla="*/ 49 w 88"/>
                <a:gd name="T17" fmla="*/ 5 h 89"/>
                <a:gd name="T18" fmla="*/ 54 w 88"/>
                <a:gd name="T19" fmla="*/ 5 h 89"/>
                <a:gd name="T20" fmla="*/ 59 w 88"/>
                <a:gd name="T21" fmla="*/ 6 h 89"/>
                <a:gd name="T22" fmla="*/ 58 w 88"/>
                <a:gd name="T23" fmla="*/ 7 h 89"/>
                <a:gd name="T24" fmla="*/ 51 w 88"/>
                <a:gd name="T25" fmla="*/ 10 h 89"/>
                <a:gd name="T26" fmla="*/ 52 w 88"/>
                <a:gd name="T27" fmla="*/ 14 h 89"/>
                <a:gd name="T28" fmla="*/ 56 w 88"/>
                <a:gd name="T29" fmla="*/ 17 h 89"/>
                <a:gd name="T30" fmla="*/ 62 w 88"/>
                <a:gd name="T31" fmla="*/ 9 h 89"/>
                <a:gd name="T32" fmla="*/ 67 w 88"/>
                <a:gd name="T33" fmla="*/ 10 h 89"/>
                <a:gd name="T34" fmla="*/ 71 w 88"/>
                <a:gd name="T35" fmla="*/ 12 h 89"/>
                <a:gd name="T36" fmla="*/ 73 w 88"/>
                <a:gd name="T37" fmla="*/ 18 h 89"/>
                <a:gd name="T38" fmla="*/ 71 w 88"/>
                <a:gd name="T39" fmla="*/ 21 h 89"/>
                <a:gd name="T40" fmla="*/ 69 w 88"/>
                <a:gd name="T41" fmla="*/ 19 h 89"/>
                <a:gd name="T42" fmla="*/ 63 w 88"/>
                <a:gd name="T43" fmla="*/ 20 h 89"/>
                <a:gd name="T44" fmla="*/ 67 w 88"/>
                <a:gd name="T45" fmla="*/ 22 h 89"/>
                <a:gd name="T46" fmla="*/ 58 w 88"/>
                <a:gd name="T47" fmla="*/ 26 h 89"/>
                <a:gd name="T48" fmla="*/ 53 w 88"/>
                <a:gd name="T49" fmla="*/ 29 h 89"/>
                <a:gd name="T50" fmla="*/ 48 w 88"/>
                <a:gd name="T51" fmla="*/ 34 h 89"/>
                <a:gd name="T52" fmla="*/ 51 w 88"/>
                <a:gd name="T53" fmla="*/ 53 h 89"/>
                <a:gd name="T54" fmla="*/ 56 w 88"/>
                <a:gd name="T55" fmla="*/ 54 h 89"/>
                <a:gd name="T56" fmla="*/ 61 w 88"/>
                <a:gd name="T57" fmla="*/ 56 h 89"/>
                <a:gd name="T58" fmla="*/ 69 w 88"/>
                <a:gd name="T59" fmla="*/ 60 h 89"/>
                <a:gd name="T60" fmla="*/ 73 w 88"/>
                <a:gd name="T61" fmla="*/ 64 h 89"/>
                <a:gd name="T62" fmla="*/ 80 w 88"/>
                <a:gd name="T63" fmla="*/ 67 h 89"/>
                <a:gd name="T64" fmla="*/ 50 w 88"/>
                <a:gd name="T65" fmla="*/ 78 h 89"/>
                <a:gd name="T66" fmla="*/ 0 w 88"/>
                <a:gd name="T67" fmla="*/ 38 h 89"/>
                <a:gd name="T68" fmla="*/ 1 w 88"/>
                <a:gd name="T69" fmla="*/ 56 h 89"/>
                <a:gd name="T70" fmla="*/ 9 w 88"/>
                <a:gd name="T71" fmla="*/ 72 h 89"/>
                <a:gd name="T72" fmla="*/ 28 w 88"/>
                <a:gd name="T73" fmla="*/ 86 h 89"/>
                <a:gd name="T74" fmla="*/ 45 w 88"/>
                <a:gd name="T75" fmla="*/ 71 h 89"/>
                <a:gd name="T76" fmla="*/ 43 w 88"/>
                <a:gd name="T77" fmla="*/ 63 h 89"/>
                <a:gd name="T78" fmla="*/ 45 w 88"/>
                <a:gd name="T79" fmla="*/ 57 h 89"/>
                <a:gd name="T80" fmla="*/ 40 w 88"/>
                <a:gd name="T81" fmla="*/ 55 h 89"/>
                <a:gd name="T82" fmla="*/ 34 w 88"/>
                <a:gd name="T83" fmla="*/ 51 h 89"/>
                <a:gd name="T84" fmla="*/ 25 w 88"/>
                <a:gd name="T85" fmla="*/ 47 h 89"/>
                <a:gd name="T86" fmla="*/ 21 w 88"/>
                <a:gd name="T87" fmla="*/ 40 h 89"/>
                <a:gd name="T88" fmla="*/ 19 w 88"/>
                <a:gd name="T89" fmla="*/ 39 h 89"/>
                <a:gd name="T90" fmla="*/ 19 w 88"/>
                <a:gd name="T91" fmla="*/ 40 h 89"/>
                <a:gd name="T92" fmla="*/ 16 w 88"/>
                <a:gd name="T93" fmla="*/ 33 h 89"/>
                <a:gd name="T94" fmla="*/ 16 w 88"/>
                <a:gd name="T95" fmla="*/ 26 h 89"/>
                <a:gd name="T96" fmla="*/ 19 w 88"/>
                <a:gd name="T97" fmla="*/ 18 h 89"/>
                <a:gd name="T98" fmla="*/ 18 w 88"/>
                <a:gd name="T99" fmla="*/ 13 h 89"/>
                <a:gd name="T100" fmla="*/ 39 w 88"/>
                <a:gd name="T101" fmla="*/ 3 h 89"/>
                <a:gd name="T102" fmla="*/ 47 w 88"/>
                <a:gd name="T103" fmla="*/ 0 h 89"/>
                <a:gd name="T104" fmla="*/ 27 w 88"/>
                <a:gd name="T105" fmla="*/ 3 h 89"/>
                <a:gd name="T106" fmla="*/ 13 w 88"/>
                <a:gd name="T107" fmla="*/ 13 h 89"/>
                <a:gd name="T108" fmla="*/ 3 w 88"/>
                <a:gd name="T109" fmla="*/ 28 h 89"/>
                <a:gd name="T110" fmla="*/ 47 w 88"/>
                <a:gd name="T111" fmla="*/ 56 h 89"/>
                <a:gd name="T112" fmla="*/ 40 w 88"/>
                <a:gd name="T113" fmla="*/ 49 h 89"/>
                <a:gd name="T114" fmla="*/ 39 w 88"/>
                <a:gd name="T115" fmla="*/ 45 h 89"/>
                <a:gd name="T116" fmla="*/ 31 w 88"/>
                <a:gd name="T117" fmla="*/ 46 h 89"/>
                <a:gd name="T118" fmla="*/ 35 w 88"/>
                <a:gd name="T119" fmla="*/ 37 h 89"/>
                <a:gd name="T120" fmla="*/ 43 w 88"/>
                <a:gd name="T121" fmla="*/ 37 h 89"/>
                <a:gd name="T122" fmla="*/ 46 w 88"/>
                <a:gd name="T123" fmla="*/ 3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8" h="89">
                  <a:moveTo>
                    <a:pt x="47" y="89"/>
                  </a:moveTo>
                  <a:cubicBezTo>
                    <a:pt x="49" y="89"/>
                    <a:pt x="52" y="88"/>
                    <a:pt x="54" y="88"/>
                  </a:cubicBezTo>
                  <a:cubicBezTo>
                    <a:pt x="55" y="87"/>
                    <a:pt x="57" y="87"/>
                    <a:pt x="58" y="86"/>
                  </a:cubicBezTo>
                  <a:cubicBezTo>
                    <a:pt x="59" y="86"/>
                    <a:pt x="59" y="86"/>
                    <a:pt x="60" y="86"/>
                  </a:cubicBezTo>
                  <a:cubicBezTo>
                    <a:pt x="61" y="85"/>
                    <a:pt x="63" y="85"/>
                    <a:pt x="64" y="84"/>
                  </a:cubicBezTo>
                  <a:cubicBezTo>
                    <a:pt x="65" y="84"/>
                    <a:pt x="65" y="83"/>
                    <a:pt x="66" y="83"/>
                  </a:cubicBezTo>
                  <a:cubicBezTo>
                    <a:pt x="69" y="81"/>
                    <a:pt x="71" y="79"/>
                    <a:pt x="74" y="77"/>
                  </a:cubicBezTo>
                  <a:cubicBezTo>
                    <a:pt x="74" y="77"/>
                    <a:pt x="75" y="76"/>
                    <a:pt x="75" y="76"/>
                  </a:cubicBezTo>
                  <a:cubicBezTo>
                    <a:pt x="76" y="75"/>
                    <a:pt x="76" y="75"/>
                    <a:pt x="77" y="74"/>
                  </a:cubicBezTo>
                  <a:cubicBezTo>
                    <a:pt x="77" y="73"/>
                    <a:pt x="78" y="73"/>
                    <a:pt x="79" y="72"/>
                  </a:cubicBezTo>
                  <a:cubicBezTo>
                    <a:pt x="80" y="71"/>
                    <a:pt x="81" y="69"/>
                    <a:pt x="82" y="68"/>
                  </a:cubicBezTo>
                  <a:cubicBezTo>
                    <a:pt x="82" y="67"/>
                    <a:pt x="82" y="67"/>
                    <a:pt x="82" y="67"/>
                  </a:cubicBezTo>
                  <a:cubicBezTo>
                    <a:pt x="83" y="66"/>
                    <a:pt x="83" y="65"/>
                    <a:pt x="83" y="65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4" y="63"/>
                    <a:pt x="84" y="62"/>
                    <a:pt x="85" y="62"/>
                  </a:cubicBezTo>
                  <a:cubicBezTo>
                    <a:pt x="85" y="61"/>
                    <a:pt x="85" y="60"/>
                    <a:pt x="86" y="60"/>
                  </a:cubicBezTo>
                  <a:cubicBezTo>
                    <a:pt x="86" y="58"/>
                    <a:pt x="86" y="57"/>
                    <a:pt x="87" y="56"/>
                  </a:cubicBezTo>
                  <a:cubicBezTo>
                    <a:pt x="87" y="55"/>
                    <a:pt x="87" y="54"/>
                    <a:pt x="87" y="53"/>
                  </a:cubicBezTo>
                  <a:cubicBezTo>
                    <a:pt x="87" y="53"/>
                    <a:pt x="88" y="52"/>
                    <a:pt x="88" y="51"/>
                  </a:cubicBezTo>
                  <a:cubicBezTo>
                    <a:pt x="88" y="50"/>
                    <a:pt x="88" y="50"/>
                    <a:pt x="88" y="49"/>
                  </a:cubicBezTo>
                  <a:cubicBezTo>
                    <a:pt x="88" y="47"/>
                    <a:pt x="88" y="46"/>
                    <a:pt x="88" y="44"/>
                  </a:cubicBezTo>
                  <a:cubicBezTo>
                    <a:pt x="88" y="43"/>
                    <a:pt x="88" y="41"/>
                    <a:pt x="88" y="40"/>
                  </a:cubicBezTo>
                  <a:cubicBezTo>
                    <a:pt x="88" y="39"/>
                    <a:pt x="88" y="38"/>
                    <a:pt x="88" y="38"/>
                  </a:cubicBezTo>
                  <a:cubicBezTo>
                    <a:pt x="88" y="37"/>
                    <a:pt x="87" y="36"/>
                    <a:pt x="87" y="36"/>
                  </a:cubicBezTo>
                  <a:cubicBezTo>
                    <a:pt x="87" y="35"/>
                    <a:pt x="87" y="34"/>
                    <a:pt x="87" y="33"/>
                  </a:cubicBezTo>
                  <a:cubicBezTo>
                    <a:pt x="86" y="32"/>
                    <a:pt x="86" y="31"/>
                    <a:pt x="86" y="29"/>
                  </a:cubicBezTo>
                  <a:cubicBezTo>
                    <a:pt x="85" y="29"/>
                    <a:pt x="85" y="29"/>
                    <a:pt x="85" y="28"/>
                  </a:cubicBezTo>
                  <a:cubicBezTo>
                    <a:pt x="85" y="27"/>
                    <a:pt x="84" y="26"/>
                    <a:pt x="84" y="25"/>
                  </a:cubicBezTo>
                  <a:cubicBezTo>
                    <a:pt x="84" y="25"/>
                    <a:pt x="84" y="25"/>
                    <a:pt x="83" y="24"/>
                  </a:cubicBezTo>
                  <a:cubicBezTo>
                    <a:pt x="83" y="24"/>
                    <a:pt x="83" y="23"/>
                    <a:pt x="82" y="22"/>
                  </a:cubicBezTo>
                  <a:cubicBezTo>
                    <a:pt x="81" y="21"/>
                    <a:pt x="80" y="19"/>
                    <a:pt x="79" y="17"/>
                  </a:cubicBezTo>
                  <a:cubicBezTo>
                    <a:pt x="78" y="16"/>
                    <a:pt x="77" y="15"/>
                    <a:pt x="77" y="15"/>
                  </a:cubicBezTo>
                  <a:cubicBezTo>
                    <a:pt x="76" y="14"/>
                    <a:pt x="76" y="14"/>
                    <a:pt x="75" y="13"/>
                  </a:cubicBezTo>
                  <a:cubicBezTo>
                    <a:pt x="75" y="13"/>
                    <a:pt x="74" y="12"/>
                    <a:pt x="74" y="12"/>
                  </a:cubicBezTo>
                  <a:cubicBezTo>
                    <a:pt x="73" y="11"/>
                    <a:pt x="72" y="10"/>
                    <a:pt x="71" y="9"/>
                  </a:cubicBezTo>
                  <a:cubicBezTo>
                    <a:pt x="69" y="8"/>
                    <a:pt x="68" y="7"/>
                    <a:pt x="66" y="6"/>
                  </a:cubicBezTo>
                  <a:cubicBezTo>
                    <a:pt x="65" y="6"/>
                    <a:pt x="65" y="5"/>
                    <a:pt x="64" y="5"/>
                  </a:cubicBezTo>
                  <a:cubicBezTo>
                    <a:pt x="64" y="5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1" y="4"/>
                    <a:pt x="61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59" y="3"/>
                    <a:pt x="58" y="3"/>
                  </a:cubicBezTo>
                  <a:cubicBezTo>
                    <a:pt x="58" y="3"/>
                    <a:pt x="58" y="2"/>
                    <a:pt x="58" y="2"/>
                  </a:cubicBezTo>
                  <a:cubicBezTo>
                    <a:pt x="57" y="2"/>
                    <a:pt x="55" y="2"/>
                    <a:pt x="54" y="1"/>
                  </a:cubicBezTo>
                  <a:cubicBezTo>
                    <a:pt x="54" y="1"/>
                    <a:pt x="53" y="1"/>
                    <a:pt x="53" y="1"/>
                  </a:cubicBezTo>
                  <a:cubicBezTo>
                    <a:pt x="53" y="1"/>
                    <a:pt x="52" y="1"/>
                    <a:pt x="52" y="1"/>
                  </a:cubicBezTo>
                  <a:cubicBezTo>
                    <a:pt x="50" y="1"/>
                    <a:pt x="49" y="0"/>
                    <a:pt x="47" y="0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9" y="3"/>
                    <a:pt x="51" y="3"/>
                    <a:pt x="52" y="3"/>
                  </a:cubicBezTo>
                  <a:cubicBezTo>
                    <a:pt x="52" y="4"/>
                    <a:pt x="52" y="3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0" y="4"/>
                    <a:pt x="49" y="4"/>
                    <a:pt x="48" y="4"/>
                  </a:cubicBezTo>
                  <a:cubicBezTo>
                    <a:pt x="48" y="4"/>
                    <a:pt x="49" y="4"/>
                    <a:pt x="49" y="5"/>
                  </a:cubicBezTo>
                  <a:cubicBezTo>
                    <a:pt x="50" y="5"/>
                    <a:pt x="50" y="5"/>
                    <a:pt x="51" y="5"/>
                  </a:cubicBezTo>
                  <a:cubicBezTo>
                    <a:pt x="52" y="5"/>
                    <a:pt x="52" y="5"/>
                    <a:pt x="53" y="5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4" y="4"/>
                  </a:cubicBezTo>
                  <a:cubicBezTo>
                    <a:pt x="54" y="4"/>
                    <a:pt x="54" y="4"/>
                    <a:pt x="55" y="4"/>
                  </a:cubicBezTo>
                  <a:cubicBezTo>
                    <a:pt x="55" y="4"/>
                    <a:pt x="54" y="4"/>
                    <a:pt x="54" y="5"/>
                  </a:cubicBezTo>
                  <a:cubicBezTo>
                    <a:pt x="55" y="5"/>
                    <a:pt x="55" y="5"/>
                    <a:pt x="56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7" y="4"/>
                    <a:pt x="57" y="5"/>
                    <a:pt x="58" y="5"/>
                  </a:cubicBezTo>
                  <a:cubicBezTo>
                    <a:pt x="59" y="5"/>
                    <a:pt x="60" y="6"/>
                    <a:pt x="61" y="6"/>
                  </a:cubicBezTo>
                  <a:cubicBezTo>
                    <a:pt x="61" y="6"/>
                    <a:pt x="60" y="6"/>
                    <a:pt x="60" y="6"/>
                  </a:cubicBezTo>
                  <a:cubicBezTo>
                    <a:pt x="60" y="6"/>
                    <a:pt x="60" y="6"/>
                    <a:pt x="59" y="6"/>
                  </a:cubicBezTo>
                  <a:cubicBezTo>
                    <a:pt x="59" y="6"/>
                    <a:pt x="60" y="7"/>
                    <a:pt x="60" y="7"/>
                  </a:cubicBezTo>
                  <a:cubicBezTo>
                    <a:pt x="61" y="7"/>
                    <a:pt x="61" y="7"/>
                    <a:pt x="61" y="8"/>
                  </a:cubicBezTo>
                  <a:cubicBezTo>
                    <a:pt x="61" y="9"/>
                    <a:pt x="60" y="8"/>
                    <a:pt x="60" y="8"/>
                  </a:cubicBezTo>
                  <a:cubicBezTo>
                    <a:pt x="59" y="8"/>
                    <a:pt x="58" y="9"/>
                    <a:pt x="57" y="8"/>
                  </a:cubicBezTo>
                  <a:cubicBezTo>
                    <a:pt x="57" y="7"/>
                    <a:pt x="58" y="7"/>
                    <a:pt x="58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7" y="7"/>
                    <a:pt x="57" y="7"/>
                  </a:cubicBezTo>
                  <a:cubicBezTo>
                    <a:pt x="57" y="7"/>
                    <a:pt x="57" y="8"/>
                    <a:pt x="56" y="8"/>
                  </a:cubicBezTo>
                  <a:cubicBezTo>
                    <a:pt x="56" y="8"/>
                    <a:pt x="56" y="8"/>
                    <a:pt x="55" y="8"/>
                  </a:cubicBezTo>
                  <a:cubicBezTo>
                    <a:pt x="55" y="8"/>
                    <a:pt x="54" y="8"/>
                    <a:pt x="54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2" y="9"/>
                    <a:pt x="52" y="9"/>
                    <a:pt x="51" y="10"/>
                  </a:cubicBezTo>
                  <a:cubicBezTo>
                    <a:pt x="50" y="10"/>
                    <a:pt x="50" y="10"/>
                    <a:pt x="49" y="11"/>
                  </a:cubicBezTo>
                  <a:cubicBezTo>
                    <a:pt x="49" y="11"/>
                    <a:pt x="49" y="11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4"/>
                    <a:pt x="52" y="14"/>
                  </a:cubicBezTo>
                  <a:cubicBezTo>
                    <a:pt x="52" y="14"/>
                    <a:pt x="53" y="15"/>
                    <a:pt x="53" y="15"/>
                  </a:cubicBezTo>
                  <a:cubicBezTo>
                    <a:pt x="54" y="15"/>
                    <a:pt x="55" y="15"/>
                    <a:pt x="55" y="15"/>
                  </a:cubicBezTo>
                  <a:cubicBezTo>
                    <a:pt x="55" y="16"/>
                    <a:pt x="54" y="16"/>
                    <a:pt x="54" y="16"/>
                  </a:cubicBezTo>
                  <a:cubicBezTo>
                    <a:pt x="55" y="17"/>
                    <a:pt x="54" y="17"/>
                    <a:pt x="54" y="17"/>
                  </a:cubicBezTo>
                  <a:cubicBezTo>
                    <a:pt x="54" y="18"/>
                    <a:pt x="54" y="18"/>
                    <a:pt x="55" y="18"/>
                  </a:cubicBezTo>
                  <a:cubicBezTo>
                    <a:pt x="55" y="18"/>
                    <a:pt x="56" y="18"/>
                    <a:pt x="56" y="17"/>
                  </a:cubicBezTo>
                  <a:cubicBezTo>
                    <a:pt x="56" y="17"/>
                    <a:pt x="56" y="16"/>
                    <a:pt x="57" y="15"/>
                  </a:cubicBezTo>
                  <a:cubicBezTo>
                    <a:pt x="59" y="15"/>
                    <a:pt x="61" y="14"/>
                    <a:pt x="61" y="12"/>
                  </a:cubicBezTo>
                  <a:cubicBezTo>
                    <a:pt x="61" y="12"/>
                    <a:pt x="61" y="12"/>
                    <a:pt x="61" y="11"/>
                  </a:cubicBezTo>
                  <a:cubicBezTo>
                    <a:pt x="61" y="11"/>
                    <a:pt x="61" y="11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4" y="9"/>
                    <a:pt x="64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6" y="9"/>
                    <a:pt x="66" y="10"/>
                    <a:pt x="66" y="10"/>
                  </a:cubicBezTo>
                  <a:cubicBezTo>
                    <a:pt x="66" y="10"/>
                    <a:pt x="67" y="10"/>
                    <a:pt x="67" y="10"/>
                  </a:cubicBezTo>
                  <a:cubicBezTo>
                    <a:pt x="67" y="11"/>
                    <a:pt x="66" y="11"/>
                    <a:pt x="66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12"/>
                    <a:pt x="67" y="12"/>
                    <a:pt x="67" y="12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9" y="12"/>
                    <a:pt x="69" y="11"/>
                    <a:pt x="69" y="11"/>
                  </a:cubicBezTo>
                  <a:cubicBezTo>
                    <a:pt x="70" y="11"/>
                    <a:pt x="70" y="12"/>
                    <a:pt x="71" y="12"/>
                  </a:cubicBezTo>
                  <a:cubicBezTo>
                    <a:pt x="71" y="12"/>
                    <a:pt x="71" y="13"/>
                    <a:pt x="71" y="13"/>
                  </a:cubicBezTo>
                  <a:cubicBezTo>
                    <a:pt x="71" y="13"/>
                    <a:pt x="71" y="14"/>
                    <a:pt x="71" y="14"/>
                  </a:cubicBezTo>
                  <a:cubicBezTo>
                    <a:pt x="71" y="15"/>
                    <a:pt x="72" y="15"/>
                    <a:pt x="72" y="15"/>
                  </a:cubicBezTo>
                  <a:cubicBezTo>
                    <a:pt x="73" y="15"/>
                    <a:pt x="73" y="16"/>
                    <a:pt x="73" y="16"/>
                  </a:cubicBezTo>
                  <a:cubicBezTo>
                    <a:pt x="73" y="16"/>
                    <a:pt x="73" y="16"/>
                    <a:pt x="73" y="17"/>
                  </a:cubicBezTo>
                  <a:cubicBezTo>
                    <a:pt x="73" y="17"/>
                    <a:pt x="73" y="17"/>
                    <a:pt x="73" y="18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2" y="20"/>
                    <a:pt x="73" y="19"/>
                    <a:pt x="73" y="20"/>
                  </a:cubicBezTo>
                  <a:cubicBezTo>
                    <a:pt x="74" y="20"/>
                    <a:pt x="73" y="20"/>
                    <a:pt x="73" y="21"/>
                  </a:cubicBezTo>
                  <a:cubicBezTo>
                    <a:pt x="74" y="21"/>
                    <a:pt x="74" y="22"/>
                    <a:pt x="73" y="22"/>
                  </a:cubicBezTo>
                  <a:cubicBezTo>
                    <a:pt x="73" y="22"/>
                    <a:pt x="73" y="22"/>
                    <a:pt x="72" y="22"/>
                  </a:cubicBezTo>
                  <a:cubicBezTo>
                    <a:pt x="72" y="22"/>
                    <a:pt x="72" y="22"/>
                    <a:pt x="71" y="21"/>
                  </a:cubicBezTo>
                  <a:cubicBezTo>
                    <a:pt x="71" y="21"/>
                    <a:pt x="71" y="21"/>
                    <a:pt x="71" y="21"/>
                  </a:cubicBezTo>
                  <a:cubicBezTo>
                    <a:pt x="70" y="21"/>
                    <a:pt x="69" y="21"/>
                    <a:pt x="69" y="21"/>
                  </a:cubicBezTo>
                  <a:cubicBezTo>
                    <a:pt x="70" y="20"/>
                    <a:pt x="70" y="20"/>
                    <a:pt x="71" y="19"/>
                  </a:cubicBezTo>
                  <a:cubicBezTo>
                    <a:pt x="71" y="19"/>
                    <a:pt x="72" y="19"/>
                    <a:pt x="72" y="18"/>
                  </a:cubicBezTo>
                  <a:cubicBezTo>
                    <a:pt x="71" y="18"/>
                    <a:pt x="71" y="18"/>
                    <a:pt x="70" y="18"/>
                  </a:cubicBezTo>
                  <a:cubicBezTo>
                    <a:pt x="70" y="19"/>
                    <a:pt x="69" y="19"/>
                    <a:pt x="69" y="19"/>
                  </a:cubicBezTo>
                  <a:cubicBezTo>
                    <a:pt x="68" y="19"/>
                    <a:pt x="67" y="19"/>
                    <a:pt x="67" y="19"/>
                  </a:cubicBezTo>
                  <a:cubicBezTo>
                    <a:pt x="66" y="20"/>
                    <a:pt x="67" y="19"/>
                    <a:pt x="67" y="20"/>
                  </a:cubicBezTo>
                  <a:cubicBezTo>
                    <a:pt x="67" y="20"/>
                    <a:pt x="67" y="20"/>
                    <a:pt x="66" y="20"/>
                  </a:cubicBezTo>
                  <a:cubicBezTo>
                    <a:pt x="66" y="20"/>
                    <a:pt x="66" y="19"/>
                    <a:pt x="66" y="19"/>
                  </a:cubicBezTo>
                  <a:cubicBezTo>
                    <a:pt x="66" y="19"/>
                    <a:pt x="65" y="19"/>
                    <a:pt x="64" y="19"/>
                  </a:cubicBezTo>
                  <a:cubicBezTo>
                    <a:pt x="64" y="19"/>
                    <a:pt x="64" y="19"/>
                    <a:pt x="63" y="20"/>
                  </a:cubicBezTo>
                  <a:cubicBezTo>
                    <a:pt x="64" y="20"/>
                    <a:pt x="65" y="20"/>
                    <a:pt x="65" y="20"/>
                  </a:cubicBezTo>
                  <a:cubicBezTo>
                    <a:pt x="65" y="21"/>
                    <a:pt x="64" y="21"/>
                    <a:pt x="64" y="22"/>
                  </a:cubicBezTo>
                  <a:cubicBezTo>
                    <a:pt x="64" y="22"/>
                    <a:pt x="65" y="23"/>
                    <a:pt x="65" y="23"/>
                  </a:cubicBezTo>
                  <a:cubicBezTo>
                    <a:pt x="65" y="23"/>
                    <a:pt x="65" y="23"/>
                    <a:pt x="66" y="23"/>
                  </a:cubicBezTo>
                  <a:cubicBezTo>
                    <a:pt x="66" y="23"/>
                    <a:pt x="66" y="23"/>
                    <a:pt x="66" y="23"/>
                  </a:cubicBezTo>
                  <a:cubicBezTo>
                    <a:pt x="67" y="23"/>
                    <a:pt x="67" y="22"/>
                    <a:pt x="67" y="22"/>
                  </a:cubicBezTo>
                  <a:cubicBezTo>
                    <a:pt x="68" y="23"/>
                    <a:pt x="67" y="23"/>
                    <a:pt x="66" y="23"/>
                  </a:cubicBezTo>
                  <a:cubicBezTo>
                    <a:pt x="65" y="24"/>
                    <a:pt x="64" y="24"/>
                    <a:pt x="64" y="24"/>
                  </a:cubicBezTo>
                  <a:cubicBezTo>
                    <a:pt x="64" y="24"/>
                    <a:pt x="62" y="25"/>
                    <a:pt x="62" y="25"/>
                  </a:cubicBezTo>
                  <a:cubicBezTo>
                    <a:pt x="62" y="24"/>
                    <a:pt x="63" y="24"/>
                    <a:pt x="63" y="24"/>
                  </a:cubicBezTo>
                  <a:cubicBezTo>
                    <a:pt x="62" y="23"/>
                    <a:pt x="61" y="24"/>
                    <a:pt x="61" y="24"/>
                  </a:cubicBezTo>
                  <a:cubicBezTo>
                    <a:pt x="60" y="24"/>
                    <a:pt x="58" y="25"/>
                    <a:pt x="58" y="26"/>
                  </a:cubicBezTo>
                  <a:cubicBezTo>
                    <a:pt x="58" y="26"/>
                    <a:pt x="58" y="26"/>
                    <a:pt x="58" y="27"/>
                  </a:cubicBezTo>
                  <a:cubicBezTo>
                    <a:pt x="58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5" y="27"/>
                    <a:pt x="55" y="27"/>
                  </a:cubicBezTo>
                  <a:cubicBezTo>
                    <a:pt x="55" y="28"/>
                    <a:pt x="55" y="28"/>
                    <a:pt x="54" y="28"/>
                  </a:cubicBezTo>
                  <a:cubicBezTo>
                    <a:pt x="54" y="29"/>
                    <a:pt x="54" y="29"/>
                    <a:pt x="53" y="29"/>
                  </a:cubicBezTo>
                  <a:cubicBezTo>
                    <a:pt x="53" y="29"/>
                    <a:pt x="53" y="30"/>
                    <a:pt x="53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2" y="31"/>
                    <a:pt x="52" y="32"/>
                  </a:cubicBezTo>
                  <a:cubicBezTo>
                    <a:pt x="51" y="32"/>
                    <a:pt x="51" y="33"/>
                    <a:pt x="50" y="33"/>
                  </a:cubicBezTo>
                  <a:cubicBezTo>
                    <a:pt x="50" y="33"/>
                    <a:pt x="49" y="33"/>
                    <a:pt x="49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4"/>
                    <a:pt x="47" y="35"/>
                    <a:pt x="47" y="35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7" y="55"/>
                    <a:pt x="47" y="55"/>
                    <a:pt x="48" y="55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9" y="53"/>
                    <a:pt x="49" y="53"/>
                    <a:pt x="50" y="53"/>
                  </a:cubicBezTo>
                  <a:cubicBezTo>
                    <a:pt x="50" y="53"/>
                    <a:pt x="50" y="53"/>
                    <a:pt x="51" y="53"/>
                  </a:cubicBezTo>
                  <a:cubicBezTo>
                    <a:pt x="51" y="53"/>
                    <a:pt x="51" y="52"/>
                    <a:pt x="51" y="52"/>
                  </a:cubicBezTo>
                  <a:cubicBezTo>
                    <a:pt x="52" y="53"/>
                    <a:pt x="51" y="53"/>
                    <a:pt x="51" y="53"/>
                  </a:cubicBezTo>
                  <a:cubicBezTo>
                    <a:pt x="52" y="54"/>
                    <a:pt x="52" y="53"/>
                    <a:pt x="53" y="53"/>
                  </a:cubicBezTo>
                  <a:cubicBezTo>
                    <a:pt x="53" y="53"/>
                    <a:pt x="53" y="53"/>
                    <a:pt x="54" y="53"/>
                  </a:cubicBezTo>
                  <a:cubicBezTo>
                    <a:pt x="54" y="53"/>
                    <a:pt x="54" y="54"/>
                    <a:pt x="55" y="54"/>
                  </a:cubicBezTo>
                  <a:cubicBezTo>
                    <a:pt x="55" y="54"/>
                    <a:pt x="55" y="54"/>
                    <a:pt x="56" y="54"/>
                  </a:cubicBezTo>
                  <a:cubicBezTo>
                    <a:pt x="56" y="54"/>
                    <a:pt x="56" y="54"/>
                    <a:pt x="57" y="54"/>
                  </a:cubicBezTo>
                  <a:cubicBezTo>
                    <a:pt x="57" y="54"/>
                    <a:pt x="58" y="54"/>
                    <a:pt x="58" y="54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0" y="55"/>
                    <a:pt x="60" y="55"/>
                    <a:pt x="60" y="55"/>
                  </a:cubicBezTo>
                  <a:cubicBezTo>
                    <a:pt x="61" y="55"/>
                    <a:pt x="61" y="55"/>
                    <a:pt x="61" y="56"/>
                  </a:cubicBezTo>
                  <a:cubicBezTo>
                    <a:pt x="61" y="56"/>
                    <a:pt x="61" y="56"/>
                    <a:pt x="62" y="56"/>
                  </a:cubicBezTo>
                  <a:cubicBezTo>
                    <a:pt x="62" y="56"/>
                    <a:pt x="62" y="57"/>
                    <a:pt x="63" y="57"/>
                  </a:cubicBezTo>
                  <a:cubicBezTo>
                    <a:pt x="63" y="58"/>
                    <a:pt x="64" y="58"/>
                    <a:pt x="64" y="58"/>
                  </a:cubicBezTo>
                  <a:cubicBezTo>
                    <a:pt x="65" y="58"/>
                    <a:pt x="65" y="58"/>
                    <a:pt x="66" y="58"/>
                  </a:cubicBezTo>
                  <a:cubicBezTo>
                    <a:pt x="67" y="58"/>
                    <a:pt x="67" y="59"/>
                    <a:pt x="68" y="59"/>
                  </a:cubicBezTo>
                  <a:cubicBezTo>
                    <a:pt x="68" y="59"/>
                    <a:pt x="69" y="60"/>
                    <a:pt x="69" y="60"/>
                  </a:cubicBezTo>
                  <a:cubicBezTo>
                    <a:pt x="69" y="60"/>
                    <a:pt x="69" y="61"/>
                    <a:pt x="69" y="61"/>
                  </a:cubicBezTo>
                  <a:cubicBezTo>
                    <a:pt x="69" y="61"/>
                    <a:pt x="70" y="62"/>
                    <a:pt x="70" y="63"/>
                  </a:cubicBezTo>
                  <a:cubicBezTo>
                    <a:pt x="70" y="63"/>
                    <a:pt x="70" y="63"/>
                    <a:pt x="71" y="63"/>
                  </a:cubicBezTo>
                  <a:cubicBezTo>
                    <a:pt x="71" y="63"/>
                    <a:pt x="71" y="64"/>
                    <a:pt x="71" y="64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2" y="64"/>
                    <a:pt x="73" y="64"/>
                    <a:pt x="73" y="64"/>
                  </a:cubicBezTo>
                  <a:cubicBezTo>
                    <a:pt x="74" y="64"/>
                    <a:pt x="74" y="64"/>
                    <a:pt x="74" y="65"/>
                  </a:cubicBezTo>
                  <a:cubicBezTo>
                    <a:pt x="74" y="65"/>
                    <a:pt x="74" y="65"/>
                    <a:pt x="75" y="65"/>
                  </a:cubicBezTo>
                  <a:cubicBezTo>
                    <a:pt x="75" y="66"/>
                    <a:pt x="75" y="65"/>
                    <a:pt x="76" y="65"/>
                  </a:cubicBezTo>
                  <a:cubicBezTo>
                    <a:pt x="76" y="65"/>
                    <a:pt x="77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9" y="66"/>
                    <a:pt x="79" y="66"/>
                    <a:pt x="80" y="67"/>
                  </a:cubicBezTo>
                  <a:cubicBezTo>
                    <a:pt x="74" y="76"/>
                    <a:pt x="65" y="83"/>
                    <a:pt x="54" y="85"/>
                  </a:cubicBezTo>
                  <a:cubicBezTo>
                    <a:pt x="54" y="85"/>
                    <a:pt x="54" y="84"/>
                    <a:pt x="54" y="84"/>
                  </a:cubicBezTo>
                  <a:cubicBezTo>
                    <a:pt x="54" y="83"/>
                    <a:pt x="54" y="82"/>
                    <a:pt x="54" y="82"/>
                  </a:cubicBezTo>
                  <a:cubicBezTo>
                    <a:pt x="53" y="81"/>
                    <a:pt x="53" y="80"/>
                    <a:pt x="53" y="80"/>
                  </a:cubicBezTo>
                  <a:cubicBezTo>
                    <a:pt x="53" y="79"/>
                    <a:pt x="52" y="78"/>
                    <a:pt x="51" y="78"/>
                  </a:cubicBezTo>
                  <a:cubicBezTo>
                    <a:pt x="51" y="78"/>
                    <a:pt x="51" y="78"/>
                    <a:pt x="50" y="78"/>
                  </a:cubicBezTo>
                  <a:cubicBezTo>
                    <a:pt x="49" y="77"/>
                    <a:pt x="48" y="77"/>
                    <a:pt x="48" y="76"/>
                  </a:cubicBezTo>
                  <a:cubicBezTo>
                    <a:pt x="47" y="76"/>
                    <a:pt x="47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lnTo>
                    <a:pt x="47" y="89"/>
                  </a:lnTo>
                  <a:close/>
                  <a:moveTo>
                    <a:pt x="0" y="36"/>
                  </a:moveTo>
                  <a:cubicBezTo>
                    <a:pt x="0" y="36"/>
                    <a:pt x="0" y="37"/>
                    <a:pt x="0" y="38"/>
                  </a:cubicBezTo>
                  <a:cubicBezTo>
                    <a:pt x="0" y="38"/>
                    <a:pt x="0" y="39"/>
                    <a:pt x="0" y="40"/>
                  </a:cubicBezTo>
                  <a:cubicBezTo>
                    <a:pt x="0" y="41"/>
                    <a:pt x="0" y="43"/>
                    <a:pt x="0" y="44"/>
                  </a:cubicBezTo>
                  <a:cubicBezTo>
                    <a:pt x="0" y="46"/>
                    <a:pt x="0" y="47"/>
                    <a:pt x="0" y="49"/>
                  </a:cubicBezTo>
                  <a:cubicBezTo>
                    <a:pt x="0" y="50"/>
                    <a:pt x="0" y="50"/>
                    <a:pt x="0" y="51"/>
                  </a:cubicBezTo>
                  <a:cubicBezTo>
                    <a:pt x="0" y="52"/>
                    <a:pt x="0" y="53"/>
                    <a:pt x="0" y="53"/>
                  </a:cubicBezTo>
                  <a:cubicBezTo>
                    <a:pt x="1" y="54"/>
                    <a:pt x="1" y="55"/>
                    <a:pt x="1" y="56"/>
                  </a:cubicBezTo>
                  <a:cubicBezTo>
                    <a:pt x="1" y="57"/>
                    <a:pt x="2" y="58"/>
                    <a:pt x="2" y="60"/>
                  </a:cubicBezTo>
                  <a:cubicBezTo>
                    <a:pt x="2" y="60"/>
                    <a:pt x="3" y="61"/>
                    <a:pt x="3" y="62"/>
                  </a:cubicBezTo>
                  <a:cubicBezTo>
                    <a:pt x="3" y="62"/>
                    <a:pt x="4" y="63"/>
                    <a:pt x="4" y="64"/>
                  </a:cubicBezTo>
                  <a:cubicBezTo>
                    <a:pt x="4" y="64"/>
                    <a:pt x="4" y="64"/>
                    <a:pt x="4" y="65"/>
                  </a:cubicBezTo>
                  <a:cubicBezTo>
                    <a:pt x="5" y="65"/>
                    <a:pt x="5" y="66"/>
                    <a:pt x="5" y="67"/>
                  </a:cubicBezTo>
                  <a:cubicBezTo>
                    <a:pt x="6" y="68"/>
                    <a:pt x="8" y="70"/>
                    <a:pt x="9" y="72"/>
                  </a:cubicBezTo>
                  <a:cubicBezTo>
                    <a:pt x="10" y="73"/>
                    <a:pt x="10" y="73"/>
                    <a:pt x="11" y="74"/>
                  </a:cubicBezTo>
                  <a:cubicBezTo>
                    <a:pt x="12" y="75"/>
                    <a:pt x="12" y="75"/>
                    <a:pt x="13" y="76"/>
                  </a:cubicBezTo>
                  <a:cubicBezTo>
                    <a:pt x="13" y="76"/>
                    <a:pt x="14" y="77"/>
                    <a:pt x="14" y="77"/>
                  </a:cubicBezTo>
                  <a:cubicBezTo>
                    <a:pt x="16" y="79"/>
                    <a:pt x="19" y="81"/>
                    <a:pt x="22" y="83"/>
                  </a:cubicBezTo>
                  <a:cubicBezTo>
                    <a:pt x="22" y="83"/>
                    <a:pt x="23" y="84"/>
                    <a:pt x="24" y="84"/>
                  </a:cubicBezTo>
                  <a:cubicBezTo>
                    <a:pt x="25" y="85"/>
                    <a:pt x="26" y="85"/>
                    <a:pt x="28" y="86"/>
                  </a:cubicBezTo>
                  <a:cubicBezTo>
                    <a:pt x="28" y="86"/>
                    <a:pt x="29" y="86"/>
                    <a:pt x="30" y="86"/>
                  </a:cubicBezTo>
                  <a:cubicBezTo>
                    <a:pt x="34" y="88"/>
                    <a:pt x="39" y="89"/>
                    <a:pt x="44" y="89"/>
                  </a:cubicBezTo>
                  <a:cubicBezTo>
                    <a:pt x="45" y="89"/>
                    <a:pt x="46" y="89"/>
                    <a:pt x="47" y="89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7" y="74"/>
                    <a:pt x="47" y="74"/>
                    <a:pt x="46" y="74"/>
                  </a:cubicBezTo>
                  <a:cubicBezTo>
                    <a:pt x="46" y="73"/>
                    <a:pt x="45" y="72"/>
                    <a:pt x="45" y="71"/>
                  </a:cubicBezTo>
                  <a:cubicBezTo>
                    <a:pt x="44" y="70"/>
                    <a:pt x="44" y="70"/>
                    <a:pt x="44" y="69"/>
                  </a:cubicBezTo>
                  <a:cubicBezTo>
                    <a:pt x="44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7"/>
                  </a:cubicBezTo>
                  <a:cubicBezTo>
                    <a:pt x="43" y="67"/>
                    <a:pt x="44" y="66"/>
                    <a:pt x="44" y="66"/>
                  </a:cubicBezTo>
                  <a:cubicBezTo>
                    <a:pt x="44" y="66"/>
                    <a:pt x="43" y="65"/>
                    <a:pt x="43" y="65"/>
                  </a:cubicBezTo>
                  <a:cubicBezTo>
                    <a:pt x="43" y="64"/>
                    <a:pt x="43" y="64"/>
                    <a:pt x="43" y="63"/>
                  </a:cubicBezTo>
                  <a:cubicBezTo>
                    <a:pt x="43" y="63"/>
                    <a:pt x="44" y="63"/>
                    <a:pt x="44" y="63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5" y="62"/>
                    <a:pt x="45" y="62"/>
                    <a:pt x="45" y="61"/>
                  </a:cubicBezTo>
                  <a:cubicBezTo>
                    <a:pt x="45" y="61"/>
                    <a:pt x="46" y="61"/>
                    <a:pt x="46" y="60"/>
                  </a:cubicBezTo>
                  <a:cubicBezTo>
                    <a:pt x="46" y="60"/>
                    <a:pt x="46" y="58"/>
                    <a:pt x="46" y="58"/>
                  </a:cubicBezTo>
                  <a:cubicBezTo>
                    <a:pt x="46" y="57"/>
                    <a:pt x="46" y="57"/>
                    <a:pt x="45" y="57"/>
                  </a:cubicBezTo>
                  <a:cubicBezTo>
                    <a:pt x="45" y="56"/>
                    <a:pt x="45" y="55"/>
                    <a:pt x="45" y="55"/>
                  </a:cubicBezTo>
                  <a:cubicBezTo>
                    <a:pt x="44" y="55"/>
                    <a:pt x="44" y="56"/>
                    <a:pt x="44" y="56"/>
                  </a:cubicBezTo>
                  <a:cubicBezTo>
                    <a:pt x="44" y="56"/>
                    <a:pt x="44" y="57"/>
                    <a:pt x="43" y="57"/>
                  </a:cubicBezTo>
                  <a:cubicBezTo>
                    <a:pt x="43" y="57"/>
                    <a:pt x="43" y="56"/>
                    <a:pt x="42" y="56"/>
                  </a:cubicBezTo>
                  <a:cubicBezTo>
                    <a:pt x="42" y="56"/>
                    <a:pt x="41" y="56"/>
                    <a:pt x="41" y="56"/>
                  </a:cubicBezTo>
                  <a:cubicBezTo>
                    <a:pt x="41" y="56"/>
                    <a:pt x="41" y="55"/>
                    <a:pt x="40" y="55"/>
                  </a:cubicBezTo>
                  <a:cubicBezTo>
                    <a:pt x="40" y="55"/>
                    <a:pt x="39" y="55"/>
                    <a:pt x="39" y="54"/>
                  </a:cubicBezTo>
                  <a:cubicBezTo>
                    <a:pt x="39" y="54"/>
                    <a:pt x="39" y="54"/>
                    <a:pt x="39" y="53"/>
                  </a:cubicBezTo>
                  <a:cubicBezTo>
                    <a:pt x="38" y="53"/>
                    <a:pt x="38" y="52"/>
                    <a:pt x="37" y="52"/>
                  </a:cubicBezTo>
                  <a:cubicBezTo>
                    <a:pt x="37" y="51"/>
                    <a:pt x="36" y="52"/>
                    <a:pt x="36" y="51"/>
                  </a:cubicBezTo>
                  <a:cubicBezTo>
                    <a:pt x="36" y="51"/>
                    <a:pt x="35" y="51"/>
                    <a:pt x="35" y="51"/>
                  </a:cubicBezTo>
                  <a:cubicBezTo>
                    <a:pt x="35" y="51"/>
                    <a:pt x="35" y="51"/>
                    <a:pt x="34" y="51"/>
                  </a:cubicBezTo>
                  <a:cubicBezTo>
                    <a:pt x="33" y="50"/>
                    <a:pt x="33" y="49"/>
                    <a:pt x="32" y="49"/>
                  </a:cubicBezTo>
                  <a:cubicBezTo>
                    <a:pt x="31" y="49"/>
                    <a:pt x="31" y="49"/>
                    <a:pt x="30" y="49"/>
                  </a:cubicBezTo>
                  <a:cubicBezTo>
                    <a:pt x="30" y="49"/>
                    <a:pt x="29" y="49"/>
                    <a:pt x="29" y="49"/>
                  </a:cubicBezTo>
                  <a:cubicBezTo>
                    <a:pt x="28" y="49"/>
                    <a:pt x="27" y="48"/>
                    <a:pt x="27" y="48"/>
                  </a:cubicBezTo>
                  <a:cubicBezTo>
                    <a:pt x="26" y="48"/>
                    <a:pt x="26" y="48"/>
                    <a:pt x="26" y="47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5" y="47"/>
                    <a:pt x="24" y="47"/>
                    <a:pt x="24" y="46"/>
                  </a:cubicBezTo>
                  <a:cubicBezTo>
                    <a:pt x="24" y="46"/>
                    <a:pt x="23" y="46"/>
                    <a:pt x="23" y="46"/>
                  </a:cubicBezTo>
                  <a:cubicBezTo>
                    <a:pt x="23" y="45"/>
                    <a:pt x="24" y="45"/>
                    <a:pt x="24" y="44"/>
                  </a:cubicBezTo>
                  <a:cubicBezTo>
                    <a:pt x="24" y="43"/>
                    <a:pt x="23" y="43"/>
                    <a:pt x="22" y="42"/>
                  </a:cubicBezTo>
                  <a:cubicBezTo>
                    <a:pt x="22" y="41"/>
                    <a:pt x="22" y="41"/>
                    <a:pt x="21" y="4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0"/>
                    <a:pt x="21" y="39"/>
                    <a:pt x="20" y="39"/>
                  </a:cubicBezTo>
                  <a:cubicBezTo>
                    <a:pt x="20" y="38"/>
                    <a:pt x="19" y="38"/>
                    <a:pt x="19" y="37"/>
                  </a:cubicBezTo>
                  <a:cubicBezTo>
                    <a:pt x="19" y="37"/>
                    <a:pt x="20" y="36"/>
                    <a:pt x="19" y="36"/>
                  </a:cubicBezTo>
                  <a:cubicBezTo>
                    <a:pt x="19" y="35"/>
                    <a:pt x="18" y="35"/>
                    <a:pt x="18" y="37"/>
                  </a:cubicBezTo>
                  <a:cubicBezTo>
                    <a:pt x="18" y="37"/>
                    <a:pt x="18" y="37"/>
                    <a:pt x="19" y="38"/>
                  </a:cubicBezTo>
                  <a:cubicBezTo>
                    <a:pt x="19" y="38"/>
                    <a:pt x="19" y="38"/>
                    <a:pt x="19" y="39"/>
                  </a:cubicBezTo>
                  <a:cubicBezTo>
                    <a:pt x="19" y="39"/>
                    <a:pt x="19" y="39"/>
                    <a:pt x="19" y="40"/>
                  </a:cubicBezTo>
                  <a:cubicBezTo>
                    <a:pt x="20" y="40"/>
                    <a:pt x="20" y="41"/>
                    <a:pt x="20" y="42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3"/>
                    <a:pt x="20" y="42"/>
                    <a:pt x="19" y="42"/>
                  </a:cubicBezTo>
                  <a:cubicBezTo>
                    <a:pt x="19" y="42"/>
                    <a:pt x="19" y="42"/>
                    <a:pt x="19" y="41"/>
                  </a:cubicBezTo>
                  <a:cubicBezTo>
                    <a:pt x="18" y="41"/>
                    <a:pt x="19" y="41"/>
                    <a:pt x="19" y="40"/>
                  </a:cubicBezTo>
                  <a:cubicBezTo>
                    <a:pt x="18" y="40"/>
                    <a:pt x="17" y="40"/>
                    <a:pt x="17" y="39"/>
                  </a:cubicBezTo>
                  <a:cubicBezTo>
                    <a:pt x="17" y="39"/>
                    <a:pt x="18" y="38"/>
                    <a:pt x="18" y="38"/>
                  </a:cubicBezTo>
                  <a:cubicBezTo>
                    <a:pt x="18" y="38"/>
                    <a:pt x="17" y="37"/>
                    <a:pt x="17" y="37"/>
                  </a:cubicBezTo>
                  <a:cubicBezTo>
                    <a:pt x="17" y="36"/>
                    <a:pt x="17" y="36"/>
                    <a:pt x="17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2"/>
                    <a:pt x="14" y="32"/>
                    <a:pt x="14" y="31"/>
                  </a:cubicBezTo>
                  <a:cubicBezTo>
                    <a:pt x="14" y="31"/>
                    <a:pt x="14" y="30"/>
                    <a:pt x="14" y="30"/>
                  </a:cubicBezTo>
                  <a:cubicBezTo>
                    <a:pt x="14" y="29"/>
                    <a:pt x="14" y="28"/>
                    <a:pt x="14" y="28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6"/>
                    <a:pt x="16" y="26"/>
                    <a:pt x="16" y="26"/>
                  </a:cubicBezTo>
                  <a:cubicBezTo>
                    <a:pt x="16" y="25"/>
                    <a:pt x="17" y="24"/>
                    <a:pt x="17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21"/>
                    <a:pt x="19" y="21"/>
                    <a:pt x="19" y="20"/>
                  </a:cubicBezTo>
                  <a:cubicBezTo>
                    <a:pt x="19" y="20"/>
                    <a:pt x="18" y="20"/>
                    <a:pt x="18" y="19"/>
                  </a:cubicBezTo>
                  <a:cubicBezTo>
                    <a:pt x="18" y="19"/>
                    <a:pt x="19" y="19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7"/>
                    <a:pt x="19" y="17"/>
                    <a:pt x="19" y="16"/>
                  </a:cubicBezTo>
                  <a:cubicBezTo>
                    <a:pt x="19" y="16"/>
                    <a:pt x="20" y="16"/>
                    <a:pt x="19" y="15"/>
                  </a:cubicBezTo>
                  <a:cubicBezTo>
                    <a:pt x="19" y="15"/>
                    <a:pt x="18" y="15"/>
                    <a:pt x="18" y="15"/>
                  </a:cubicBezTo>
                  <a:cubicBezTo>
                    <a:pt x="18" y="15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3" y="7"/>
                    <a:pt x="29" y="4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7" y="3"/>
                    <a:pt x="37" y="4"/>
                  </a:cubicBezTo>
                  <a:cubicBezTo>
                    <a:pt x="37" y="3"/>
                    <a:pt x="38" y="4"/>
                    <a:pt x="38" y="4"/>
                  </a:cubicBezTo>
                  <a:cubicBezTo>
                    <a:pt x="38" y="4"/>
                    <a:pt x="39" y="3"/>
                    <a:pt x="39" y="3"/>
                  </a:cubicBezTo>
                  <a:cubicBezTo>
                    <a:pt x="40" y="4"/>
                    <a:pt x="41" y="4"/>
                    <a:pt x="42" y="4"/>
                  </a:cubicBezTo>
                  <a:cubicBezTo>
                    <a:pt x="42" y="4"/>
                    <a:pt x="42" y="4"/>
                    <a:pt x="42" y="3"/>
                  </a:cubicBezTo>
                  <a:cubicBezTo>
                    <a:pt x="43" y="3"/>
                    <a:pt x="43" y="3"/>
                    <a:pt x="43" y="2"/>
                  </a:cubicBezTo>
                  <a:cubicBezTo>
                    <a:pt x="43" y="2"/>
                    <a:pt x="44" y="2"/>
                    <a:pt x="44" y="2"/>
                  </a:cubicBezTo>
                  <a:cubicBezTo>
                    <a:pt x="45" y="2"/>
                    <a:pt x="46" y="3"/>
                    <a:pt x="47" y="3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8" y="0"/>
                    <a:pt x="34" y="1"/>
                    <a:pt x="30" y="2"/>
                  </a:cubicBezTo>
                  <a:cubicBezTo>
                    <a:pt x="29" y="3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4"/>
                    <a:pt x="26" y="4"/>
                    <a:pt x="26" y="4"/>
                  </a:cubicBezTo>
                  <a:cubicBezTo>
                    <a:pt x="25" y="4"/>
                    <a:pt x="24" y="5"/>
                    <a:pt x="24" y="5"/>
                  </a:cubicBezTo>
                  <a:cubicBezTo>
                    <a:pt x="23" y="5"/>
                    <a:pt x="22" y="6"/>
                    <a:pt x="22" y="6"/>
                  </a:cubicBezTo>
                  <a:cubicBezTo>
                    <a:pt x="19" y="7"/>
                    <a:pt x="17" y="9"/>
                    <a:pt x="15" y="11"/>
                  </a:cubicBezTo>
                  <a:cubicBezTo>
                    <a:pt x="15" y="11"/>
                    <a:pt x="14" y="11"/>
                    <a:pt x="14" y="12"/>
                  </a:cubicBezTo>
                  <a:cubicBezTo>
                    <a:pt x="14" y="12"/>
                    <a:pt x="13" y="13"/>
                    <a:pt x="13" y="13"/>
                  </a:cubicBezTo>
                  <a:cubicBezTo>
                    <a:pt x="12" y="14"/>
                    <a:pt x="12" y="14"/>
                    <a:pt x="11" y="15"/>
                  </a:cubicBezTo>
                  <a:cubicBezTo>
                    <a:pt x="10" y="15"/>
                    <a:pt x="10" y="16"/>
                    <a:pt x="9" y="17"/>
                  </a:cubicBezTo>
                  <a:cubicBezTo>
                    <a:pt x="8" y="19"/>
                    <a:pt x="6" y="21"/>
                    <a:pt x="5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7"/>
                    <a:pt x="3" y="28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31"/>
                    <a:pt x="1" y="32"/>
                    <a:pt x="1" y="33"/>
                  </a:cubicBezTo>
                  <a:cubicBezTo>
                    <a:pt x="1" y="34"/>
                    <a:pt x="1" y="35"/>
                    <a:pt x="0" y="36"/>
                  </a:cubicBezTo>
                  <a:close/>
                  <a:moveTo>
                    <a:pt x="47" y="35"/>
                  </a:moveTo>
                  <a:cubicBezTo>
                    <a:pt x="47" y="55"/>
                    <a:pt x="47" y="55"/>
                    <a:pt x="47" y="55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6" y="56"/>
                    <a:pt x="46" y="55"/>
                    <a:pt x="45" y="55"/>
                  </a:cubicBezTo>
                  <a:cubicBezTo>
                    <a:pt x="44" y="55"/>
                    <a:pt x="44" y="55"/>
                    <a:pt x="43" y="55"/>
                  </a:cubicBezTo>
                  <a:cubicBezTo>
                    <a:pt x="42" y="55"/>
                    <a:pt x="41" y="54"/>
                    <a:pt x="41" y="53"/>
                  </a:cubicBezTo>
                  <a:cubicBezTo>
                    <a:pt x="41" y="53"/>
                    <a:pt x="41" y="52"/>
                    <a:pt x="41" y="51"/>
                  </a:cubicBezTo>
                  <a:cubicBezTo>
                    <a:pt x="41" y="51"/>
                    <a:pt x="42" y="51"/>
                    <a:pt x="42" y="50"/>
                  </a:cubicBezTo>
                  <a:cubicBezTo>
                    <a:pt x="42" y="50"/>
                    <a:pt x="41" y="49"/>
                    <a:pt x="40" y="49"/>
                  </a:cubicBezTo>
                  <a:cubicBezTo>
                    <a:pt x="40" y="49"/>
                    <a:pt x="38" y="50"/>
                    <a:pt x="37" y="49"/>
                  </a:cubicBezTo>
                  <a:cubicBezTo>
                    <a:pt x="37" y="49"/>
                    <a:pt x="38" y="49"/>
                    <a:pt x="38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38" y="47"/>
                    <a:pt x="38" y="46"/>
                    <a:pt x="39" y="46"/>
                  </a:cubicBezTo>
                  <a:cubicBezTo>
                    <a:pt x="39" y="46"/>
                    <a:pt x="39" y="45"/>
                    <a:pt x="39" y="45"/>
                  </a:cubicBezTo>
                  <a:cubicBezTo>
                    <a:pt x="39" y="45"/>
                    <a:pt x="39" y="44"/>
                    <a:pt x="39" y="44"/>
                  </a:cubicBezTo>
                  <a:cubicBezTo>
                    <a:pt x="38" y="44"/>
                    <a:pt x="37" y="44"/>
                    <a:pt x="37" y="44"/>
                  </a:cubicBezTo>
                  <a:cubicBezTo>
                    <a:pt x="36" y="45"/>
                    <a:pt x="36" y="46"/>
                    <a:pt x="35" y="47"/>
                  </a:cubicBezTo>
                  <a:cubicBezTo>
                    <a:pt x="35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1" y="47"/>
                    <a:pt x="31" y="46"/>
                  </a:cubicBezTo>
                  <a:cubicBezTo>
                    <a:pt x="31" y="46"/>
                    <a:pt x="30" y="45"/>
                    <a:pt x="30" y="45"/>
                  </a:cubicBezTo>
                  <a:cubicBezTo>
                    <a:pt x="30" y="43"/>
                    <a:pt x="30" y="42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40"/>
                    <a:pt x="31" y="40"/>
                    <a:pt x="32" y="39"/>
                  </a:cubicBezTo>
                  <a:cubicBezTo>
                    <a:pt x="32" y="39"/>
                    <a:pt x="33" y="38"/>
                    <a:pt x="33" y="38"/>
                  </a:cubicBezTo>
                  <a:cubicBezTo>
                    <a:pt x="34" y="38"/>
                    <a:pt x="34" y="37"/>
                    <a:pt x="35" y="37"/>
                  </a:cubicBezTo>
                  <a:cubicBezTo>
                    <a:pt x="36" y="37"/>
                    <a:pt x="36" y="37"/>
                    <a:pt x="37" y="37"/>
                  </a:cubicBezTo>
                  <a:cubicBezTo>
                    <a:pt x="37" y="37"/>
                    <a:pt x="37" y="37"/>
                    <a:pt x="38" y="37"/>
                  </a:cubicBezTo>
                  <a:cubicBezTo>
                    <a:pt x="38" y="38"/>
                    <a:pt x="39" y="37"/>
                    <a:pt x="39" y="36"/>
                  </a:cubicBezTo>
                  <a:cubicBezTo>
                    <a:pt x="40" y="37"/>
                    <a:pt x="41" y="36"/>
                    <a:pt x="41" y="36"/>
                  </a:cubicBezTo>
                  <a:cubicBezTo>
                    <a:pt x="42" y="36"/>
                    <a:pt x="42" y="37"/>
                    <a:pt x="42" y="37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4" y="37"/>
                    <a:pt x="44" y="37"/>
                    <a:pt x="44" y="38"/>
                  </a:cubicBezTo>
                  <a:cubicBezTo>
                    <a:pt x="44" y="38"/>
                    <a:pt x="44" y="39"/>
                    <a:pt x="44" y="39"/>
                  </a:cubicBezTo>
                  <a:cubicBezTo>
                    <a:pt x="44" y="40"/>
                    <a:pt x="45" y="40"/>
                    <a:pt x="46" y="40"/>
                  </a:cubicBezTo>
                  <a:cubicBezTo>
                    <a:pt x="46" y="40"/>
                    <a:pt x="46" y="39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36"/>
                    <a:pt x="46" y="35"/>
                    <a:pt x="47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sp>
        <p:nvSpPr>
          <p:cNvPr id="96" name="Freeform 41"/>
          <p:cNvSpPr/>
          <p:nvPr/>
        </p:nvSpPr>
        <p:spPr bwMode="auto">
          <a:xfrm>
            <a:off x="9492302" y="5444601"/>
            <a:ext cx="1522709" cy="635268"/>
          </a:xfrm>
          <a:custGeom>
            <a:avLst/>
            <a:gdLst>
              <a:gd name="T0" fmla="*/ 537 w 733"/>
              <a:gd name="T1" fmla="*/ 173 h 306"/>
              <a:gd name="T2" fmla="*/ 543 w 733"/>
              <a:gd name="T3" fmla="*/ 306 h 306"/>
              <a:gd name="T4" fmla="*/ 338 w 733"/>
              <a:gd name="T5" fmla="*/ 173 h 306"/>
              <a:gd name="T6" fmla="*/ 39 w 733"/>
              <a:gd name="T7" fmla="*/ 89 h 306"/>
              <a:gd name="T8" fmla="*/ 300 w 733"/>
              <a:gd name="T9" fmla="*/ 0 h 306"/>
              <a:gd name="T10" fmla="*/ 702 w 733"/>
              <a:gd name="T11" fmla="*/ 89 h 306"/>
              <a:gd name="T12" fmla="*/ 537 w 733"/>
              <a:gd name="T13" fmla="*/ 173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33" h="306">
                <a:moveTo>
                  <a:pt x="537" y="173"/>
                </a:moveTo>
                <a:cubicBezTo>
                  <a:pt x="543" y="306"/>
                  <a:pt x="543" y="306"/>
                  <a:pt x="543" y="306"/>
                </a:cubicBezTo>
                <a:cubicBezTo>
                  <a:pt x="338" y="173"/>
                  <a:pt x="338" y="173"/>
                  <a:pt x="338" y="173"/>
                </a:cubicBezTo>
                <a:cubicBezTo>
                  <a:pt x="195" y="162"/>
                  <a:pt x="70" y="128"/>
                  <a:pt x="39" y="89"/>
                </a:cubicBezTo>
                <a:cubicBezTo>
                  <a:pt x="0" y="40"/>
                  <a:pt x="117" y="0"/>
                  <a:pt x="300" y="0"/>
                </a:cubicBezTo>
                <a:cubicBezTo>
                  <a:pt x="483" y="0"/>
                  <a:pt x="663" y="40"/>
                  <a:pt x="702" y="89"/>
                </a:cubicBezTo>
                <a:cubicBezTo>
                  <a:pt x="733" y="128"/>
                  <a:pt x="662" y="162"/>
                  <a:pt x="537" y="173"/>
                </a:cubicBezTo>
                <a:close/>
              </a:path>
            </a:pathLst>
          </a:custGeom>
          <a:solidFill>
            <a:srgbClr val="D0DB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97" name="Group 21"/>
          <p:cNvGrpSpPr/>
          <p:nvPr/>
        </p:nvGrpSpPr>
        <p:grpSpPr>
          <a:xfrm>
            <a:off x="10906937" y="5173975"/>
            <a:ext cx="236358" cy="188911"/>
            <a:chOff x="10496305" y="4420184"/>
            <a:chExt cx="236358" cy="188911"/>
          </a:xfrm>
        </p:grpSpPr>
        <p:sp>
          <p:nvSpPr>
            <p:cNvPr id="98" name="Freeform 45"/>
            <p:cNvSpPr/>
            <p:nvPr/>
          </p:nvSpPr>
          <p:spPr bwMode="auto">
            <a:xfrm>
              <a:off x="10496305" y="4420184"/>
              <a:ext cx="201212" cy="188911"/>
            </a:xfrm>
            <a:custGeom>
              <a:avLst/>
              <a:gdLst>
                <a:gd name="T0" fmla="*/ 58 w 97"/>
                <a:gd name="T1" fmla="*/ 45 h 91"/>
                <a:gd name="T2" fmla="*/ 74 w 97"/>
                <a:gd name="T3" fmla="*/ 32 h 91"/>
                <a:gd name="T4" fmla="*/ 78 w 97"/>
                <a:gd name="T5" fmla="*/ 32 h 91"/>
                <a:gd name="T6" fmla="*/ 89 w 97"/>
                <a:gd name="T7" fmla="*/ 40 h 91"/>
                <a:gd name="T8" fmla="*/ 96 w 97"/>
                <a:gd name="T9" fmla="*/ 37 h 91"/>
                <a:gd name="T10" fmla="*/ 96 w 97"/>
                <a:gd name="T11" fmla="*/ 22 h 91"/>
                <a:gd name="T12" fmla="*/ 65 w 97"/>
                <a:gd name="T13" fmla="*/ 3 h 91"/>
                <a:gd name="T14" fmla="*/ 47 w 97"/>
                <a:gd name="T15" fmla="*/ 20 h 91"/>
                <a:gd name="T16" fmla="*/ 22 w 97"/>
                <a:gd name="T17" fmla="*/ 13 h 91"/>
                <a:gd name="T18" fmla="*/ 3 w 97"/>
                <a:gd name="T19" fmla="*/ 43 h 91"/>
                <a:gd name="T20" fmla="*/ 62 w 97"/>
                <a:gd name="T21" fmla="*/ 91 h 91"/>
                <a:gd name="T22" fmla="*/ 72 w 97"/>
                <a:gd name="T23" fmla="*/ 82 h 91"/>
                <a:gd name="T24" fmla="*/ 58 w 97"/>
                <a:gd name="T25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91">
                  <a:moveTo>
                    <a:pt x="58" y="45"/>
                  </a:moveTo>
                  <a:cubicBezTo>
                    <a:pt x="60" y="37"/>
                    <a:pt x="66" y="32"/>
                    <a:pt x="74" y="32"/>
                  </a:cubicBezTo>
                  <a:cubicBezTo>
                    <a:pt x="76" y="32"/>
                    <a:pt x="77" y="32"/>
                    <a:pt x="78" y="32"/>
                  </a:cubicBezTo>
                  <a:cubicBezTo>
                    <a:pt x="83" y="33"/>
                    <a:pt x="87" y="36"/>
                    <a:pt x="89" y="40"/>
                  </a:cubicBezTo>
                  <a:cubicBezTo>
                    <a:pt x="91" y="39"/>
                    <a:pt x="94" y="38"/>
                    <a:pt x="96" y="37"/>
                  </a:cubicBezTo>
                  <a:cubicBezTo>
                    <a:pt x="97" y="28"/>
                    <a:pt x="96" y="22"/>
                    <a:pt x="96" y="22"/>
                  </a:cubicBezTo>
                  <a:cubicBezTo>
                    <a:pt x="93" y="9"/>
                    <a:pt x="79" y="0"/>
                    <a:pt x="65" y="3"/>
                  </a:cubicBezTo>
                  <a:cubicBezTo>
                    <a:pt x="56" y="5"/>
                    <a:pt x="49" y="12"/>
                    <a:pt x="47" y="20"/>
                  </a:cubicBezTo>
                  <a:cubicBezTo>
                    <a:pt x="41" y="14"/>
                    <a:pt x="31" y="10"/>
                    <a:pt x="22" y="13"/>
                  </a:cubicBezTo>
                  <a:cubicBezTo>
                    <a:pt x="8" y="16"/>
                    <a:pt x="0" y="29"/>
                    <a:pt x="3" y="43"/>
                  </a:cubicBezTo>
                  <a:cubicBezTo>
                    <a:pt x="3" y="43"/>
                    <a:pt x="8" y="77"/>
                    <a:pt x="62" y="91"/>
                  </a:cubicBezTo>
                  <a:cubicBezTo>
                    <a:pt x="66" y="88"/>
                    <a:pt x="69" y="85"/>
                    <a:pt x="72" y="82"/>
                  </a:cubicBezTo>
                  <a:cubicBezTo>
                    <a:pt x="54" y="63"/>
                    <a:pt x="57" y="47"/>
                    <a:pt x="58" y="45"/>
                  </a:cubicBez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99" name="Freeform 46"/>
            <p:cNvSpPr/>
            <p:nvPr/>
          </p:nvSpPr>
          <p:spPr bwMode="auto">
            <a:xfrm>
              <a:off x="10612287" y="4493113"/>
              <a:ext cx="120376" cy="101924"/>
            </a:xfrm>
            <a:custGeom>
              <a:avLst/>
              <a:gdLst>
                <a:gd name="T0" fmla="*/ 46 w 58"/>
                <a:gd name="T1" fmla="*/ 6 h 49"/>
                <a:gd name="T2" fmla="*/ 42 w 58"/>
                <a:gd name="T3" fmla="*/ 5 h 49"/>
                <a:gd name="T4" fmla="*/ 40 w 58"/>
                <a:gd name="T5" fmla="*/ 5 h 49"/>
                <a:gd name="T6" fmla="*/ 32 w 58"/>
                <a:gd name="T7" fmla="*/ 10 h 49"/>
                <a:gd name="T8" fmla="*/ 22 w 58"/>
                <a:gd name="T9" fmla="*/ 0 h 49"/>
                <a:gd name="T10" fmla="*/ 18 w 58"/>
                <a:gd name="T11" fmla="*/ 0 h 49"/>
                <a:gd name="T12" fmla="*/ 5 w 58"/>
                <a:gd name="T13" fmla="*/ 11 h 49"/>
                <a:gd name="T14" fmla="*/ 18 w 58"/>
                <a:gd name="T15" fmla="*/ 45 h 49"/>
                <a:gd name="T16" fmla="*/ 23 w 58"/>
                <a:gd name="T17" fmla="*/ 49 h 49"/>
                <a:gd name="T18" fmla="*/ 56 w 58"/>
                <a:gd name="T19" fmla="*/ 23 h 49"/>
                <a:gd name="T20" fmla="*/ 46 w 58"/>
                <a:gd name="T21" fmla="*/ 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49">
                  <a:moveTo>
                    <a:pt x="46" y="6"/>
                  </a:moveTo>
                  <a:cubicBezTo>
                    <a:pt x="45" y="5"/>
                    <a:pt x="43" y="5"/>
                    <a:pt x="42" y="5"/>
                  </a:cubicBezTo>
                  <a:cubicBezTo>
                    <a:pt x="42" y="5"/>
                    <a:pt x="41" y="5"/>
                    <a:pt x="40" y="5"/>
                  </a:cubicBezTo>
                  <a:cubicBezTo>
                    <a:pt x="37" y="6"/>
                    <a:pt x="34" y="8"/>
                    <a:pt x="32" y="10"/>
                  </a:cubicBezTo>
                  <a:cubicBezTo>
                    <a:pt x="31" y="5"/>
                    <a:pt x="27" y="1"/>
                    <a:pt x="22" y="0"/>
                  </a:cubicBezTo>
                  <a:cubicBezTo>
                    <a:pt x="21" y="0"/>
                    <a:pt x="20" y="0"/>
                    <a:pt x="18" y="0"/>
                  </a:cubicBezTo>
                  <a:cubicBezTo>
                    <a:pt x="12" y="0"/>
                    <a:pt x="6" y="4"/>
                    <a:pt x="5" y="11"/>
                  </a:cubicBezTo>
                  <a:cubicBezTo>
                    <a:pt x="5" y="11"/>
                    <a:pt x="0" y="27"/>
                    <a:pt x="18" y="45"/>
                  </a:cubicBezTo>
                  <a:cubicBezTo>
                    <a:pt x="20" y="46"/>
                    <a:pt x="21" y="48"/>
                    <a:pt x="23" y="49"/>
                  </a:cubicBezTo>
                  <a:cubicBezTo>
                    <a:pt x="53" y="41"/>
                    <a:pt x="56" y="23"/>
                    <a:pt x="56" y="23"/>
                  </a:cubicBezTo>
                  <a:cubicBezTo>
                    <a:pt x="58" y="15"/>
                    <a:pt x="53" y="7"/>
                    <a:pt x="46" y="6"/>
                  </a:cubicBez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100" name="Group 46"/>
          <p:cNvGrpSpPr/>
          <p:nvPr/>
        </p:nvGrpSpPr>
        <p:grpSpPr>
          <a:xfrm>
            <a:off x="9932509" y="3696955"/>
            <a:ext cx="1377731" cy="2382914"/>
            <a:chOff x="9521877" y="2943164"/>
            <a:chExt cx="1377731" cy="2382914"/>
          </a:xfrm>
        </p:grpSpPr>
        <p:sp>
          <p:nvSpPr>
            <p:cNvPr id="101" name="Freeform 42"/>
            <p:cNvSpPr/>
            <p:nvPr/>
          </p:nvSpPr>
          <p:spPr bwMode="auto">
            <a:xfrm>
              <a:off x="9977020" y="3925501"/>
              <a:ext cx="464808" cy="1400577"/>
            </a:xfrm>
            <a:custGeom>
              <a:avLst/>
              <a:gdLst>
                <a:gd name="T0" fmla="*/ 265 w 529"/>
                <a:gd name="T1" fmla="*/ 1594 h 1594"/>
                <a:gd name="T2" fmla="*/ 0 w 529"/>
                <a:gd name="T3" fmla="*/ 265 h 1594"/>
                <a:gd name="T4" fmla="*/ 220 w 529"/>
                <a:gd name="T5" fmla="*/ 0 h 1594"/>
                <a:gd name="T6" fmla="*/ 529 w 529"/>
                <a:gd name="T7" fmla="*/ 265 h 1594"/>
                <a:gd name="T8" fmla="*/ 265 w 529"/>
                <a:gd name="T9" fmla="*/ 1594 h 1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594">
                  <a:moveTo>
                    <a:pt x="265" y="1594"/>
                  </a:moveTo>
                  <a:lnTo>
                    <a:pt x="0" y="265"/>
                  </a:lnTo>
                  <a:lnTo>
                    <a:pt x="220" y="0"/>
                  </a:lnTo>
                  <a:lnTo>
                    <a:pt x="529" y="265"/>
                  </a:lnTo>
                  <a:lnTo>
                    <a:pt x="265" y="15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2" name="Oval 43"/>
            <p:cNvSpPr>
              <a:spLocks noChangeArrowheads="1"/>
            </p:cNvSpPr>
            <p:nvPr/>
          </p:nvSpPr>
          <p:spPr bwMode="auto">
            <a:xfrm>
              <a:off x="9521877" y="2943164"/>
              <a:ext cx="1377731" cy="13777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3" name="Oval 44"/>
            <p:cNvSpPr>
              <a:spLocks noChangeArrowheads="1"/>
            </p:cNvSpPr>
            <p:nvPr/>
          </p:nvSpPr>
          <p:spPr bwMode="auto">
            <a:xfrm>
              <a:off x="9666855" y="3088142"/>
              <a:ext cx="1085139" cy="10851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4" name="TextBox 50"/>
            <p:cNvSpPr txBox="1"/>
            <p:nvPr/>
          </p:nvSpPr>
          <p:spPr>
            <a:xfrm>
              <a:off x="9773811" y="3247443"/>
              <a:ext cx="88037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FA415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04</a:t>
              </a:r>
              <a:endPara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A415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123" name="Group 60"/>
          <p:cNvGrpSpPr/>
          <p:nvPr/>
        </p:nvGrpSpPr>
        <p:grpSpPr>
          <a:xfrm>
            <a:off x="1830778" y="5250419"/>
            <a:ext cx="3570208" cy="808261"/>
            <a:chOff x="1811642" y="4589332"/>
            <a:chExt cx="3570208" cy="808261"/>
          </a:xfrm>
        </p:grpSpPr>
        <p:sp>
          <p:nvSpPr>
            <p:cNvPr id="124" name="TextBox 61"/>
            <p:cNvSpPr txBox="1"/>
            <p:nvPr/>
          </p:nvSpPr>
          <p:spPr>
            <a:xfrm>
              <a:off x="1811642" y="4589332"/>
              <a:ext cx="35702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noProof="0" dirty="0">
                  <a:solidFill>
                    <a:srgbClr val="FF222A"/>
                  </a:solidFill>
                  <a:latin typeface="Roboto Light"/>
                  <a:ea typeface="+mn-ea"/>
                </a:rPr>
                <a:t>执行用户编写的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222A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rPr>
                <a:t>回调函数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222A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5" name="TextBox 62"/>
            <p:cNvSpPr txBox="1"/>
            <p:nvPr/>
          </p:nvSpPr>
          <p:spPr>
            <a:xfrm>
              <a:off x="1811642" y="4967219"/>
              <a:ext cx="3502278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noProof="0" dirty="0">
                  <a:latin typeface="Roboto Light"/>
                  <a:ea typeface="+mn-ea"/>
                </a:rPr>
                <a:t>完成具体的中断任务处理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rPr>
                <a:t>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grpSp>
        <p:nvGrpSpPr>
          <p:cNvPr id="129" name="Group 84"/>
          <p:cNvGrpSpPr/>
          <p:nvPr/>
        </p:nvGrpSpPr>
        <p:grpSpPr>
          <a:xfrm>
            <a:off x="1119878" y="5325604"/>
            <a:ext cx="622647" cy="622647"/>
            <a:chOff x="1100743" y="5387903"/>
            <a:chExt cx="622647" cy="622647"/>
          </a:xfrm>
        </p:grpSpPr>
        <p:sp>
          <p:nvSpPr>
            <p:cNvPr id="130" name="Oval 85"/>
            <p:cNvSpPr/>
            <p:nvPr/>
          </p:nvSpPr>
          <p:spPr>
            <a:xfrm>
              <a:off x="1100743" y="5387903"/>
              <a:ext cx="622647" cy="62264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grpSp>
          <p:nvGrpSpPr>
            <p:cNvPr id="131" name="Group 86"/>
            <p:cNvGrpSpPr/>
            <p:nvPr/>
          </p:nvGrpSpPr>
          <p:grpSpPr>
            <a:xfrm>
              <a:off x="1220201" y="5545877"/>
              <a:ext cx="383730" cy="306699"/>
              <a:chOff x="10496305" y="4420184"/>
              <a:chExt cx="236358" cy="188911"/>
            </a:xfrm>
            <a:solidFill>
              <a:schemeClr val="bg1"/>
            </a:solidFill>
          </p:grpSpPr>
          <p:sp>
            <p:nvSpPr>
              <p:cNvPr id="132" name="Freeform 45"/>
              <p:cNvSpPr/>
              <p:nvPr/>
            </p:nvSpPr>
            <p:spPr bwMode="auto">
              <a:xfrm>
                <a:off x="10496305" y="4420184"/>
                <a:ext cx="201212" cy="188911"/>
              </a:xfrm>
              <a:custGeom>
                <a:avLst/>
                <a:gdLst>
                  <a:gd name="T0" fmla="*/ 58 w 97"/>
                  <a:gd name="T1" fmla="*/ 45 h 91"/>
                  <a:gd name="T2" fmla="*/ 74 w 97"/>
                  <a:gd name="T3" fmla="*/ 32 h 91"/>
                  <a:gd name="T4" fmla="*/ 78 w 97"/>
                  <a:gd name="T5" fmla="*/ 32 h 91"/>
                  <a:gd name="T6" fmla="*/ 89 w 97"/>
                  <a:gd name="T7" fmla="*/ 40 h 91"/>
                  <a:gd name="T8" fmla="*/ 96 w 97"/>
                  <a:gd name="T9" fmla="*/ 37 h 91"/>
                  <a:gd name="T10" fmla="*/ 96 w 97"/>
                  <a:gd name="T11" fmla="*/ 22 h 91"/>
                  <a:gd name="T12" fmla="*/ 65 w 97"/>
                  <a:gd name="T13" fmla="*/ 3 h 91"/>
                  <a:gd name="T14" fmla="*/ 47 w 97"/>
                  <a:gd name="T15" fmla="*/ 20 h 91"/>
                  <a:gd name="T16" fmla="*/ 22 w 97"/>
                  <a:gd name="T17" fmla="*/ 13 h 91"/>
                  <a:gd name="T18" fmla="*/ 3 w 97"/>
                  <a:gd name="T19" fmla="*/ 43 h 91"/>
                  <a:gd name="T20" fmla="*/ 62 w 97"/>
                  <a:gd name="T21" fmla="*/ 91 h 91"/>
                  <a:gd name="T22" fmla="*/ 72 w 97"/>
                  <a:gd name="T23" fmla="*/ 82 h 91"/>
                  <a:gd name="T24" fmla="*/ 58 w 97"/>
                  <a:gd name="T25" fmla="*/ 45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7" h="91">
                    <a:moveTo>
                      <a:pt x="58" y="45"/>
                    </a:moveTo>
                    <a:cubicBezTo>
                      <a:pt x="60" y="37"/>
                      <a:pt x="66" y="32"/>
                      <a:pt x="74" y="32"/>
                    </a:cubicBezTo>
                    <a:cubicBezTo>
                      <a:pt x="76" y="32"/>
                      <a:pt x="77" y="32"/>
                      <a:pt x="78" y="32"/>
                    </a:cubicBezTo>
                    <a:cubicBezTo>
                      <a:pt x="83" y="33"/>
                      <a:pt x="87" y="36"/>
                      <a:pt x="89" y="40"/>
                    </a:cubicBezTo>
                    <a:cubicBezTo>
                      <a:pt x="91" y="39"/>
                      <a:pt x="94" y="38"/>
                      <a:pt x="96" y="37"/>
                    </a:cubicBezTo>
                    <a:cubicBezTo>
                      <a:pt x="97" y="28"/>
                      <a:pt x="96" y="22"/>
                      <a:pt x="96" y="22"/>
                    </a:cubicBezTo>
                    <a:cubicBezTo>
                      <a:pt x="93" y="9"/>
                      <a:pt x="79" y="0"/>
                      <a:pt x="65" y="3"/>
                    </a:cubicBezTo>
                    <a:cubicBezTo>
                      <a:pt x="56" y="5"/>
                      <a:pt x="49" y="12"/>
                      <a:pt x="47" y="20"/>
                    </a:cubicBezTo>
                    <a:cubicBezTo>
                      <a:pt x="41" y="14"/>
                      <a:pt x="31" y="10"/>
                      <a:pt x="22" y="13"/>
                    </a:cubicBezTo>
                    <a:cubicBezTo>
                      <a:pt x="8" y="16"/>
                      <a:pt x="0" y="29"/>
                      <a:pt x="3" y="43"/>
                    </a:cubicBezTo>
                    <a:cubicBezTo>
                      <a:pt x="3" y="43"/>
                      <a:pt x="8" y="77"/>
                      <a:pt x="62" y="91"/>
                    </a:cubicBezTo>
                    <a:cubicBezTo>
                      <a:pt x="66" y="88"/>
                      <a:pt x="69" y="85"/>
                      <a:pt x="72" y="82"/>
                    </a:cubicBezTo>
                    <a:cubicBezTo>
                      <a:pt x="54" y="63"/>
                      <a:pt x="57" y="47"/>
                      <a:pt x="58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133" name="Freeform 46"/>
              <p:cNvSpPr/>
              <p:nvPr/>
            </p:nvSpPr>
            <p:spPr bwMode="auto">
              <a:xfrm>
                <a:off x="10612287" y="4493113"/>
                <a:ext cx="120376" cy="101924"/>
              </a:xfrm>
              <a:custGeom>
                <a:avLst/>
                <a:gdLst>
                  <a:gd name="T0" fmla="*/ 46 w 58"/>
                  <a:gd name="T1" fmla="*/ 6 h 49"/>
                  <a:gd name="T2" fmla="*/ 42 w 58"/>
                  <a:gd name="T3" fmla="*/ 5 h 49"/>
                  <a:gd name="T4" fmla="*/ 40 w 58"/>
                  <a:gd name="T5" fmla="*/ 5 h 49"/>
                  <a:gd name="T6" fmla="*/ 32 w 58"/>
                  <a:gd name="T7" fmla="*/ 10 h 49"/>
                  <a:gd name="T8" fmla="*/ 22 w 58"/>
                  <a:gd name="T9" fmla="*/ 0 h 49"/>
                  <a:gd name="T10" fmla="*/ 18 w 58"/>
                  <a:gd name="T11" fmla="*/ 0 h 49"/>
                  <a:gd name="T12" fmla="*/ 5 w 58"/>
                  <a:gd name="T13" fmla="*/ 11 h 49"/>
                  <a:gd name="T14" fmla="*/ 18 w 58"/>
                  <a:gd name="T15" fmla="*/ 45 h 49"/>
                  <a:gd name="T16" fmla="*/ 23 w 58"/>
                  <a:gd name="T17" fmla="*/ 49 h 49"/>
                  <a:gd name="T18" fmla="*/ 56 w 58"/>
                  <a:gd name="T19" fmla="*/ 23 h 49"/>
                  <a:gd name="T20" fmla="*/ 46 w 58"/>
                  <a:gd name="T21" fmla="*/ 6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" h="49">
                    <a:moveTo>
                      <a:pt x="46" y="6"/>
                    </a:moveTo>
                    <a:cubicBezTo>
                      <a:pt x="45" y="5"/>
                      <a:pt x="43" y="5"/>
                      <a:pt x="42" y="5"/>
                    </a:cubicBezTo>
                    <a:cubicBezTo>
                      <a:pt x="42" y="5"/>
                      <a:pt x="41" y="5"/>
                      <a:pt x="40" y="5"/>
                    </a:cubicBezTo>
                    <a:cubicBezTo>
                      <a:pt x="37" y="6"/>
                      <a:pt x="34" y="8"/>
                      <a:pt x="32" y="10"/>
                    </a:cubicBezTo>
                    <a:cubicBezTo>
                      <a:pt x="31" y="5"/>
                      <a:pt x="27" y="1"/>
                      <a:pt x="22" y="0"/>
                    </a:cubicBezTo>
                    <a:cubicBezTo>
                      <a:pt x="21" y="0"/>
                      <a:pt x="20" y="0"/>
                      <a:pt x="18" y="0"/>
                    </a:cubicBezTo>
                    <a:cubicBezTo>
                      <a:pt x="12" y="0"/>
                      <a:pt x="6" y="4"/>
                      <a:pt x="5" y="11"/>
                    </a:cubicBezTo>
                    <a:cubicBezTo>
                      <a:pt x="5" y="11"/>
                      <a:pt x="0" y="27"/>
                      <a:pt x="18" y="45"/>
                    </a:cubicBezTo>
                    <a:cubicBezTo>
                      <a:pt x="20" y="46"/>
                      <a:pt x="21" y="48"/>
                      <a:pt x="23" y="49"/>
                    </a:cubicBezTo>
                    <a:cubicBezTo>
                      <a:pt x="53" y="41"/>
                      <a:pt x="56" y="23"/>
                      <a:pt x="56" y="23"/>
                    </a:cubicBezTo>
                    <a:cubicBezTo>
                      <a:pt x="58" y="15"/>
                      <a:pt x="53" y="7"/>
                      <a:pt x="4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7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Rectangle 52"/>
          <p:cNvSpPr/>
          <p:nvPr/>
        </p:nvSpPr>
        <p:spPr>
          <a:xfrm>
            <a:off x="3873407" y="1071641"/>
            <a:ext cx="418106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HAL</a:t>
            </a:r>
            <a:r>
              <a:rPr lang="zh-CN" altLang="en-US" sz="2800" b="1" dirty="0">
                <a:latin typeface="+mn-ea"/>
                <a:ea typeface="+mn-ea"/>
              </a:rPr>
              <a:t>库外部中断处理流程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5498" y="1104044"/>
            <a:ext cx="688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ISR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8593" y="414638"/>
            <a:ext cx="10311884" cy="641002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1.	/* USER CODE BEGIN 4 */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2.	void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HAL_GPIO_EXTI_Callback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(uint16_t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3.	{  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4.	  switch(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5.	  {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6.	     case GPIO_PIN_0:                 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引脚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PC0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对应的中断处理任务</a:t>
            </a:r>
            <a:endParaRPr lang="zh-CN" altLang="en-US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7.	     /* GPIO_PIN_0 EXTI handling */  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8.	     break;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9.	     case GPIO_PIN_13: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10.	     /*GPIO_PIN_13 EXTI handling */   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引脚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PC13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对应的中断处理任务</a:t>
            </a:r>
            <a:endParaRPr lang="zh-CN" altLang="en-US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11.	     break;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12.	     case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GPIO_PIN_x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:                 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引脚</a:t>
            </a:r>
            <a:r>
              <a:rPr lang="en-US" altLang="zh-CN" sz="20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PCx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对应的中断任务</a:t>
            </a:r>
            <a:endParaRPr lang="zh-CN" altLang="en-US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13.	     /*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GPIO_PIN_x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EXTI handling */  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14.	     break;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15.	     ......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16.	     default:  break;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17.  	}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18.}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19./* USER CODE END 4 */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1" name="Rectangle 52"/>
          <p:cNvSpPr/>
          <p:nvPr/>
        </p:nvSpPr>
        <p:spPr>
          <a:xfrm>
            <a:off x="4766661" y="141149"/>
            <a:ext cx="6706746" cy="523220"/>
          </a:xfrm>
          <a:prstGeom prst="rect">
            <a:avLst/>
          </a:prstGeom>
          <a:solidFill>
            <a:srgbClr val="E44B46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在</a:t>
            </a:r>
            <a:r>
              <a:rPr lang="en-US" altLang="zh-CN" sz="2800" b="1" dirty="0" err="1">
                <a:solidFill>
                  <a:schemeClr val="bg1"/>
                </a:solidFill>
                <a:latin typeface="+mn-ea"/>
                <a:ea typeface="+mn-ea"/>
              </a:rPr>
              <a:t>main.c</a:t>
            </a: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文件中编写外部中断的回调函数</a:t>
            </a:r>
            <a:endParaRPr lang="zh-CN" altLang="en-US" sz="2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77105" y="1437319"/>
            <a:ext cx="4979113" cy="46771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标注 7"/>
          <p:cNvSpPr/>
          <p:nvPr/>
        </p:nvSpPr>
        <p:spPr>
          <a:xfrm>
            <a:off x="6870700" y="4617207"/>
            <a:ext cx="4159777" cy="2050195"/>
          </a:xfrm>
          <a:prstGeom prst="wedgeRoundRectCallout">
            <a:avLst>
              <a:gd name="adj1" fmla="val -59237"/>
              <a:gd name="adj2" fmla="val -2841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所有的外部中断服务程序都会调用该回调函数。如果系统中存在多个外部中断时，需要判断是哪一个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GPIO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引脚触发的本次外部中断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61523" y="494447"/>
            <a:ext cx="3376128" cy="326471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61523" y="6410227"/>
            <a:ext cx="3376128" cy="326471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60863" y="744718"/>
            <a:ext cx="2716250" cy="3833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775836" y="2117966"/>
            <a:ext cx="8772758" cy="942950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775835" y="3148175"/>
            <a:ext cx="8772758" cy="942950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5498" y="1104044"/>
            <a:ext cx="688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ISR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2242" y="344261"/>
            <a:ext cx="11847516" cy="6343083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1.	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2.	 * @brief  EXTI line detection callbacks.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3.	 * @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param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Specifies the pins connected EXTI line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4.	 * @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retval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None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5.	 */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6.	__weak void 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HAL_GPIO_EXTI_Callback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(uint16_t 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  </a:t>
            </a:r>
            <a:endParaRPr lang="en-US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7.	{  </a:t>
            </a:r>
            <a:endParaRPr lang="en-US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8.	  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Prevent unused argument(s) compilation warning */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9.	  UNUSED(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);  </a:t>
            </a:r>
            <a:endParaRPr lang="en-US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lnSpc>
                <a:spcPts val="3500"/>
              </a:lnSpc>
              <a:spcAft>
                <a:spcPts val="0"/>
              </a:spcAft>
              <a:buAutoNum type="arabicPeriod" startAt="10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NOTE:This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function Should not be modified, when the   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           callback is 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needed,the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HAL_GPIO_EXTI_Callback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           could be implemented in the user file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12.  */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13.	} </a:t>
            </a:r>
            <a:endParaRPr lang="en-US" altLang="zh-CN" sz="24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1" name="Rectangle 52"/>
          <p:cNvSpPr/>
          <p:nvPr/>
        </p:nvSpPr>
        <p:spPr>
          <a:xfrm>
            <a:off x="1919208" y="149792"/>
            <a:ext cx="8353584" cy="523220"/>
          </a:xfrm>
          <a:prstGeom prst="rect">
            <a:avLst/>
          </a:prstGeom>
          <a:solidFill>
            <a:srgbClr val="E44B46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+mn-ea"/>
                <a:ea typeface="+mn-ea"/>
              </a:rPr>
              <a:t>stm32f4xx_hal_gpio.c</a:t>
            </a: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文件中定义的默认回调函数</a:t>
            </a:r>
            <a:endParaRPr lang="zh-CN" altLang="en-US" sz="2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5498" y="2669150"/>
            <a:ext cx="1260247" cy="4342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标注 7"/>
          <p:cNvSpPr/>
          <p:nvPr/>
        </p:nvSpPr>
        <p:spPr>
          <a:xfrm>
            <a:off x="1865745" y="1350967"/>
            <a:ext cx="4910923" cy="991563"/>
          </a:xfrm>
          <a:prstGeom prst="wedgeRoundRectCallout">
            <a:avLst>
              <a:gd name="adj1" fmla="val -48509"/>
              <a:gd name="adj2" fmla="val 80575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默认的回调函数采用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weak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属性定义，用户需要编写同名的回调函数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49503" y="3959859"/>
            <a:ext cx="3151158" cy="4342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标注 7"/>
          <p:cNvSpPr/>
          <p:nvPr/>
        </p:nvSpPr>
        <p:spPr>
          <a:xfrm>
            <a:off x="4458036" y="3114867"/>
            <a:ext cx="2753470" cy="820595"/>
          </a:xfrm>
          <a:prstGeom prst="wedgeRoundRectCallout">
            <a:avLst>
              <a:gd name="adj1" fmla="val -59106"/>
              <a:gd name="adj2" fmla="val 81486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避免编译器的警告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42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五边形 45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燕尾形 46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51533" y="1104044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流程图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9" name="object 26"/>
          <p:cNvSpPr/>
          <p:nvPr/>
        </p:nvSpPr>
        <p:spPr>
          <a:xfrm>
            <a:off x="4129239" y="1695115"/>
            <a:ext cx="112138" cy="5151480"/>
          </a:xfrm>
          <a:custGeom>
            <a:avLst/>
            <a:gdLst/>
            <a:ahLst/>
            <a:cxnLst/>
            <a:rect l="l" t="t" r="r" b="b"/>
            <a:pathLst>
              <a:path h="5286375">
                <a:moveTo>
                  <a:pt x="0" y="0"/>
                </a:moveTo>
                <a:lnTo>
                  <a:pt x="0" y="5286374"/>
                </a:lnTo>
              </a:path>
            </a:pathLst>
          </a:custGeom>
          <a:ln w="57150">
            <a:solidFill>
              <a:schemeClr val="tx1"/>
            </a:solidFill>
            <a:prstDash val="lgDash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15"/>
          <p:cNvSpPr txBox="1"/>
          <p:nvPr/>
        </p:nvSpPr>
        <p:spPr>
          <a:xfrm>
            <a:off x="907021" y="3543151"/>
            <a:ext cx="2748246" cy="451448"/>
          </a:xfrm>
          <a:prstGeom prst="rect">
            <a:avLst/>
          </a:prstGeom>
          <a:noFill/>
          <a:ln w="25400">
            <a:solidFill>
              <a:srgbClr val="39A9DC"/>
            </a:solidFill>
          </a:ln>
        </p:spPr>
        <p:txBody>
          <a:bodyPr vert="horz" wrap="square" lIns="0" tIns="43815" rIns="0" bIns="0" rtlCol="0" anchor="ctr" anchorCtr="0">
            <a:noAutofit/>
          </a:bodyPr>
          <a:lstStyle/>
          <a:p>
            <a:pPr marL="229235">
              <a:lnSpc>
                <a:spcPct val="100000"/>
              </a:lnSpc>
              <a:spcBef>
                <a:spcPts val="345"/>
              </a:spcBef>
            </a:pPr>
            <a:r>
              <a:rPr lang="en-US" sz="2000" b="1" spc="10" dirty="0">
                <a:latin typeface="+mj-ea"/>
                <a:ea typeface="+mj-ea"/>
                <a:cs typeface="Microsoft JhengHei" panose="020B0604030504040204" charset="-120"/>
              </a:rPr>
              <a:t>     </a:t>
            </a:r>
            <a:r>
              <a:rPr lang="zh-CN" altLang="en-US" sz="2000" b="1" spc="10" dirty="0">
                <a:latin typeface="+mj-ea"/>
                <a:ea typeface="+mj-ea"/>
                <a:cs typeface="Microsoft JhengHei" panose="020B0604030504040204" charset="-120"/>
              </a:rPr>
              <a:t>等待中断触发</a:t>
            </a:r>
            <a:endParaRPr sz="2000" b="1" dirty="0">
              <a:latin typeface="+mj-ea"/>
              <a:ea typeface="+mj-ea"/>
              <a:cs typeface="Microsoft JhengHei" panose="020B0604030504040204" charset="-120"/>
            </a:endParaRPr>
          </a:p>
        </p:txBody>
      </p:sp>
      <p:sp>
        <p:nvSpPr>
          <p:cNvPr id="61" name="object 15"/>
          <p:cNvSpPr txBox="1"/>
          <p:nvPr/>
        </p:nvSpPr>
        <p:spPr>
          <a:xfrm>
            <a:off x="907021" y="2693004"/>
            <a:ext cx="2748246" cy="451448"/>
          </a:xfrm>
          <a:prstGeom prst="rect">
            <a:avLst/>
          </a:prstGeom>
          <a:noFill/>
          <a:ln w="25400">
            <a:solidFill>
              <a:srgbClr val="39A9DC"/>
            </a:solidFill>
          </a:ln>
        </p:spPr>
        <p:txBody>
          <a:bodyPr vert="horz" wrap="square" lIns="0" tIns="43815" rIns="0" bIns="0" rtlCol="0" anchor="ctr" anchorCtr="0">
            <a:noAutofit/>
          </a:bodyPr>
          <a:lstStyle/>
          <a:p>
            <a:pPr marL="229235">
              <a:lnSpc>
                <a:spcPct val="100000"/>
              </a:lnSpc>
              <a:spcBef>
                <a:spcPts val="345"/>
              </a:spcBef>
            </a:pPr>
            <a:r>
              <a:rPr lang="en-US" sz="2000" b="1" spc="10" dirty="0">
                <a:latin typeface="+mj-ea"/>
                <a:ea typeface="+mj-ea"/>
                <a:cs typeface="Microsoft JhengHei" panose="020B0604030504040204" charset="-120"/>
              </a:rPr>
              <a:t>   </a:t>
            </a:r>
            <a:r>
              <a:rPr lang="zh-CN" altLang="en-US" sz="2000" b="1" spc="10" dirty="0">
                <a:latin typeface="+mj-ea"/>
                <a:ea typeface="+mj-ea"/>
                <a:cs typeface="Microsoft JhengHei" panose="020B0604030504040204" charset="-120"/>
              </a:rPr>
              <a:t>外部中断初始化</a:t>
            </a:r>
            <a:endParaRPr sz="2000" b="1" dirty="0">
              <a:latin typeface="+mj-ea"/>
              <a:ea typeface="+mj-ea"/>
              <a:cs typeface="Microsoft JhengHei" panose="020B0604030504040204" charset="-120"/>
            </a:endParaRPr>
          </a:p>
        </p:txBody>
      </p:sp>
      <p:sp>
        <p:nvSpPr>
          <p:cNvPr id="62" name="object 15"/>
          <p:cNvSpPr txBox="1"/>
          <p:nvPr/>
        </p:nvSpPr>
        <p:spPr>
          <a:xfrm>
            <a:off x="8548886" y="5950798"/>
            <a:ext cx="3163350" cy="451448"/>
          </a:xfrm>
          <a:prstGeom prst="rect">
            <a:avLst/>
          </a:prstGeom>
          <a:noFill/>
          <a:ln w="25400">
            <a:solidFill>
              <a:srgbClr val="39A9DC"/>
            </a:solidFill>
          </a:ln>
        </p:spPr>
        <p:txBody>
          <a:bodyPr vert="horz" wrap="square" lIns="0" tIns="43815" rIns="0" bIns="0" rtlCol="0" anchor="ctr" anchorCtr="0">
            <a:noAutofit/>
          </a:bodyPr>
          <a:lstStyle/>
          <a:p>
            <a:pPr marL="229235">
              <a:lnSpc>
                <a:spcPct val="100000"/>
              </a:lnSpc>
              <a:spcBef>
                <a:spcPts val="345"/>
              </a:spcBef>
            </a:pPr>
            <a:r>
              <a:rPr lang="en-US" altLang="zh-CN" sz="2000" b="1" dirty="0">
                <a:latin typeface="Consolas" panose="020B0609020204030204" pitchFamily="49" charset="0"/>
              </a:rPr>
              <a:t>EXTI15_10_IRQHandler</a:t>
            </a:r>
            <a:endParaRPr sz="2000" b="1" dirty="0">
              <a:latin typeface="Consolas" panose="020B0609020204030204" pitchFamily="49" charset="0"/>
              <a:ea typeface="+mj-ea"/>
              <a:cs typeface="Microsoft JhengHei" panose="020B0604030504040204" charset="-120"/>
            </a:endParaRPr>
          </a:p>
        </p:txBody>
      </p:sp>
      <p:sp>
        <p:nvSpPr>
          <p:cNvPr id="63" name="object 15"/>
          <p:cNvSpPr txBox="1"/>
          <p:nvPr/>
        </p:nvSpPr>
        <p:spPr>
          <a:xfrm>
            <a:off x="8541849" y="4176692"/>
            <a:ext cx="3163350" cy="451448"/>
          </a:xfrm>
          <a:prstGeom prst="rect">
            <a:avLst/>
          </a:prstGeom>
          <a:noFill/>
          <a:ln w="25400">
            <a:solidFill>
              <a:srgbClr val="39A9DC"/>
            </a:solidFill>
          </a:ln>
        </p:spPr>
        <p:txBody>
          <a:bodyPr vert="horz" wrap="square" lIns="0" tIns="43815" rIns="0" bIns="0" rtlCol="0" anchor="ctr" anchorCtr="0">
            <a:noAutofit/>
          </a:bodyPr>
          <a:lstStyle/>
          <a:p>
            <a:pPr marL="229235">
              <a:lnSpc>
                <a:spcPct val="100000"/>
              </a:lnSpc>
              <a:spcBef>
                <a:spcPts val="345"/>
              </a:spcBef>
            </a:pPr>
            <a:r>
              <a:rPr lang="en-US" altLang="zh-CN" sz="2000" b="1" dirty="0">
                <a:latin typeface="Consolas" panose="020B0609020204030204" pitchFamily="49" charset="0"/>
              </a:rPr>
              <a:t>  EXTI0_IRQHandler</a:t>
            </a:r>
            <a:endParaRPr sz="2000" b="1" dirty="0">
              <a:latin typeface="Consolas" panose="020B0609020204030204" pitchFamily="49" charset="0"/>
              <a:ea typeface="+mj-ea"/>
              <a:cs typeface="Microsoft JhengHei" panose="020B0604030504040204" charset="-120"/>
            </a:endParaRPr>
          </a:p>
        </p:txBody>
      </p:sp>
      <p:sp>
        <p:nvSpPr>
          <p:cNvPr id="64" name="object 15"/>
          <p:cNvSpPr txBox="1"/>
          <p:nvPr/>
        </p:nvSpPr>
        <p:spPr>
          <a:xfrm>
            <a:off x="4364357" y="4157330"/>
            <a:ext cx="3753035" cy="451448"/>
          </a:xfrm>
          <a:prstGeom prst="rect">
            <a:avLst/>
          </a:prstGeom>
          <a:noFill/>
          <a:ln w="25400">
            <a:solidFill>
              <a:srgbClr val="39A9DC"/>
            </a:solidFill>
          </a:ln>
        </p:spPr>
        <p:txBody>
          <a:bodyPr vert="horz" wrap="square" lIns="0" tIns="43815" rIns="0" bIns="0" rtlCol="0" anchor="ctr" anchorCtr="0">
            <a:noAutofit/>
          </a:bodyPr>
          <a:lstStyle/>
          <a:p>
            <a:pPr marL="229235">
              <a:lnSpc>
                <a:spcPct val="100000"/>
              </a:lnSpc>
              <a:spcBef>
                <a:spcPts val="345"/>
              </a:spcBef>
            </a:pPr>
            <a:r>
              <a:rPr lang="en-US" altLang="zh-CN" sz="2000" b="1" dirty="0">
                <a:latin typeface="Consolas" panose="020B0609020204030204" pitchFamily="49" charset="0"/>
              </a:rPr>
              <a:t>HAL_GPIO_EXTI_IRQHandler</a:t>
            </a:r>
            <a:endParaRPr sz="2000" b="1" dirty="0">
              <a:latin typeface="Consolas" panose="020B0609020204030204" pitchFamily="49" charset="0"/>
              <a:ea typeface="+mj-ea"/>
              <a:cs typeface="Microsoft JhengHei" panose="020B0604030504040204" charset="-120"/>
            </a:endParaRPr>
          </a:p>
        </p:txBody>
      </p:sp>
      <p:sp>
        <p:nvSpPr>
          <p:cNvPr id="65" name="object 15"/>
          <p:cNvSpPr txBox="1"/>
          <p:nvPr/>
        </p:nvSpPr>
        <p:spPr>
          <a:xfrm>
            <a:off x="4364357" y="5950798"/>
            <a:ext cx="3753035" cy="451448"/>
          </a:xfrm>
          <a:prstGeom prst="rect">
            <a:avLst/>
          </a:prstGeom>
          <a:noFill/>
          <a:ln w="25400">
            <a:solidFill>
              <a:srgbClr val="39A9DC"/>
            </a:solidFill>
          </a:ln>
        </p:spPr>
        <p:txBody>
          <a:bodyPr vert="horz" wrap="square" lIns="0" tIns="43815" rIns="0" bIns="0" rtlCol="0" anchor="ctr" anchorCtr="0">
            <a:noAutofit/>
          </a:bodyPr>
          <a:lstStyle/>
          <a:p>
            <a:pPr marL="229235">
              <a:lnSpc>
                <a:spcPct val="100000"/>
              </a:lnSpc>
              <a:spcBef>
                <a:spcPts val="345"/>
              </a:spcBef>
            </a:pPr>
            <a:r>
              <a:rPr lang="en-US" altLang="zh-CN" sz="2000" b="1" dirty="0">
                <a:latin typeface="Consolas" panose="020B0609020204030204" pitchFamily="49" charset="0"/>
              </a:rPr>
              <a:t>HAL_GPIO_EXTI_IRQHandler</a:t>
            </a:r>
            <a:endParaRPr sz="2000" b="1" dirty="0">
              <a:latin typeface="Consolas" panose="020B0609020204030204" pitchFamily="49" charset="0"/>
              <a:ea typeface="+mj-ea"/>
              <a:cs typeface="Microsoft JhengHei" panose="020B0604030504040204" charset="-120"/>
            </a:endParaRPr>
          </a:p>
        </p:txBody>
      </p:sp>
      <p:sp>
        <p:nvSpPr>
          <p:cNvPr id="70" name="object 15"/>
          <p:cNvSpPr txBox="1"/>
          <p:nvPr/>
        </p:nvSpPr>
        <p:spPr>
          <a:xfrm>
            <a:off x="581841" y="4860733"/>
            <a:ext cx="3398607" cy="774494"/>
          </a:xfrm>
          <a:prstGeom prst="rect">
            <a:avLst/>
          </a:prstGeom>
          <a:noFill/>
          <a:ln w="25400">
            <a:solidFill>
              <a:srgbClr val="39A9DC"/>
            </a:solidFill>
          </a:ln>
        </p:spPr>
        <p:txBody>
          <a:bodyPr vert="horz" wrap="square" lIns="0" tIns="43815" rIns="0" bIns="0" rtlCol="0" anchor="ctr" anchorCtr="0">
            <a:noAutofit/>
          </a:bodyPr>
          <a:lstStyle/>
          <a:p>
            <a:pPr marL="229235">
              <a:lnSpc>
                <a:spcPct val="100000"/>
              </a:lnSpc>
              <a:spcBef>
                <a:spcPts val="345"/>
              </a:spcBef>
            </a:pPr>
            <a:r>
              <a:rPr lang="en-US" sz="2000" b="1" spc="10" dirty="0">
                <a:latin typeface="+mj-ea"/>
                <a:ea typeface="+mj-ea"/>
                <a:cs typeface="Microsoft JhengHei" panose="020B0604030504040204" charset="-120"/>
              </a:rPr>
              <a:t>     </a:t>
            </a:r>
            <a:r>
              <a:rPr lang="zh-CN" altLang="en-US" sz="2000" b="1" spc="10" dirty="0">
                <a:latin typeface="+mj-ea"/>
                <a:ea typeface="+mj-ea"/>
                <a:cs typeface="Microsoft JhengHei" panose="020B0604030504040204" charset="-120"/>
              </a:rPr>
              <a:t>外部中断回调函数</a:t>
            </a:r>
            <a:endParaRPr lang="en-US" altLang="zh-CN" sz="2000" b="1" spc="10" dirty="0">
              <a:latin typeface="+mj-ea"/>
              <a:ea typeface="+mj-ea"/>
              <a:cs typeface="Microsoft JhengHei" panose="020B0604030504040204" charset="-120"/>
            </a:endParaRPr>
          </a:p>
          <a:p>
            <a:pPr marL="229235">
              <a:lnSpc>
                <a:spcPct val="100000"/>
              </a:lnSpc>
              <a:spcBef>
                <a:spcPts val="345"/>
              </a:spcBef>
            </a:pPr>
            <a:r>
              <a:rPr lang="en-US" altLang="zh-CN" sz="2000" b="1" dirty="0">
                <a:latin typeface="Consolas" panose="020B0609020204030204" pitchFamily="49" charset="0"/>
              </a:rPr>
              <a:t>HAL_GPIO_EXTI_Callback</a:t>
            </a:r>
            <a:endParaRPr sz="2000" b="1" dirty="0">
              <a:latin typeface="+mj-ea"/>
              <a:ea typeface="+mj-ea"/>
              <a:cs typeface="Microsoft JhengHei" panose="020B0604030504040204" charset="-12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705443" y="1907637"/>
            <a:ext cx="1177050" cy="461665"/>
            <a:chOff x="1705443" y="1907637"/>
            <a:chExt cx="1177050" cy="461665"/>
          </a:xfrm>
        </p:grpSpPr>
        <p:sp>
          <p:nvSpPr>
            <p:cNvPr id="58" name="矩形 57"/>
            <p:cNvSpPr/>
            <p:nvPr/>
          </p:nvSpPr>
          <p:spPr>
            <a:xfrm>
              <a:off x="1705443" y="1935031"/>
              <a:ext cx="1151403" cy="43427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731090" y="1907637"/>
              <a:ext cx="11514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主程序</a:t>
              </a:r>
              <a:endParaRPr lang="zh-CN" altLang="en-US" sz="24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093665" y="1907637"/>
            <a:ext cx="2174189" cy="489059"/>
            <a:chOff x="7093665" y="1935031"/>
            <a:chExt cx="2174189" cy="489059"/>
          </a:xfrm>
        </p:grpSpPr>
        <p:sp>
          <p:nvSpPr>
            <p:cNvPr id="57" name="矩形 56"/>
            <p:cNvSpPr/>
            <p:nvPr/>
          </p:nvSpPr>
          <p:spPr>
            <a:xfrm>
              <a:off x="7093665" y="1935031"/>
              <a:ext cx="2050919" cy="489059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7119312" y="1935031"/>
              <a:ext cx="2148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中断服务程序</a:t>
              </a:r>
              <a:endParaRPr lang="zh-CN" altLang="en-US" sz="24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74" name="左箭头 73"/>
          <p:cNvSpPr/>
          <p:nvPr/>
        </p:nvSpPr>
        <p:spPr>
          <a:xfrm>
            <a:off x="8099569" y="4278522"/>
            <a:ext cx="449317" cy="23000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下箭头 75"/>
          <p:cNvSpPr/>
          <p:nvPr/>
        </p:nvSpPr>
        <p:spPr>
          <a:xfrm>
            <a:off x="2088165" y="3134506"/>
            <a:ext cx="245732" cy="3986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左箭头 76"/>
          <p:cNvSpPr/>
          <p:nvPr/>
        </p:nvSpPr>
        <p:spPr>
          <a:xfrm>
            <a:off x="8099568" y="6061518"/>
            <a:ext cx="449317" cy="23000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8" name="组合 77"/>
          <p:cNvGrpSpPr/>
          <p:nvPr/>
        </p:nvGrpSpPr>
        <p:grpSpPr>
          <a:xfrm>
            <a:off x="8995837" y="3342240"/>
            <a:ext cx="2269448" cy="636991"/>
            <a:chOff x="5678379" y="2796035"/>
            <a:chExt cx="2269448" cy="636991"/>
          </a:xfrm>
        </p:grpSpPr>
        <p:cxnSp>
          <p:nvCxnSpPr>
            <p:cNvPr id="79" name="直接连接符 78"/>
            <p:cNvCxnSpPr/>
            <p:nvPr/>
          </p:nvCxnSpPr>
          <p:spPr>
            <a:xfrm>
              <a:off x="6417027" y="2802385"/>
              <a:ext cx="7781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/>
            <p:cNvCxnSpPr/>
            <p:nvPr/>
          </p:nvCxnSpPr>
          <p:spPr>
            <a:xfrm flipV="1">
              <a:off x="6434254" y="2802385"/>
              <a:ext cx="0" cy="63064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lg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5678379" y="3433026"/>
              <a:ext cx="7781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7169727" y="3416641"/>
              <a:ext cx="7781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>
              <a:off x="7179252" y="2796035"/>
              <a:ext cx="0" cy="62378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组合 86"/>
          <p:cNvGrpSpPr/>
          <p:nvPr/>
        </p:nvGrpSpPr>
        <p:grpSpPr>
          <a:xfrm>
            <a:off x="8995837" y="5135634"/>
            <a:ext cx="2269448" cy="636991"/>
            <a:chOff x="5678379" y="2796035"/>
            <a:chExt cx="2269448" cy="636991"/>
          </a:xfrm>
        </p:grpSpPr>
        <p:cxnSp>
          <p:nvCxnSpPr>
            <p:cNvPr id="88" name="直接连接符 87"/>
            <p:cNvCxnSpPr/>
            <p:nvPr/>
          </p:nvCxnSpPr>
          <p:spPr>
            <a:xfrm>
              <a:off x="6417027" y="2802385"/>
              <a:ext cx="7781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/>
            <p:nvPr/>
          </p:nvCxnSpPr>
          <p:spPr>
            <a:xfrm flipV="1">
              <a:off x="6434254" y="2802385"/>
              <a:ext cx="0" cy="63064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lg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5678379" y="3433026"/>
              <a:ext cx="7781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7169727" y="3416641"/>
              <a:ext cx="7781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/>
            <p:cNvCxnSpPr/>
            <p:nvPr/>
          </p:nvCxnSpPr>
          <p:spPr>
            <a:xfrm>
              <a:off x="7179252" y="2796035"/>
              <a:ext cx="0" cy="62378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object 40"/>
          <p:cNvSpPr txBox="1"/>
          <p:nvPr/>
        </p:nvSpPr>
        <p:spPr>
          <a:xfrm>
            <a:off x="9107737" y="4743431"/>
            <a:ext cx="204564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nsolas" panose="020B0609020204030204" pitchFamily="49" charset="0"/>
                <a:cs typeface="Arial" panose="020B0604020202020204"/>
              </a:rPr>
              <a:t>Ri</a:t>
            </a:r>
            <a:r>
              <a:rPr sz="2000" b="1" spc="5" dirty="0">
                <a:latin typeface="Consolas" panose="020B0609020204030204" pitchFamily="49" charset="0"/>
                <a:cs typeface="Arial" panose="020B0604020202020204"/>
              </a:rPr>
              <a:t>s</a:t>
            </a:r>
            <a:r>
              <a:rPr sz="2000" b="1" dirty="0">
                <a:latin typeface="Consolas" panose="020B0609020204030204" pitchFamily="49" charset="0"/>
                <a:cs typeface="Arial" panose="020B0604020202020204"/>
              </a:rPr>
              <a:t>ing/Falling</a:t>
            </a:r>
            <a:endParaRPr sz="2000" b="1" dirty="0">
              <a:latin typeface="Consolas" panose="020B0609020204030204" pitchFamily="49" charset="0"/>
              <a:cs typeface="Arial" panose="020B0604020202020204"/>
            </a:endParaRPr>
          </a:p>
        </p:txBody>
      </p:sp>
      <p:sp>
        <p:nvSpPr>
          <p:cNvPr id="94" name="object 40"/>
          <p:cNvSpPr txBox="1"/>
          <p:nvPr/>
        </p:nvSpPr>
        <p:spPr>
          <a:xfrm>
            <a:off x="9100701" y="2848665"/>
            <a:ext cx="204564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nsolas" panose="020B0609020204030204" pitchFamily="49" charset="0"/>
                <a:cs typeface="Arial" panose="020B0604020202020204"/>
              </a:rPr>
              <a:t>Ri</a:t>
            </a:r>
            <a:r>
              <a:rPr sz="2000" b="1" spc="5" dirty="0">
                <a:latin typeface="Consolas" panose="020B0609020204030204" pitchFamily="49" charset="0"/>
                <a:cs typeface="Arial" panose="020B0604020202020204"/>
              </a:rPr>
              <a:t>s</a:t>
            </a:r>
            <a:r>
              <a:rPr sz="2000" b="1" dirty="0">
                <a:latin typeface="Consolas" panose="020B0609020204030204" pitchFamily="49" charset="0"/>
                <a:cs typeface="Arial" panose="020B0604020202020204"/>
              </a:rPr>
              <a:t>ing/Falling</a:t>
            </a:r>
            <a:endParaRPr sz="2000" b="1" dirty="0">
              <a:latin typeface="Consolas" panose="020B0609020204030204" pitchFamily="49" charset="0"/>
              <a:cs typeface="Arial" panose="020B0604020202020204"/>
            </a:endParaRPr>
          </a:p>
        </p:txBody>
      </p:sp>
      <p:sp>
        <p:nvSpPr>
          <p:cNvPr id="50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Rectangle 52"/>
          <p:cNvSpPr/>
          <p:nvPr/>
        </p:nvSpPr>
        <p:spPr>
          <a:xfrm>
            <a:off x="3819026" y="1071641"/>
            <a:ext cx="455394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+mn-ea"/>
                <a:ea typeface="+mn-ea"/>
              </a:rPr>
              <a:t>HAL</a:t>
            </a:r>
            <a:r>
              <a:rPr lang="zh-CN" altLang="en-US" sz="2800" b="1" dirty="0">
                <a:latin typeface="+mn-ea"/>
                <a:ea typeface="+mn-ea"/>
              </a:rPr>
              <a:t>库的外部中断处理流程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sp>
        <p:nvSpPr>
          <p:cNvPr id="52" name="object 40"/>
          <p:cNvSpPr txBox="1"/>
          <p:nvPr/>
        </p:nvSpPr>
        <p:spPr>
          <a:xfrm>
            <a:off x="4895262" y="3709561"/>
            <a:ext cx="269122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000" b="1" dirty="0">
                <a:latin typeface="+mn-ea"/>
                <a:ea typeface="+mn-ea"/>
                <a:cs typeface="Arial" panose="020B0604020202020204"/>
              </a:rPr>
              <a:t>外部中断通用处理函数</a:t>
            </a:r>
            <a:endParaRPr sz="2000" b="1" dirty="0">
              <a:latin typeface="+mn-ea"/>
              <a:ea typeface="+mn-ea"/>
              <a:cs typeface="Arial" panose="020B0604020202020204"/>
            </a:endParaRPr>
          </a:p>
        </p:txBody>
      </p:sp>
      <p:sp>
        <p:nvSpPr>
          <p:cNvPr id="54" name="object 40"/>
          <p:cNvSpPr txBox="1"/>
          <p:nvPr/>
        </p:nvSpPr>
        <p:spPr>
          <a:xfrm>
            <a:off x="10686185" y="3413948"/>
            <a:ext cx="55382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Consolas" panose="020B0609020204030204" pitchFamily="49" charset="0"/>
                <a:cs typeface="Arial" panose="020B0604020202020204"/>
              </a:rPr>
              <a:t>PC0</a:t>
            </a:r>
            <a:endParaRPr sz="2000" b="1" dirty="0">
              <a:latin typeface="Consolas" panose="020B0609020204030204" pitchFamily="49" charset="0"/>
              <a:cs typeface="Arial" panose="020B0604020202020204"/>
            </a:endParaRPr>
          </a:p>
        </p:txBody>
      </p:sp>
      <p:sp>
        <p:nvSpPr>
          <p:cNvPr id="55" name="object 40"/>
          <p:cNvSpPr txBox="1"/>
          <p:nvPr/>
        </p:nvSpPr>
        <p:spPr>
          <a:xfrm>
            <a:off x="10696779" y="5295188"/>
            <a:ext cx="77809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Consolas" panose="020B0609020204030204" pitchFamily="49" charset="0"/>
                <a:cs typeface="Arial" panose="020B0604020202020204"/>
              </a:rPr>
              <a:t>PC13</a:t>
            </a:r>
            <a:endParaRPr sz="2000" b="1" dirty="0">
              <a:latin typeface="Consolas" panose="020B0609020204030204" pitchFamily="49" charset="0"/>
              <a:cs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0516" y="5295188"/>
            <a:ext cx="2135441" cy="64916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516" y="4646486"/>
            <a:ext cx="2135417" cy="671009"/>
          </a:xfrm>
          <a:prstGeom prst="rect">
            <a:avLst/>
          </a:prstGeom>
        </p:spPr>
      </p:pic>
      <p:sp>
        <p:nvSpPr>
          <p:cNvPr id="73" name="object 40"/>
          <p:cNvSpPr txBox="1"/>
          <p:nvPr/>
        </p:nvSpPr>
        <p:spPr>
          <a:xfrm>
            <a:off x="4895262" y="6470463"/>
            <a:ext cx="269122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000" b="1" dirty="0">
                <a:latin typeface="+mn-ea"/>
                <a:ea typeface="+mn-ea"/>
                <a:cs typeface="Arial" panose="020B0604020202020204"/>
              </a:rPr>
              <a:t>外部中断通用处理函数</a:t>
            </a:r>
            <a:endParaRPr sz="2000" b="1" dirty="0">
              <a:latin typeface="+mn-ea"/>
              <a:ea typeface="+mn-ea"/>
              <a:cs typeface="Arial" panose="020B0604020202020204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70" grpId="0" animBg="1"/>
      <p:bldP spid="74" grpId="0" animBg="1"/>
      <p:bldP spid="76" grpId="0" animBg="1"/>
      <p:bldP spid="77" grpId="0" animBg="1"/>
      <p:bldP spid="93" grpId="0"/>
      <p:bldP spid="94" grpId="0"/>
      <p:bldP spid="52" grpId="0"/>
      <p:bldP spid="54" grpId="0"/>
      <p:bldP spid="55" grpId="0"/>
      <p:bldP spid="7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object 3"/>
          <p:cNvSpPr/>
          <p:nvPr/>
        </p:nvSpPr>
        <p:spPr>
          <a:xfrm>
            <a:off x="11696915" y="430612"/>
            <a:ext cx="526415" cy="198120"/>
          </a:xfrm>
          <a:custGeom>
            <a:avLst/>
            <a:gdLst/>
            <a:ahLst/>
            <a:cxnLst/>
            <a:rect l="l" t="t" r="r" b="b"/>
            <a:pathLst>
              <a:path w="526415" h="198119">
                <a:moveTo>
                  <a:pt x="0" y="198005"/>
                </a:moveTo>
                <a:lnTo>
                  <a:pt x="526287" y="198005"/>
                </a:lnTo>
                <a:lnTo>
                  <a:pt x="526287" y="0"/>
                </a:lnTo>
                <a:lnTo>
                  <a:pt x="0" y="0"/>
                </a:lnTo>
                <a:lnTo>
                  <a:pt x="0" y="198005"/>
                </a:lnTo>
                <a:close/>
              </a:path>
            </a:pathLst>
          </a:custGeom>
          <a:solidFill>
            <a:srgbClr val="D3007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4"/>
          <p:cNvSpPr txBox="1"/>
          <p:nvPr/>
        </p:nvSpPr>
        <p:spPr>
          <a:xfrm>
            <a:off x="11969076" y="421100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45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397331"/>
            <a:ext cx="11544300" cy="525191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5" name="Rectangle 52"/>
          <p:cNvSpPr/>
          <p:nvPr/>
        </p:nvSpPr>
        <p:spPr>
          <a:xfrm>
            <a:off x="5287241" y="740679"/>
            <a:ext cx="1617518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时间流程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 advTm="26471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179320"/>
            <a:ext cx="12195175" cy="1914525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0" y="2628088"/>
            <a:ext cx="12192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7.3 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外部中断的数据类型及接口函数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84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五边形 90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15676" y="10781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所在文件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34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36" name="矩形 35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6" name="Rectangle 52"/>
          <p:cNvSpPr/>
          <p:nvPr/>
        </p:nvSpPr>
        <p:spPr>
          <a:xfrm>
            <a:off x="3195488" y="1071641"/>
            <a:ext cx="632892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外部中断数据类型和接口函数所在文件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15722" y="2743107"/>
            <a:ext cx="9960556" cy="2620745"/>
            <a:chOff x="1172500" y="2422595"/>
            <a:chExt cx="9960556" cy="2620745"/>
          </a:xfrm>
        </p:grpSpPr>
        <p:sp>
          <p:nvSpPr>
            <p:cNvPr id="31" name="矩形 30"/>
            <p:cNvSpPr/>
            <p:nvPr/>
          </p:nvSpPr>
          <p:spPr>
            <a:xfrm>
              <a:off x="1542679" y="2478477"/>
              <a:ext cx="9476821" cy="2196883"/>
            </a:xfrm>
            <a:prstGeom prst="rect">
              <a:avLst/>
            </a:prstGeom>
            <a:ln w="38100">
              <a:noFill/>
              <a:prstDash val="dash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由于外部中断主要是利用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GPIO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引脚实现，因此外部中断数据类型的定义放在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stm32f4xx_hal_gpio.h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文件中，外部中断接口函数的实现放在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stm32f4xx_hal_gpio.c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文件中。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72500" y="2422595"/>
              <a:ext cx="9960556" cy="2620745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36" y="1923805"/>
            <a:ext cx="11947129" cy="429226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五边形 39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燕尾形 40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54731" y="1087838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引脚初始化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17" name="Rectangle 52"/>
          <p:cNvSpPr/>
          <p:nvPr/>
        </p:nvSpPr>
        <p:spPr>
          <a:xfrm>
            <a:off x="4385408" y="1090113"/>
            <a:ext cx="423241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引脚初始化数据类型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16505" y="3501948"/>
            <a:ext cx="2448590" cy="3354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574182" y="2216548"/>
            <a:ext cx="5043637" cy="523220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结构体类型，包括</a:t>
            </a:r>
            <a:r>
              <a:rPr lang="en-US" altLang="zh-CN" sz="2800" b="1" dirty="0">
                <a:solidFill>
                  <a:schemeClr val="bg1"/>
                </a:solidFill>
                <a:latin typeface="+mn-ea"/>
                <a:ea typeface="+mn-ea"/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个成员变量</a:t>
            </a:r>
            <a:endParaRPr lang="zh-CN" altLang="en-US" sz="2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6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 advTm="26471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7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0" name="五边形 49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燕尾形 50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1338" y="1086934"/>
            <a:ext cx="10871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Mode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92460" y="2450600"/>
          <a:ext cx="10309637" cy="3534124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5267786"/>
                <a:gridCol w="5041851"/>
              </a:tblGrid>
              <a:tr h="8835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</a:rPr>
                        <a:t>宏常量定义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</a:rPr>
                        <a:t>含义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35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GPIO_MODE_IT_RISING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>
                          <a:effectLst/>
                        </a:rPr>
                        <a:t>上升沿触发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35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GPIO_MODE_IT_FALLING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</a:rPr>
                        <a:t>下降沿触发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35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GPIO_MODE_IT_RISING_FALLING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</a:rPr>
                        <a:t>双边沿触发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52"/>
          <p:cNvSpPr/>
          <p:nvPr/>
        </p:nvSpPr>
        <p:spPr>
          <a:xfrm>
            <a:off x="3751122" y="1090113"/>
            <a:ext cx="468975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成员变量</a:t>
            </a:r>
            <a:r>
              <a:rPr lang="en-US" altLang="zh-CN" sz="2800" b="1" dirty="0">
                <a:latin typeface="+mn-ea"/>
                <a:ea typeface="+mn-ea"/>
              </a:rPr>
              <a:t>Mode</a:t>
            </a:r>
            <a:r>
              <a:rPr lang="zh-CN" altLang="en-US" sz="2800" b="1" dirty="0">
                <a:latin typeface="+mn-ea"/>
                <a:ea typeface="+mn-ea"/>
              </a:rPr>
              <a:t>的取值范围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41184" y="3502159"/>
            <a:ext cx="5354816" cy="23604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标注 7"/>
          <p:cNvSpPr/>
          <p:nvPr/>
        </p:nvSpPr>
        <p:spPr>
          <a:xfrm>
            <a:off x="4597930" y="2221407"/>
            <a:ext cx="2753470" cy="976715"/>
          </a:xfrm>
          <a:prstGeom prst="wedgeRoundRectCallout">
            <a:avLst>
              <a:gd name="adj1" fmla="val -57737"/>
              <a:gd name="adj2" fmla="val 76660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对于外部中断功能增加的取值范围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1338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数据类型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73335" y="791149"/>
          <a:ext cx="11744325" cy="566504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387468"/>
                <a:gridCol w="10356857"/>
              </a:tblGrid>
              <a:tr h="491015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</a:rPr>
                        <a:t>接口函数：</a:t>
                      </a:r>
                      <a:r>
                        <a:rPr lang="en-US" sz="2400" b="1" dirty="0" err="1">
                          <a:effectLst/>
                        </a:rPr>
                        <a:t>HAL_GPIO_EXTI_IRQHandler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7409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</a:rPr>
                        <a:t>函数原型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void </a:t>
                      </a:r>
                      <a:r>
                        <a:rPr lang="en-US" sz="2400" b="1" dirty="0" err="1">
                          <a:effectLst/>
                        </a:rPr>
                        <a:t>HAL_GPIO_EXTI_IRQHandler</a:t>
                      </a:r>
                      <a:r>
                        <a:rPr lang="en-US" sz="2400" b="1" dirty="0">
                          <a:effectLst/>
                        </a:rPr>
                        <a:t>(uint16_t </a:t>
                      </a:r>
                      <a:r>
                        <a:rPr lang="en-US" sz="2400" b="1" dirty="0" err="1">
                          <a:effectLst/>
                        </a:rPr>
                        <a:t>GPIO_Pin</a:t>
                      </a:r>
                      <a:r>
                        <a:rPr lang="en-US" sz="2400" b="1" dirty="0">
                          <a:effectLst/>
                        </a:rPr>
                        <a:t>)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09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</a:rPr>
                        <a:t>功能描述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2400" b="1" dirty="0">
                          <a:effectLst/>
                        </a:rPr>
                        <a:t>作为</a:t>
                      </a:r>
                      <a:r>
                        <a:rPr lang="zh-CN" sz="2400" b="1" dirty="0">
                          <a:effectLst/>
                        </a:rPr>
                        <a:t>所有</a:t>
                      </a:r>
                      <a:r>
                        <a:rPr lang="zh-CN" altLang="en-US" sz="2400" b="1" dirty="0">
                          <a:effectLst/>
                        </a:rPr>
                        <a:t>外部</a:t>
                      </a:r>
                      <a:r>
                        <a:rPr lang="zh-CN" sz="2400" b="1" dirty="0">
                          <a:effectLst/>
                        </a:rPr>
                        <a:t>中断发生后的</a:t>
                      </a:r>
                      <a:r>
                        <a:rPr lang="zh-CN" altLang="en-US" sz="2400" b="1" dirty="0">
                          <a:effectLst/>
                        </a:rPr>
                        <a:t>通用处理</a:t>
                      </a:r>
                      <a:r>
                        <a:rPr lang="zh-CN" sz="2400" b="1" dirty="0">
                          <a:effectLst/>
                        </a:rPr>
                        <a:t>函数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82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>
                          <a:effectLst/>
                        </a:rPr>
                        <a:t>入口参数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</a:rPr>
                        <a:t>GPIO_Pin</a:t>
                      </a:r>
                      <a:r>
                        <a:rPr lang="zh-CN" sz="2400" b="1" dirty="0">
                          <a:effectLst/>
                        </a:rPr>
                        <a:t>：连接到对应外部中断线的引脚，范围是 </a:t>
                      </a:r>
                      <a:r>
                        <a:rPr lang="en-US" sz="2400" b="1" dirty="0">
                          <a:effectLst/>
                        </a:rPr>
                        <a:t>GPIO_PIN_0</a:t>
                      </a:r>
                      <a:r>
                        <a:rPr lang="zh-CN" sz="2400" b="1" dirty="0">
                          <a:effectLst/>
                        </a:rPr>
                        <a:t>～</a:t>
                      </a:r>
                      <a:endParaRPr lang="en-US" altLang="zh-CN" sz="2400" b="1" dirty="0">
                        <a:effectLst/>
                      </a:endParaRPr>
                    </a:p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                   GPIO_PIN_15 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0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</a:rPr>
                        <a:t>返回值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</a:rPr>
                        <a:t>无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8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>
                          <a:effectLst/>
                        </a:rPr>
                        <a:t>注意事项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1. </a:t>
                      </a:r>
                      <a:r>
                        <a:rPr lang="zh-CN" sz="2400" b="1" dirty="0">
                          <a:effectLst/>
                        </a:rPr>
                        <a:t>所有</a:t>
                      </a:r>
                      <a:r>
                        <a:rPr lang="zh-CN" altLang="en-US" sz="2400" b="1" dirty="0">
                          <a:effectLst/>
                        </a:rPr>
                        <a:t>外部</a:t>
                      </a:r>
                      <a:r>
                        <a:rPr lang="zh-CN" sz="2400" b="1" dirty="0">
                          <a:effectLst/>
                        </a:rPr>
                        <a:t>中断服务程序均调用该函数完成中断处理</a:t>
                      </a:r>
                      <a:endParaRPr lang="zh-CN" sz="2400" b="1" dirty="0">
                        <a:effectLst/>
                      </a:endParaRPr>
                    </a:p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2. </a:t>
                      </a:r>
                      <a:r>
                        <a:rPr lang="zh-CN" sz="2400" b="1" dirty="0">
                          <a:effectLst/>
                        </a:rPr>
                        <a:t>函数内部根据</a:t>
                      </a:r>
                      <a:r>
                        <a:rPr lang="en-US" sz="2400" b="1" dirty="0" err="1">
                          <a:effectLst/>
                        </a:rPr>
                        <a:t>GPIO_Pin</a:t>
                      </a:r>
                      <a:r>
                        <a:rPr lang="zh-CN" sz="2400" b="1" dirty="0">
                          <a:effectLst/>
                        </a:rPr>
                        <a:t>的取值判断中断源，并清除对应的中断标志</a:t>
                      </a:r>
                      <a:endParaRPr lang="zh-CN" sz="2400" b="1" dirty="0">
                        <a:effectLst/>
                      </a:endParaRPr>
                    </a:p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3. </a:t>
                      </a:r>
                      <a:r>
                        <a:rPr lang="zh-CN" sz="2400" b="1" dirty="0">
                          <a:effectLst/>
                        </a:rPr>
                        <a:t>函数内部调用</a:t>
                      </a:r>
                      <a:r>
                        <a:rPr lang="zh-CN" altLang="en-US" sz="2400" b="1" dirty="0">
                          <a:effectLst/>
                        </a:rPr>
                        <a:t>外部</a:t>
                      </a:r>
                      <a:r>
                        <a:rPr lang="zh-CN" sz="2400" b="1" dirty="0">
                          <a:effectLst/>
                        </a:rPr>
                        <a:t>中断回调函数</a:t>
                      </a:r>
                      <a:r>
                        <a:rPr lang="en-US" sz="2400" b="1" dirty="0" err="1">
                          <a:effectLst/>
                        </a:rPr>
                        <a:t>HAL_GPIO_EXTI_Callback</a:t>
                      </a:r>
                      <a:r>
                        <a:rPr lang="zh-CN" sz="2400" b="1" dirty="0">
                          <a:effectLst/>
                        </a:rPr>
                        <a:t>完成实际的</a:t>
                      </a:r>
                      <a:endParaRPr lang="en-US" altLang="zh-CN" sz="2400" b="1" dirty="0">
                        <a:effectLst/>
                      </a:endParaRPr>
                    </a:p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b="1" dirty="0">
                          <a:effectLst/>
                        </a:rPr>
                        <a:t>    </a:t>
                      </a:r>
                      <a:r>
                        <a:rPr lang="zh-CN" sz="2400" b="1" dirty="0">
                          <a:effectLst/>
                        </a:rPr>
                        <a:t>处理任务</a:t>
                      </a:r>
                      <a:endParaRPr lang="zh-CN" sz="2400" b="1" dirty="0">
                        <a:effectLst/>
                      </a:endParaRPr>
                    </a:p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4. </a:t>
                      </a:r>
                      <a:r>
                        <a:rPr lang="zh-CN" sz="2400" b="1" dirty="0">
                          <a:effectLst/>
                        </a:rPr>
                        <a:t>该函数由</a:t>
                      </a:r>
                      <a:r>
                        <a:rPr lang="en-US" sz="2400" b="1" dirty="0" err="1">
                          <a:effectLst/>
                        </a:rPr>
                        <a:t>CubeMX</a:t>
                      </a:r>
                      <a:r>
                        <a:rPr lang="zh-CN" sz="2400" b="1" dirty="0">
                          <a:effectLst/>
                        </a:rPr>
                        <a:t>自动生成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3967262" y="90824"/>
            <a:ext cx="4257476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ea typeface="+mn-ea"/>
              </a:rPr>
              <a:t>1  </a:t>
            </a:r>
            <a:r>
              <a:rPr lang="zh-CN" altLang="en-US" sz="2800" b="1" dirty="0">
                <a:latin typeface="+mn-ea"/>
                <a:ea typeface="+mn-ea"/>
              </a:rPr>
              <a:t>外部中断通用处理函数</a:t>
            </a:r>
            <a:endParaRPr lang="zh-CN" altLang="en-US" sz="28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1338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数据类型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57871" y="773081"/>
          <a:ext cx="11876258" cy="574124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403054"/>
                <a:gridCol w="10473204"/>
              </a:tblGrid>
              <a:tr h="491015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dirty="0">
                          <a:effectLst/>
                        </a:rPr>
                        <a:t>接口函数：</a:t>
                      </a:r>
                      <a:r>
                        <a:rPr lang="en-US" sz="2400" b="1" dirty="0" err="1">
                          <a:effectLst/>
                        </a:rPr>
                        <a:t>HAL_GPIO_EXTI_Callback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7409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>
                          <a:effectLst/>
                        </a:rPr>
                        <a:t>函数原型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void 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HAL_GPIO_EXTI_Callback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(uint16_t 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GPIO_Pin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)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09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>
                          <a:effectLst/>
                        </a:rPr>
                        <a:t>功能描述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外部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中断回调函数，</a:t>
                      </a:r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用于处理具体的中断任务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4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>
                          <a:effectLst/>
                        </a:rPr>
                        <a:t>入口参数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GPIO_Pin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：连接到对应外部中断线的引脚，范围是 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GPIO_PIN_0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～</a:t>
                      </a:r>
                      <a:endParaRPr lang="en-US" alt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                   GPIO_PIN_15 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0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>
                          <a:effectLst/>
                        </a:rPr>
                        <a:t>返回值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无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8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>
                          <a:effectLst/>
                        </a:rPr>
                        <a:t>注意事项</a:t>
                      </a:r>
                      <a:endParaRPr lang="zh-CN" sz="2400" b="1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1. 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该函数由</a:t>
                      </a:r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外部中断通用处理函数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HAL_GPIO_EXTI_IRQHandler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调用，完</a:t>
                      </a:r>
                      <a:endParaRPr lang="en-US" alt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    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成所有</a:t>
                      </a:r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外部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中断的任务处理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2. 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函数内部</a:t>
                      </a:r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先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根据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GPIO_Pin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的取值</a:t>
                      </a:r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来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判断中断源，然后执行对应的中断任务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  <a:p>
                      <a:pPr algn="l">
                        <a:lnSpc>
                          <a:spcPts val="35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3. 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该函数由用户根据实际</a:t>
                      </a:r>
                      <a:r>
                        <a:rPr lang="zh-CN" altLang="en-US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需求</a:t>
                      </a:r>
                      <a:r>
                        <a:rPr lang="zh-CN" sz="2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编写</a:t>
                      </a:r>
                      <a:endParaRPr lang="zh-CN" sz="2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537732" y="90824"/>
            <a:ext cx="3531612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ea typeface="+mn-ea"/>
              </a:rPr>
              <a:t>2  </a:t>
            </a:r>
            <a:r>
              <a:rPr lang="zh-CN" altLang="en-US" sz="2800" b="1" dirty="0">
                <a:latin typeface="+mn-ea"/>
                <a:ea typeface="+mn-ea"/>
              </a:rPr>
              <a:t>外部中断回调函数</a:t>
            </a:r>
            <a:endParaRPr lang="zh-CN" altLang="en-US" sz="28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179320"/>
            <a:ext cx="12195175" cy="1914525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0" y="2628088"/>
            <a:ext cx="12192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7.4  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任务实践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179320"/>
            <a:ext cx="12195175" cy="1914525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0" y="2628088"/>
            <a:ext cx="12192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1  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基础任务：中断方式读取按键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766611" y="569915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7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0" name="五边形 49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燕尾形 50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1338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基础任务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78463" y="1945485"/>
            <a:ext cx="874595" cy="87459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2"/>
                </a:solidFill>
                <a:latin typeface="+mn-ea"/>
              </a:rPr>
              <a:t>1</a:t>
            </a:r>
            <a:endParaRPr lang="zh-CN" altLang="en-US" sz="3200" b="1" dirty="0">
              <a:solidFill>
                <a:schemeClr val="bg2"/>
              </a:solidFill>
              <a:latin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063958" y="2082541"/>
            <a:ext cx="1963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  <a:ea typeface="+mn-ea"/>
              </a:rPr>
              <a:t>任务目标</a:t>
            </a:r>
            <a:endParaRPr lang="zh-CN" altLang="en-US" sz="3200" b="1" dirty="0">
              <a:latin typeface="+mn-ea"/>
              <a:ea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959870" y="2976251"/>
            <a:ext cx="9890385" cy="767379"/>
            <a:chOff x="1767379" y="2185579"/>
            <a:chExt cx="9729295" cy="1327090"/>
          </a:xfrm>
        </p:grpSpPr>
        <p:sp>
          <p:nvSpPr>
            <p:cNvPr id="25" name="矩形 24"/>
            <p:cNvSpPr/>
            <p:nvPr/>
          </p:nvSpPr>
          <p:spPr>
            <a:xfrm>
              <a:off x="1767379" y="2185579"/>
              <a:ext cx="9636932" cy="1327090"/>
            </a:xfrm>
            <a:prstGeom prst="rect">
              <a:avLst/>
            </a:prstGeom>
            <a:solidFill>
              <a:srgbClr val="ECECEC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859744" y="2257623"/>
              <a:ext cx="9636930" cy="1004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掌握</a:t>
              </a:r>
              <a:r>
                <a:rPr lang="en-US" altLang="zh-CN" sz="2400" b="1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CubeMX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软件配置外部中断的方法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sp>
        <p:nvSpPr>
          <p:cNvPr id="27" name="椭圆 26"/>
          <p:cNvSpPr/>
          <p:nvPr/>
        </p:nvSpPr>
        <p:spPr>
          <a:xfrm>
            <a:off x="1177640" y="3857974"/>
            <a:ext cx="874595" cy="87459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2"/>
                </a:solidFill>
                <a:latin typeface="+mn-ea"/>
              </a:rPr>
              <a:t>2</a:t>
            </a:r>
            <a:endParaRPr lang="zh-CN" altLang="en-US" sz="3200" b="1" dirty="0">
              <a:solidFill>
                <a:schemeClr val="bg2"/>
              </a:solidFill>
              <a:latin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063136" y="4041054"/>
            <a:ext cx="1963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  <a:ea typeface="+mn-ea"/>
              </a:rPr>
              <a:t>任务内容</a:t>
            </a:r>
            <a:endParaRPr lang="zh-CN" altLang="en-US" sz="3200" b="1" dirty="0">
              <a:latin typeface="+mn-ea"/>
              <a:ea typeface="+mn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959869" y="4931776"/>
            <a:ext cx="9796493" cy="1321242"/>
            <a:chOff x="1767378" y="2185579"/>
            <a:chExt cx="9796493" cy="2024769"/>
          </a:xfrm>
        </p:grpSpPr>
        <p:sp>
          <p:nvSpPr>
            <p:cNvPr id="36" name="矩形 35"/>
            <p:cNvSpPr/>
            <p:nvPr/>
          </p:nvSpPr>
          <p:spPr>
            <a:xfrm>
              <a:off x="1767378" y="2185579"/>
              <a:ext cx="9796493" cy="2024769"/>
            </a:xfrm>
            <a:prstGeom prst="rect">
              <a:avLst/>
            </a:prstGeom>
            <a:solidFill>
              <a:srgbClr val="ECECEC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1859744" y="2257624"/>
              <a:ext cx="9636930" cy="173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采用中断方式检测按键状态，按键按下后执行操作：翻转指示灯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LD2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的状态。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sp>
        <p:nvSpPr>
          <p:cNvPr id="38" name="Rectangle 52"/>
          <p:cNvSpPr/>
          <p:nvPr/>
        </p:nvSpPr>
        <p:spPr>
          <a:xfrm>
            <a:off x="3678163" y="1090113"/>
            <a:ext cx="483567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基础任务：中断方式读取按键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sp>
        <p:nvSpPr>
          <p:cNvPr id="30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7" grpId="0" animBg="1"/>
      <p:bldP spid="2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48" name="矩形 47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下载地址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0" name="五边形 49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燕尾形 50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02096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按键电路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24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25" name="矩形 24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6151" y="802071"/>
            <a:ext cx="6340817" cy="561730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21" name="圆角矩形标注 20"/>
          <p:cNvSpPr/>
          <p:nvPr/>
        </p:nvSpPr>
        <p:spPr>
          <a:xfrm>
            <a:off x="5758646" y="1124353"/>
            <a:ext cx="1811079" cy="867169"/>
          </a:xfrm>
          <a:prstGeom prst="wedgeRoundRectCallout">
            <a:avLst>
              <a:gd name="adj1" fmla="val -39849"/>
              <a:gd name="adj2" fmla="val 83506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按键控制引脚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PC13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646291" y="2313804"/>
            <a:ext cx="1178019" cy="577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302096" y="1795289"/>
            <a:ext cx="4859839" cy="1588427"/>
            <a:chOff x="302096" y="1795289"/>
            <a:chExt cx="4859839" cy="1588427"/>
          </a:xfrm>
        </p:grpSpPr>
        <p:sp>
          <p:nvSpPr>
            <p:cNvPr id="45" name="矩形 44"/>
            <p:cNvSpPr/>
            <p:nvPr/>
          </p:nvSpPr>
          <p:spPr>
            <a:xfrm>
              <a:off x="302096" y="2069843"/>
              <a:ext cx="4859839" cy="1313873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98229" y="2195576"/>
              <a:ext cx="4667571" cy="1135054"/>
            </a:xfrm>
            <a:prstGeom prst="rect">
              <a:avLst/>
            </a:prstGeom>
            <a:solidFill>
              <a:schemeClr val="bg1"/>
            </a:solidFill>
            <a:ln w="28575">
              <a:noFill/>
              <a:prstDash val="dash"/>
            </a:ln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en-US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按键按下，引脚</a:t>
              </a:r>
              <a:r>
                <a:rPr lang="en-US" altLang="zh-CN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PC13</a:t>
              </a:r>
              <a:r>
                <a:rPr lang="zh-CN" altLang="en-US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读到低电平</a:t>
              </a:r>
              <a:endPara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en-US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按键释放，引脚</a:t>
              </a:r>
              <a:r>
                <a:rPr lang="en-US" altLang="zh-CN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PC13</a:t>
              </a:r>
              <a:r>
                <a:rPr lang="zh-CN" altLang="en-US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读到高电平</a:t>
              </a:r>
              <a:endPara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Rectangle 52"/>
            <p:cNvSpPr/>
            <p:nvPr/>
          </p:nvSpPr>
          <p:spPr>
            <a:xfrm>
              <a:off x="1362759" y="1795289"/>
              <a:ext cx="2738512" cy="523220"/>
            </a:xfrm>
            <a:prstGeom prst="rect">
              <a:avLst/>
            </a:prstGeom>
            <a:solidFill>
              <a:srgbClr val="E44B46"/>
            </a:solidFill>
          </p:spPr>
          <p:txBody>
            <a:bodyPr wrap="square">
              <a:spAutoFit/>
            </a:bodyPr>
            <a:lstStyle/>
            <a:p>
              <a:pPr algn="ctr" defTabSz="1218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800" b="1" dirty="0">
                  <a:solidFill>
                    <a:prstClr val="white"/>
                  </a:solidFill>
                  <a:latin typeface="+mn-ea"/>
                  <a:ea typeface="+mn-ea"/>
                </a:rPr>
                <a:t>上拉式按键</a:t>
              </a:r>
              <a:endParaRPr lang="zh-CN" altLang="en-US" sz="2800" b="1" dirty="0">
                <a:solidFill>
                  <a:prstClr val="white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422791" y="4096039"/>
            <a:ext cx="4466032" cy="1135054"/>
          </a:xfrm>
          <a:prstGeom prst="rect">
            <a:avLst/>
          </a:prstGeom>
          <a:solidFill>
            <a:schemeClr val="bg1"/>
          </a:solidFill>
          <a:ln w="28575">
            <a:noFill/>
            <a:prstDash val="dash"/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按键按下瞬间，形成下降沿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按键释放瞬间，形成上升沿</a:t>
            </a:r>
            <a:endParaRPr lang="zh-CN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02096" y="3695223"/>
            <a:ext cx="4859839" cy="1603667"/>
            <a:chOff x="302096" y="3695223"/>
            <a:chExt cx="4859839" cy="1603667"/>
          </a:xfrm>
        </p:grpSpPr>
        <p:sp>
          <p:nvSpPr>
            <p:cNvPr id="46" name="矩形 45"/>
            <p:cNvSpPr/>
            <p:nvPr/>
          </p:nvSpPr>
          <p:spPr>
            <a:xfrm>
              <a:off x="302096" y="3985017"/>
              <a:ext cx="4859839" cy="1313873"/>
            </a:xfrm>
            <a:prstGeom prst="rect">
              <a:avLst/>
            </a:prstGeom>
            <a:noFill/>
            <a:ln w="38100">
              <a:solidFill>
                <a:srgbClr val="E44B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Rectangle 52"/>
            <p:cNvSpPr/>
            <p:nvPr/>
          </p:nvSpPr>
          <p:spPr>
            <a:xfrm>
              <a:off x="1362759" y="3695223"/>
              <a:ext cx="2738512" cy="523220"/>
            </a:xfrm>
            <a:prstGeom prst="rect">
              <a:avLst/>
            </a:prstGeom>
            <a:solidFill>
              <a:srgbClr val="E44B46"/>
            </a:solidFill>
          </p:spPr>
          <p:txBody>
            <a:bodyPr wrap="square">
              <a:spAutoFit/>
            </a:bodyPr>
            <a:lstStyle/>
            <a:p>
              <a:pPr algn="ctr" defTabSz="1218565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800" b="1" dirty="0">
                  <a:solidFill>
                    <a:prstClr val="white"/>
                  </a:solidFill>
                  <a:latin typeface="+mn-ea"/>
                  <a:ea typeface="+mn-ea"/>
                </a:rPr>
                <a:t>触发方式</a:t>
              </a:r>
              <a:endParaRPr lang="zh-CN" altLang="en-US" sz="2800" b="1" dirty="0">
                <a:solidFill>
                  <a:prstClr val="white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1071570" y="5897909"/>
            <a:ext cx="10972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2139219" y="5917087"/>
            <a:ext cx="0" cy="5023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2139219" y="6428252"/>
            <a:ext cx="10972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3236499" y="5897909"/>
            <a:ext cx="10972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3236499" y="5897909"/>
            <a:ext cx="0" cy="5303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795926" y="5379272"/>
            <a:ext cx="846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按下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295414" y="5937085"/>
            <a:ext cx="846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保持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905806" y="5367567"/>
            <a:ext cx="846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释放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3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2355" y="3175637"/>
            <a:ext cx="2558729" cy="1907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标注 20"/>
          <p:cNvSpPr/>
          <p:nvPr/>
        </p:nvSpPr>
        <p:spPr>
          <a:xfrm>
            <a:off x="5566151" y="3383716"/>
            <a:ext cx="1540543" cy="867169"/>
          </a:xfrm>
          <a:prstGeom prst="wedgeRoundRectCallout">
            <a:avLst>
              <a:gd name="adj1" fmla="val 64609"/>
              <a:gd name="adj2" fmla="val 29082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用户按键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B1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39" grpId="0"/>
      <p:bldP spid="40" grpId="0"/>
      <p:bldP spid="41" grpId="0"/>
      <p:bldP spid="42" grpId="0" animBg="1"/>
      <p:bldP spid="4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341" y="2659951"/>
            <a:ext cx="4881718" cy="337565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37" name="矩形 36"/>
          <p:cNvSpPr/>
          <p:nvPr/>
        </p:nvSpPr>
        <p:spPr>
          <a:xfrm>
            <a:off x="8267700" y="5572393"/>
            <a:ext cx="3076575" cy="5644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7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0" name="五边形 49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燕尾形 50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1338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引脚分配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9" name="Rectangle 52"/>
          <p:cNvSpPr/>
          <p:nvPr/>
        </p:nvSpPr>
        <p:spPr>
          <a:xfrm>
            <a:off x="4542541" y="1090113"/>
            <a:ext cx="310691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步骤二：引脚分配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38" y="1860556"/>
            <a:ext cx="4244747" cy="443769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</p:pic>
      <p:sp>
        <p:nvSpPr>
          <p:cNvPr id="26" name="文本框 25"/>
          <p:cNvSpPr txBox="1"/>
          <p:nvPr/>
        </p:nvSpPr>
        <p:spPr>
          <a:xfrm>
            <a:off x="7531922" y="1939754"/>
            <a:ext cx="2818400" cy="461665"/>
          </a:xfrm>
          <a:prstGeom prst="rect">
            <a:avLst/>
          </a:prstGeom>
          <a:solidFill>
            <a:srgbClr val="E44B46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设置按键引脚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PC13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30558" y="3848223"/>
            <a:ext cx="2917098" cy="461665"/>
          </a:xfrm>
          <a:prstGeom prst="rect">
            <a:avLst/>
          </a:prstGeom>
          <a:solidFill>
            <a:srgbClr val="E44B46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设置指示灯引脚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PA5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793854" y="4849939"/>
            <a:ext cx="2803381" cy="451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圆角矩形标注 30"/>
          <p:cNvSpPr/>
          <p:nvPr/>
        </p:nvSpPr>
        <p:spPr>
          <a:xfrm>
            <a:off x="5836825" y="4274972"/>
            <a:ext cx="2634620" cy="1206070"/>
          </a:xfrm>
          <a:prstGeom prst="wedgeRoundRectCallout">
            <a:avLst>
              <a:gd name="adj1" fmla="val 60395"/>
              <a:gd name="adj2" fmla="val 54285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引脚为外部中断功能，与外部中断线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EXTI13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连接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3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标注 30"/>
          <p:cNvSpPr/>
          <p:nvPr/>
        </p:nvSpPr>
        <p:spPr>
          <a:xfrm>
            <a:off x="470148" y="4442912"/>
            <a:ext cx="1869866" cy="1005645"/>
          </a:xfrm>
          <a:prstGeom prst="wedgeRoundRectCallout">
            <a:avLst>
              <a:gd name="adj1" fmla="val 71438"/>
              <a:gd name="adj2" fmla="val 10288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设置引脚为输出模式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Tm="26471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26" grpId="0" animBg="1"/>
      <p:bldP spid="27" grpId="0" animBg="1"/>
      <p:bldP spid="28" grpId="0" animBg="1"/>
      <p:bldP spid="31" grpId="0" animBg="1"/>
      <p:bldP spid="3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7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0" name="五边形 49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燕尾形 50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1338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外设配置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275" y="1839397"/>
            <a:ext cx="9798431" cy="4529109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23" name="文本框 22"/>
          <p:cNvSpPr txBox="1"/>
          <p:nvPr/>
        </p:nvSpPr>
        <p:spPr>
          <a:xfrm>
            <a:off x="4110767" y="2399359"/>
            <a:ext cx="1415772" cy="461665"/>
          </a:xfrm>
          <a:prstGeom prst="rect">
            <a:avLst/>
          </a:prstGeom>
          <a:solidFill>
            <a:srgbClr val="E44B46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初始电平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10767" y="3226454"/>
            <a:ext cx="1415772" cy="461665"/>
          </a:xfrm>
          <a:prstGeom prst="rect">
            <a:avLst/>
          </a:prstGeom>
          <a:solidFill>
            <a:srgbClr val="E44B46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引脚模式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110767" y="4040824"/>
            <a:ext cx="1869423" cy="461665"/>
          </a:xfrm>
          <a:prstGeom prst="rect">
            <a:avLst/>
          </a:prstGeom>
          <a:solidFill>
            <a:srgbClr val="E44B46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上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下拉电阻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10767" y="4831618"/>
            <a:ext cx="1415772" cy="461665"/>
          </a:xfrm>
          <a:prstGeom prst="rect">
            <a:avLst/>
          </a:prstGeom>
          <a:solidFill>
            <a:srgbClr val="E44B46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引脚速度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110767" y="5622412"/>
            <a:ext cx="1415772" cy="461665"/>
          </a:xfrm>
          <a:prstGeom prst="rect">
            <a:avLst/>
          </a:prstGeom>
          <a:solidFill>
            <a:srgbClr val="E44B46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引脚名称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1" name="Rectangle 52"/>
          <p:cNvSpPr/>
          <p:nvPr/>
        </p:nvSpPr>
        <p:spPr>
          <a:xfrm>
            <a:off x="4542541" y="1090113"/>
            <a:ext cx="310691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步骤三：外设配置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sp>
        <p:nvSpPr>
          <p:cNvPr id="28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618" y="55209"/>
            <a:ext cx="11166764" cy="686685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24" name="文本框 23"/>
          <p:cNvSpPr txBox="1"/>
          <p:nvPr/>
        </p:nvSpPr>
        <p:spPr>
          <a:xfrm>
            <a:off x="7960811" y="4486721"/>
            <a:ext cx="3266513" cy="461665"/>
          </a:xfrm>
          <a:prstGeom prst="rect">
            <a:avLst/>
          </a:prstGeom>
          <a:solidFill>
            <a:srgbClr val="E44B46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触发方式：下降沿触发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960811" y="5248968"/>
            <a:ext cx="1869423" cy="461665"/>
          </a:xfrm>
          <a:prstGeom prst="rect">
            <a:avLst/>
          </a:prstGeom>
          <a:solidFill>
            <a:srgbClr val="E44B46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上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下拉电阻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960811" y="6073437"/>
            <a:ext cx="1415772" cy="461665"/>
          </a:xfrm>
          <a:prstGeom prst="rect">
            <a:avLst/>
          </a:prstGeom>
          <a:solidFill>
            <a:srgbClr val="E44B46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引脚名称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56061" y="1117600"/>
            <a:ext cx="3167793" cy="4201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359266" y="1176483"/>
            <a:ext cx="1330623" cy="4813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934691" y="3516485"/>
            <a:ext cx="7970981" cy="3786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934691" y="4391437"/>
            <a:ext cx="7970981" cy="2378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52"/>
          <p:cNvSpPr/>
          <p:nvPr/>
        </p:nvSpPr>
        <p:spPr>
          <a:xfrm>
            <a:off x="9288823" y="536477"/>
            <a:ext cx="2051622" cy="954107"/>
          </a:xfrm>
          <a:prstGeom prst="rect">
            <a:avLst/>
          </a:prstGeom>
          <a:solidFill>
            <a:srgbClr val="E44B46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引脚外部中断功能设置</a:t>
            </a:r>
            <a:endParaRPr lang="zh-CN" altLang="en-US" sz="2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6062" y="100298"/>
            <a:ext cx="1483824" cy="323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标注 45"/>
          <p:cNvSpPr/>
          <p:nvPr/>
        </p:nvSpPr>
        <p:spPr>
          <a:xfrm>
            <a:off x="7179195" y="2326323"/>
            <a:ext cx="3432653" cy="889580"/>
          </a:xfrm>
          <a:prstGeom prst="wedgeRoundRectCallout">
            <a:avLst>
              <a:gd name="adj1" fmla="val -40108"/>
              <a:gd name="adj2" fmla="val 79803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在出现的引脚列表中单击需要配置的引脚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PC13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  <p:bldP spid="21" grpId="0" animBg="1"/>
      <p:bldP spid="22" grpId="0" animBg="1"/>
      <p:bldP spid="23" grpId="0" animBg="1"/>
      <p:bldP spid="26" grpId="0" animBg="1"/>
      <p:bldP spid="11" grpId="0" animBg="1"/>
      <p:bldP spid="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77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78" name="矩形 7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7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0" name="五边形 49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燕尾形 50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1338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外设配置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31" name="Rectangle 52"/>
          <p:cNvSpPr/>
          <p:nvPr/>
        </p:nvSpPr>
        <p:spPr>
          <a:xfrm>
            <a:off x="4357466" y="1090113"/>
            <a:ext cx="3843853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使能对应的外部中断线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95" y="2197046"/>
            <a:ext cx="11061611" cy="356042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28" name="矩形 27"/>
          <p:cNvSpPr/>
          <p:nvPr/>
        </p:nvSpPr>
        <p:spPr>
          <a:xfrm>
            <a:off x="655637" y="3810000"/>
            <a:ext cx="3210388" cy="390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17326" y="3229354"/>
            <a:ext cx="1369374" cy="4949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256087" y="3977257"/>
            <a:ext cx="4497388" cy="390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标注 33"/>
          <p:cNvSpPr/>
          <p:nvPr/>
        </p:nvSpPr>
        <p:spPr>
          <a:xfrm>
            <a:off x="6381135" y="4890193"/>
            <a:ext cx="3598607" cy="867276"/>
          </a:xfrm>
          <a:prstGeom prst="wedgeRoundRectCallout">
            <a:avLst>
              <a:gd name="adj1" fmla="val -39849"/>
              <a:gd name="adj2" fmla="val -104900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使能引脚对应的外部中断线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EXTI Line[15:10]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3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1" y="140515"/>
            <a:ext cx="11986251" cy="640951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6" name="矩形 5"/>
          <p:cNvSpPr/>
          <p:nvPr/>
        </p:nvSpPr>
        <p:spPr>
          <a:xfrm>
            <a:off x="277290" y="2087217"/>
            <a:ext cx="2048467" cy="3677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862470" y="885826"/>
            <a:ext cx="5277678" cy="4360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标注 7"/>
          <p:cNvSpPr/>
          <p:nvPr/>
        </p:nvSpPr>
        <p:spPr>
          <a:xfrm>
            <a:off x="8752065" y="240145"/>
            <a:ext cx="2916060" cy="1155021"/>
          </a:xfrm>
          <a:prstGeom prst="wedgeRoundRectCallout">
            <a:avLst>
              <a:gd name="adj1" fmla="val -69672"/>
              <a:gd name="adj2" fmla="val 28674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优先级分组为第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组</a:t>
            </a:r>
            <a:endParaRPr lang="en-US" altLang="zh-CN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级抢占优先级</a:t>
            </a:r>
            <a:endParaRPr lang="en-US" altLang="zh-CN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>
              <a:lnSpc>
                <a:spcPts val="26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没有子优先级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95575" y="4904836"/>
            <a:ext cx="8555521" cy="4101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标注 9"/>
          <p:cNvSpPr/>
          <p:nvPr/>
        </p:nvSpPr>
        <p:spPr>
          <a:xfrm>
            <a:off x="166279" y="3389244"/>
            <a:ext cx="2892424" cy="1252496"/>
          </a:xfrm>
          <a:prstGeom prst="wedgeRoundRectCallout">
            <a:avLst>
              <a:gd name="adj1" fmla="val 77552"/>
              <a:gd name="adj2" fmla="val 67846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修改外部中断线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EXTI line[15:10]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的抢占优先级为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54245" y="3016450"/>
            <a:ext cx="7011970" cy="954107"/>
          </a:xfrm>
          <a:prstGeom prst="rect">
            <a:avLst/>
          </a:prstGeom>
          <a:solidFill>
            <a:srgbClr val="E44B46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注意：大多数情况不必设置中断优先级，而直接使用由中断编号设置的默认中断优先级</a:t>
            </a:r>
            <a:endParaRPr lang="zh-CN" altLang="en-US" sz="2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Rectangle 52"/>
          <p:cNvSpPr/>
          <p:nvPr/>
        </p:nvSpPr>
        <p:spPr>
          <a:xfrm>
            <a:off x="5894558" y="76431"/>
            <a:ext cx="2761089" cy="523220"/>
          </a:xfrm>
          <a:prstGeom prst="rect">
            <a:avLst/>
          </a:prstGeom>
          <a:solidFill>
            <a:srgbClr val="E44B46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配置中断优先级</a:t>
            </a:r>
            <a:endParaRPr lang="zh-CN" altLang="en-US" sz="2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6425" y="631744"/>
            <a:ext cx="1346066" cy="3677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862470" y="515532"/>
            <a:ext cx="991775" cy="2692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15009" y="845425"/>
            <a:ext cx="11704166" cy="583749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1.	/* USER CODE BEGIN 4 */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2.	/*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3.	 * @brief  EXTI line detection callbacks.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4.	 * @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param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: Specifies the pins connected EXTI line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， </a:t>
            </a:r>
            <a:endParaRPr lang="zh-CN" altLang="en-US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5.	 * @</a:t>
            </a:r>
            <a:r>
              <a:rPr lang="en-US" altLang="zh-CN" sz="24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retval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None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6.	 */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7.	</a:t>
            </a:r>
            <a:r>
              <a:rPr lang="en-US" altLang="zh-CN" sz="24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void </a:t>
            </a:r>
            <a:r>
              <a:rPr lang="en-US" altLang="zh-CN" sz="24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HAL_GPIO_EXTI_Callback</a:t>
            </a:r>
            <a:r>
              <a:rPr lang="en-US" altLang="zh-CN" sz="24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(uint16_t </a:t>
            </a:r>
            <a:r>
              <a:rPr lang="en-US" altLang="zh-CN" sz="24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  </a:t>
            </a:r>
            <a:endParaRPr lang="en-US" altLang="zh-CN" sz="2400" b="1" dirty="0"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8.	</a:t>
            </a:r>
            <a:r>
              <a:rPr lang="en-US" altLang="zh-CN" sz="24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{ 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9.	  </a:t>
            </a:r>
            <a:r>
              <a:rPr lang="en-US" altLang="zh-CN" sz="24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if( </a:t>
            </a:r>
            <a:r>
              <a:rPr lang="en-US" altLang="zh-CN" sz="24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4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== B1_EXTI_Pin )    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判断发生外部中断的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引脚</a:t>
            </a:r>
            <a:endParaRPr lang="zh-CN" altLang="en-US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10.	</a:t>
            </a:r>
            <a:r>
              <a:rPr lang="en-US" altLang="zh-CN" sz="24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{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11.	 </a:t>
            </a:r>
            <a:r>
              <a:rPr lang="en-US" altLang="zh-CN" sz="24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HAL_GPIO_TogglePin</a:t>
            </a:r>
            <a:r>
              <a:rPr lang="en-US" altLang="zh-CN" sz="24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(LD2_GPIO_Port, LD2_Pin);  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翻转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LD2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状态  </a:t>
            </a:r>
            <a:endParaRPr lang="zh-CN" altLang="en-US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12.	</a:t>
            </a:r>
            <a:r>
              <a:rPr lang="en-US" altLang="zh-CN" sz="24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}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13.</a:t>
            </a:r>
            <a:r>
              <a:rPr lang="en-US" altLang="zh-CN" sz="24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}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2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14.	/* USER CODE END 4 */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2400" dirty="0">
              <a:solidFill>
                <a:srgbClr val="000000"/>
              </a:solidFill>
              <a:effectLst/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76325" y="94288"/>
            <a:ext cx="303935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  <a:ea typeface="+mn-ea"/>
              </a:rPr>
              <a:t>步骤六：程序编写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45448" y="892143"/>
            <a:ext cx="3855862" cy="429788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37811" y="6202837"/>
            <a:ext cx="3989494" cy="392216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75268" y="3331602"/>
            <a:ext cx="8142489" cy="2783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标注 4"/>
          <p:cNvSpPr/>
          <p:nvPr/>
        </p:nvSpPr>
        <p:spPr>
          <a:xfrm>
            <a:off x="8981631" y="2595085"/>
            <a:ext cx="1696912" cy="833915"/>
          </a:xfrm>
          <a:prstGeom prst="wedgeRoundRectCallout">
            <a:avLst>
              <a:gd name="adj1" fmla="val -50960"/>
              <a:gd name="adj2" fmla="val 95941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外部中断回调函数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" name="圆角矩形标注 4"/>
          <p:cNvSpPr/>
          <p:nvPr/>
        </p:nvSpPr>
        <p:spPr>
          <a:xfrm>
            <a:off x="5279923" y="5482606"/>
            <a:ext cx="6768668" cy="1281106"/>
          </a:xfrm>
          <a:prstGeom prst="wedgeRoundRectCallout">
            <a:avLst>
              <a:gd name="adj1" fmla="val -22073"/>
              <a:gd name="adj2" fmla="val 50724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注意：本任务只设置一个外部中断引脚，因此不需要判断多个引脚。如果系统中设置了多个外部中断，建议使用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switch-case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进行多分支判断。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11045" y="4090220"/>
            <a:ext cx="5378246" cy="481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440424" y="4912959"/>
            <a:ext cx="7329949" cy="481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6" grpId="0" animBg="1"/>
      <p:bldP spid="7" grpId="0" animBg="1"/>
      <p:bldP spid="11" grpId="0" animBg="1"/>
      <p:bldP spid="12" grpId="0" animBg="1"/>
      <p:bldP spid="1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33061" y="443249"/>
            <a:ext cx="11192527" cy="6329874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6.	static void </a:t>
            </a:r>
            <a:r>
              <a:rPr lang="en-US" altLang="zh-CN" sz="20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MX_GPIO_Init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(void)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7.	{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8.	  </a:t>
            </a:r>
            <a:r>
              <a:rPr lang="en-US" altLang="zh-CN" sz="20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GPIO_InitTypeDef</a:t>
            </a:r>
            <a:r>
              <a:rPr lang="en-US" altLang="zh-CN" sz="20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GPIO_InitStruct</a:t>
            </a:r>
            <a:r>
              <a:rPr lang="en-US" altLang="zh-CN" sz="20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 {0};  </a:t>
            </a:r>
            <a:endParaRPr lang="en-US" altLang="zh-CN" sz="2000" b="1" dirty="0"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9.	  /* GPIO Ports Clock Enable */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10.	  </a:t>
            </a:r>
            <a:r>
              <a:rPr lang="en-US" altLang="zh-CN" sz="20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__HAL_RCC_GPIOC_CLK_ENABLE();  </a:t>
            </a:r>
            <a:endParaRPr lang="en-US" altLang="zh-CN" sz="2000" b="1" dirty="0"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15.	  /*Configure GPIO pin : B1_EXTI_Pin */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16.	  </a:t>
            </a:r>
            <a:r>
              <a:rPr lang="en-US" altLang="zh-CN" sz="20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GPIO_InitStruct.Pin</a:t>
            </a:r>
            <a:r>
              <a:rPr lang="en-US" altLang="zh-CN" sz="20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 B1_EXTI_Pin;  </a:t>
            </a:r>
            <a:endParaRPr lang="en-US" altLang="zh-CN" sz="2000" b="1" dirty="0"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17.	  </a:t>
            </a:r>
            <a:r>
              <a:rPr lang="en-US" altLang="zh-CN" sz="20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GPIO_InitStruct.Mode</a:t>
            </a:r>
            <a:r>
              <a:rPr lang="en-US" altLang="zh-CN" sz="20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 GPIO_MODE_IT_FALLING;  </a:t>
            </a:r>
            <a:endParaRPr lang="en-US" altLang="zh-CN" sz="2000" b="1" dirty="0"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18.	  </a:t>
            </a:r>
            <a:r>
              <a:rPr lang="en-US" altLang="zh-CN" sz="20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GPIO_InitStruct.Pull</a:t>
            </a:r>
            <a:r>
              <a:rPr lang="en-US" altLang="zh-CN" sz="20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 GPIO_NOPULL;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19.	  </a:t>
            </a:r>
            <a:r>
              <a:rPr lang="en-US" altLang="zh-CN" sz="20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HAL_GPIO_Init</a:t>
            </a:r>
            <a:r>
              <a:rPr lang="en-US" altLang="zh-CN" sz="20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(B1_EXTI_GPIO_Port, &amp;</a:t>
            </a:r>
            <a:r>
              <a:rPr lang="en-US" altLang="zh-CN" sz="20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GPIO_InitStruct</a:t>
            </a:r>
            <a:r>
              <a:rPr lang="en-US" altLang="zh-CN" sz="20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);  </a:t>
            </a:r>
            <a:endParaRPr lang="en-US" altLang="zh-CN" sz="2000" b="1" dirty="0"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26.	  /* EXTI interrupt </a:t>
            </a:r>
            <a:r>
              <a:rPr lang="en-US" altLang="zh-CN" sz="20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init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*/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27.	  </a:t>
            </a:r>
            <a:r>
              <a:rPr lang="en-US" altLang="zh-CN" sz="20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HAL_NVIC_SetPriority</a:t>
            </a:r>
            <a:r>
              <a:rPr lang="en-US" altLang="zh-CN" sz="20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(EXTI15_10_IRQn, 15, 0);  </a:t>
            </a:r>
            <a:endParaRPr lang="en-US" altLang="zh-CN" sz="2000" b="1" dirty="0"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28.	  </a:t>
            </a:r>
            <a:r>
              <a:rPr lang="en-US" altLang="zh-CN" sz="2000" b="1" dirty="0" err="1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HAL_NVIC_EnableIRQ</a:t>
            </a:r>
            <a:r>
              <a:rPr lang="en-US" altLang="zh-CN" sz="2000" b="1" dirty="0"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(EXTI15_10_IRQn);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3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29.	} </a:t>
            </a:r>
            <a:endParaRPr lang="zh-CN" altLang="zh-CN" sz="2400" dirty="0">
              <a:solidFill>
                <a:srgbClr val="000000"/>
              </a:solidFill>
              <a:effectLst/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06865" y="19050"/>
            <a:ext cx="5578270" cy="523220"/>
          </a:xfrm>
          <a:prstGeom prst="rect">
            <a:avLst/>
          </a:prstGeom>
          <a:solidFill>
            <a:srgbClr val="E44B46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</a:rPr>
              <a:t>引脚设置为外部中断的初始化函数</a:t>
            </a:r>
            <a:endParaRPr lang="zh-CN" altLang="en-US" sz="2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8646" y="3657600"/>
            <a:ext cx="7393389" cy="4374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标注 4"/>
          <p:cNvSpPr/>
          <p:nvPr/>
        </p:nvSpPr>
        <p:spPr>
          <a:xfrm>
            <a:off x="8255363" y="2616607"/>
            <a:ext cx="2904250" cy="828894"/>
          </a:xfrm>
          <a:prstGeom prst="wedgeRoundRectCallout">
            <a:avLst>
              <a:gd name="adj1" fmla="val -42557"/>
              <a:gd name="adj2" fmla="val 84692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设置外部中断触发方式为下降沿触发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8646" y="5309621"/>
            <a:ext cx="6386628" cy="10080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标注 8"/>
          <p:cNvSpPr/>
          <p:nvPr/>
        </p:nvSpPr>
        <p:spPr>
          <a:xfrm>
            <a:off x="7850626" y="5114069"/>
            <a:ext cx="3774962" cy="1300682"/>
          </a:xfrm>
          <a:prstGeom prst="wedgeRoundRectCallout">
            <a:avLst>
              <a:gd name="adj1" fmla="val -60473"/>
              <a:gd name="adj2" fmla="val 2445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设置外部中断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EXTI15_10</a:t>
            </a:r>
            <a:endParaRPr lang="en-US" altLang="zh-CN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的中断优先级为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，并使能这个外部中断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23826" y="593887"/>
            <a:ext cx="4326903" cy="3725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标注 4"/>
          <p:cNvSpPr/>
          <p:nvPr/>
        </p:nvSpPr>
        <p:spPr>
          <a:xfrm>
            <a:off x="5489148" y="604418"/>
            <a:ext cx="2952887" cy="925510"/>
          </a:xfrm>
          <a:prstGeom prst="wedgeRoundRectCallout">
            <a:avLst>
              <a:gd name="adj1" fmla="val -57163"/>
              <a:gd name="adj2" fmla="val -36996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由</a:t>
            </a:r>
            <a:r>
              <a:rPr lang="en-US" altLang="zh-CN" sz="2400" b="1" dirty="0" err="1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CubeMX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自动生成的引脚初始化函数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412487" y="1893658"/>
            <a:ext cx="590001" cy="590001"/>
            <a:chOff x="900445" y="3896745"/>
            <a:chExt cx="590001" cy="590001"/>
          </a:xfrm>
        </p:grpSpPr>
        <p:sp>
          <p:nvSpPr>
            <p:cNvPr id="13" name="椭圆 12"/>
            <p:cNvSpPr/>
            <p:nvPr/>
          </p:nvSpPr>
          <p:spPr>
            <a:xfrm>
              <a:off x="967465" y="3963765"/>
              <a:ext cx="455963" cy="455963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Rounded MT Bold" panose="020F0704030504030204" pitchFamily="34" charset="0"/>
                </a:rPr>
                <a:t>1</a:t>
              </a:r>
              <a:endParaRPr lang="zh-CN" altLang="en-US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4" name="同心圆 27"/>
            <p:cNvSpPr/>
            <p:nvPr/>
          </p:nvSpPr>
          <p:spPr>
            <a:xfrm>
              <a:off x="900445" y="3896745"/>
              <a:ext cx="590001" cy="590001"/>
            </a:xfrm>
            <a:prstGeom prst="donut">
              <a:avLst>
                <a:gd name="adj" fmla="val 1299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412487" y="4362016"/>
            <a:ext cx="590001" cy="590001"/>
            <a:chOff x="900445" y="3896745"/>
            <a:chExt cx="590001" cy="590001"/>
          </a:xfrm>
        </p:grpSpPr>
        <p:sp>
          <p:nvSpPr>
            <p:cNvPr id="16" name="椭圆 15"/>
            <p:cNvSpPr/>
            <p:nvPr/>
          </p:nvSpPr>
          <p:spPr>
            <a:xfrm>
              <a:off x="967465" y="3963765"/>
              <a:ext cx="455963" cy="455963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Rounded MT Bold" panose="020F0704030504030204" pitchFamily="34" charset="0"/>
                </a:rPr>
                <a:t>2</a:t>
              </a:r>
              <a:endParaRPr lang="zh-CN" altLang="en-US" sz="28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7" name="同心圆 27"/>
            <p:cNvSpPr/>
            <p:nvPr/>
          </p:nvSpPr>
          <p:spPr>
            <a:xfrm>
              <a:off x="900445" y="3896745"/>
              <a:ext cx="590001" cy="590001"/>
            </a:xfrm>
            <a:prstGeom prst="donut">
              <a:avLst>
                <a:gd name="adj" fmla="val 1299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455522" y="5594380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47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0" name="五边形 49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燕尾形 50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1338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你的任务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67374" y="1755867"/>
            <a:ext cx="874595" cy="87459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2"/>
                </a:solidFill>
                <a:latin typeface="+mn-ea"/>
              </a:rPr>
              <a:t>1</a:t>
            </a:r>
            <a:endParaRPr lang="zh-CN" altLang="en-US" sz="3200" b="1" dirty="0">
              <a:solidFill>
                <a:schemeClr val="bg2"/>
              </a:solidFill>
              <a:latin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52869" y="1892923"/>
            <a:ext cx="5517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  <a:ea typeface="+mn-ea"/>
              </a:rPr>
              <a:t>任务一：改变中断触发方式</a:t>
            </a:r>
            <a:endParaRPr lang="zh-CN" altLang="en-US" sz="3200" b="1" dirty="0">
              <a:latin typeface="+mn-ea"/>
              <a:ea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648781" y="2645228"/>
            <a:ext cx="9890385" cy="1176713"/>
            <a:chOff x="1767379" y="2185579"/>
            <a:chExt cx="9729295" cy="2034984"/>
          </a:xfrm>
        </p:grpSpPr>
        <p:sp>
          <p:nvSpPr>
            <p:cNvPr id="25" name="矩形 24"/>
            <p:cNvSpPr/>
            <p:nvPr/>
          </p:nvSpPr>
          <p:spPr>
            <a:xfrm>
              <a:off x="1767379" y="2185579"/>
              <a:ext cx="9636932" cy="2020781"/>
            </a:xfrm>
            <a:prstGeom prst="rect">
              <a:avLst/>
            </a:prstGeom>
            <a:solidFill>
              <a:srgbClr val="ECECEC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859744" y="2257623"/>
              <a:ext cx="9636930" cy="1962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将本任务中外部中断的触发方式改为上升沿触发，并观察指示灯状态变化的时刻。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sp>
        <p:nvSpPr>
          <p:cNvPr id="27" name="椭圆 26"/>
          <p:cNvSpPr/>
          <p:nvPr/>
        </p:nvSpPr>
        <p:spPr>
          <a:xfrm>
            <a:off x="866551" y="3772053"/>
            <a:ext cx="874595" cy="87459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2"/>
                </a:solidFill>
                <a:latin typeface="+mn-ea"/>
              </a:rPr>
              <a:t>2</a:t>
            </a:r>
            <a:endParaRPr lang="zh-CN" altLang="en-US" sz="3200" b="1" dirty="0">
              <a:solidFill>
                <a:schemeClr val="bg2"/>
              </a:solidFill>
              <a:latin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752046" y="3955133"/>
            <a:ext cx="7863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  <a:ea typeface="+mn-ea"/>
              </a:rPr>
              <a:t>任务二：利用</a:t>
            </a:r>
            <a:r>
              <a:rPr lang="en-US" altLang="zh-CN" sz="3200" b="1" dirty="0">
                <a:latin typeface="+mn-ea"/>
                <a:ea typeface="+mn-ea"/>
              </a:rPr>
              <a:t>GPIO</a:t>
            </a:r>
            <a:r>
              <a:rPr lang="zh-CN" altLang="en-US" sz="3200" b="1" dirty="0">
                <a:latin typeface="+mn-ea"/>
                <a:ea typeface="+mn-ea"/>
              </a:rPr>
              <a:t>引脚模拟外部中断信号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32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648780" y="4845855"/>
            <a:ext cx="9796493" cy="1811924"/>
            <a:chOff x="1767378" y="2185579"/>
            <a:chExt cx="9796493" cy="2776726"/>
          </a:xfrm>
        </p:grpSpPr>
        <p:sp>
          <p:nvSpPr>
            <p:cNvPr id="36" name="矩形 35"/>
            <p:cNvSpPr/>
            <p:nvPr/>
          </p:nvSpPr>
          <p:spPr>
            <a:xfrm>
              <a:off x="1767378" y="2185579"/>
              <a:ext cx="9796493" cy="2776726"/>
            </a:xfrm>
            <a:prstGeom prst="rect">
              <a:avLst/>
            </a:prstGeom>
            <a:solidFill>
              <a:srgbClr val="ECECEC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1859744" y="2257624"/>
              <a:ext cx="9636930" cy="25884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使用一个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GPIO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引脚输出一个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10Hz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的方波来模拟外部中断信号，利用杜邦线将该引脚与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PC13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相连，设置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PC13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为双边沿触发，在中断中执行翻转指示灯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LD2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状态的操作，要求观察并记录指示灯的变化情况。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7" grpId="0" animBg="1"/>
      <p:bldP spid="2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5"/>
          <p:cNvSpPr txBox="1">
            <a:spLocks noChangeArrowheads="1"/>
          </p:cNvSpPr>
          <p:nvPr/>
        </p:nvSpPr>
        <p:spPr bwMode="auto">
          <a:xfrm>
            <a:off x="1843088" y="2376488"/>
            <a:ext cx="8777287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换个角度认识和对待我们的事业</a:t>
            </a:r>
            <a:endParaRPr lang="zh-CN" altLang="en-US" sz="4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参加教育部第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157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期高校骨干辅导员培训班学习体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179320"/>
            <a:ext cx="12195175" cy="1914525"/>
          </a:xfrm>
          <a:prstGeom prst="rect">
            <a:avLst/>
          </a:prstGeom>
          <a:solidFill>
            <a:srgbClr val="E44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>
              <a:solidFill>
                <a:srgbClr val="E44B46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文本框 9"/>
          <p:cNvSpPr txBox="1">
            <a:spLocks noChangeArrowheads="1"/>
          </p:cNvSpPr>
          <p:nvPr/>
        </p:nvSpPr>
        <p:spPr bwMode="auto">
          <a:xfrm>
            <a:off x="0" y="2628088"/>
            <a:ext cx="12192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2  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进阶任务：改变指示灯闪烁频率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91" y="280873"/>
            <a:ext cx="2571953" cy="6751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766611" y="569915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47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0" name="五边形 49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燕尾形 50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1338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进阶任务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78463" y="1945485"/>
            <a:ext cx="874595" cy="87459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2"/>
                </a:solidFill>
                <a:latin typeface="+mn-ea"/>
              </a:rPr>
              <a:t>1</a:t>
            </a:r>
            <a:endParaRPr lang="zh-CN" altLang="en-US" sz="3200" b="1" dirty="0">
              <a:solidFill>
                <a:schemeClr val="bg2"/>
              </a:solidFill>
              <a:latin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063958" y="2082541"/>
            <a:ext cx="1963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  <a:ea typeface="+mn-ea"/>
              </a:rPr>
              <a:t>任务目标</a:t>
            </a:r>
            <a:endParaRPr lang="zh-CN" altLang="en-US" sz="3200" b="1" dirty="0">
              <a:latin typeface="+mn-ea"/>
              <a:ea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959870" y="2976251"/>
            <a:ext cx="9890385" cy="767379"/>
            <a:chOff x="1767379" y="2185579"/>
            <a:chExt cx="9729295" cy="1327090"/>
          </a:xfrm>
        </p:grpSpPr>
        <p:sp>
          <p:nvSpPr>
            <p:cNvPr id="25" name="矩形 24"/>
            <p:cNvSpPr/>
            <p:nvPr/>
          </p:nvSpPr>
          <p:spPr>
            <a:xfrm>
              <a:off x="1767379" y="2185579"/>
              <a:ext cx="9636932" cy="1327090"/>
            </a:xfrm>
            <a:prstGeom prst="rect">
              <a:avLst/>
            </a:prstGeom>
            <a:solidFill>
              <a:srgbClr val="ECECEC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859744" y="2257623"/>
              <a:ext cx="9636930" cy="1004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掌握</a:t>
              </a:r>
              <a:r>
                <a:rPr lang="en-US" altLang="zh-CN" sz="2400" b="1" dirty="0" err="1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CubeMX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软件配置外部中断的方法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sp>
        <p:nvSpPr>
          <p:cNvPr id="27" name="椭圆 26"/>
          <p:cNvSpPr/>
          <p:nvPr/>
        </p:nvSpPr>
        <p:spPr>
          <a:xfrm>
            <a:off x="1177640" y="3857974"/>
            <a:ext cx="874595" cy="87459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2"/>
                </a:solidFill>
                <a:latin typeface="+mn-ea"/>
              </a:rPr>
              <a:t>2</a:t>
            </a:r>
            <a:endParaRPr lang="zh-CN" altLang="en-US" sz="3200" b="1" dirty="0">
              <a:solidFill>
                <a:schemeClr val="bg2"/>
              </a:solidFill>
              <a:latin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063136" y="4041054"/>
            <a:ext cx="1963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  <a:ea typeface="+mn-ea"/>
              </a:rPr>
              <a:t>任务内容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32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959869" y="4931776"/>
            <a:ext cx="9796493" cy="1801338"/>
            <a:chOff x="1767378" y="2185579"/>
            <a:chExt cx="9796493" cy="2760504"/>
          </a:xfrm>
        </p:grpSpPr>
        <p:sp>
          <p:nvSpPr>
            <p:cNvPr id="36" name="矩形 35"/>
            <p:cNvSpPr/>
            <p:nvPr/>
          </p:nvSpPr>
          <p:spPr>
            <a:xfrm>
              <a:off x="1767378" y="2185579"/>
              <a:ext cx="9796493" cy="2760504"/>
            </a:xfrm>
            <a:prstGeom prst="rect">
              <a:avLst/>
            </a:prstGeom>
            <a:solidFill>
              <a:srgbClr val="ECECEC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1859744" y="2257624"/>
              <a:ext cx="9636930" cy="2588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利用按键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B1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改变指示灯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LD2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的闪烁频率，闪烁频率设置为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档：初始状态时，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LD2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按照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2Hz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的频率闪烁；第一次按键后，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LD2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按照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10Hz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的频率闪烁；第二次按键后，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LD2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按照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20Hz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的频率闪烁，并重复上述过程。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sp>
        <p:nvSpPr>
          <p:cNvPr id="38" name="Rectangle 52"/>
          <p:cNvSpPr/>
          <p:nvPr/>
        </p:nvSpPr>
        <p:spPr>
          <a:xfrm>
            <a:off x="3678162" y="1090113"/>
            <a:ext cx="535500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进阶任务：改变指示灯闪烁频率</a:t>
            </a:r>
            <a:endParaRPr lang="zh-CN" altLang="en-US" sz="2800" b="1" dirty="0">
              <a:solidFill>
                <a:srgbClr val="E44B4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7" grpId="0" animBg="1"/>
      <p:bldP spid="2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5498" y="1104044"/>
            <a:ext cx="688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ISR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12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15" name="五边形 14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1338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设计思路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18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19" name="矩形 18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20" name="矩形 19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21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388249" y="2337905"/>
            <a:ext cx="9546843" cy="2797048"/>
          </a:xfrm>
          <a:prstGeom prst="rect">
            <a:avLst/>
          </a:prstGeom>
          <a:ln w="38100">
            <a:noFill/>
            <a:prstDash val="dash"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采用前后台编程模式；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定义一个全局变量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BlinkSpeed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，初始化为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在前台程序：外部中断服务程序中修改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BlinkSpeed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在后台程序：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while(1)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循环中不断检测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BlinkSpeed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的值，根据取值的不同修改指示灯闪烁频率。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173160" y="2243580"/>
            <a:ext cx="9845680" cy="3065472"/>
          </a:xfrm>
          <a:prstGeom prst="rect">
            <a:avLst/>
          </a:prstGeom>
          <a:noFill/>
          <a:ln w="38100">
            <a:solidFill>
              <a:srgbClr val="E44B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29" name="矩形 28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1" name="Rectangle 52"/>
          <p:cNvSpPr/>
          <p:nvPr/>
        </p:nvSpPr>
        <p:spPr>
          <a:xfrm>
            <a:off x="5274017" y="1065054"/>
            <a:ext cx="164396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设计思路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32" name="圆角矩形标注 52"/>
          <p:cNvSpPr/>
          <p:nvPr/>
        </p:nvSpPr>
        <p:spPr>
          <a:xfrm>
            <a:off x="2063959" y="5612025"/>
            <a:ext cx="7854169" cy="555652"/>
          </a:xfrm>
          <a:prstGeom prst="wedgeRoundRectCallout">
            <a:avLst>
              <a:gd name="adj1" fmla="val -26601"/>
              <a:gd name="adj2" fmla="val 24081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注意：本任务的引脚分配及外设配置与基础任务相同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90610" y="4966322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5498" y="1104044"/>
            <a:ext cx="688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ISR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5498" y="2717308"/>
            <a:ext cx="11020825" cy="2249014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USER CODE BEGIN PV */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指示灯闪烁频率：</a:t>
            </a: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0--&gt;2Hz 1--&gt;10Hz 2--&gt;20Hz 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uint8_t 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BlinkSpeed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 0;   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24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USER CODE END PV */ </a:t>
            </a:r>
            <a:endParaRPr lang="en-US" altLang="zh-CN" sz="24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2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3335" y="10962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基本流程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15" name="五边形 14"/>
          <p:cNvSpPr/>
          <p:nvPr/>
        </p:nvSpPr>
        <p:spPr>
          <a:xfrm>
            <a:off x="-15875" y="995423"/>
            <a:ext cx="2103294" cy="655320"/>
          </a:xfrm>
          <a:prstGeom prst="homePlate">
            <a:avLst>
              <a:gd name="adj" fmla="val 38372"/>
            </a:avLst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2063959" y="995423"/>
            <a:ext cx="509270" cy="655320"/>
          </a:xfrm>
          <a:prstGeom prst="chevron">
            <a:avLst/>
          </a:prstGeom>
          <a:solidFill>
            <a:srgbClr val="E44B4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1338" y="108693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程序编写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pSp>
        <p:nvGrpSpPr>
          <p:cNvPr id="18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19" name="矩形 18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20" name="矩形 19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21" name="文本框 13"/>
          <p:cNvSpPr txBox="1">
            <a:spLocks noChangeArrowheads="1"/>
          </p:cNvSpPr>
          <p:nvPr/>
        </p:nvSpPr>
        <p:spPr bwMode="auto">
          <a:xfrm>
            <a:off x="1574488" y="320389"/>
            <a:ext cx="2291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EXTI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55682" y="3940797"/>
            <a:ext cx="4129060" cy="414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ctangle 52"/>
          <p:cNvSpPr/>
          <p:nvPr/>
        </p:nvSpPr>
        <p:spPr>
          <a:xfrm>
            <a:off x="4536650" y="1989571"/>
            <a:ext cx="3118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添加用户变量定义</a:t>
            </a:r>
            <a:endParaRPr lang="zh-CN" altLang="en-US" sz="2800" b="1" dirty="0">
              <a:latin typeface="+mn-ea"/>
              <a:ea typeface="+mn-ea"/>
            </a:endParaRPr>
          </a:p>
        </p:txBody>
      </p:sp>
      <p:grpSp>
        <p:nvGrpSpPr>
          <p:cNvPr id="23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28" name="矩形 27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1055682" y="2896164"/>
            <a:ext cx="4242182" cy="429788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055682" y="4491942"/>
            <a:ext cx="4242182" cy="429788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576325" y="1065495"/>
            <a:ext cx="303935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  <a:ea typeface="+mn-ea"/>
              </a:rPr>
              <a:t>步骤六：程序编写</a:t>
            </a:r>
            <a:endParaRPr lang="zh-CN" altLang="en-US" sz="28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0" grpId="0" animBg="1"/>
      <p:bldP spid="3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5498" y="1104044"/>
            <a:ext cx="688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ISR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40058" y="633173"/>
            <a:ext cx="10311884" cy="6093976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10.	 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USER CODE BEGIN 3 */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11.	  if(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BlinkSpeed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== 0 )     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指示灯的闪烁频率为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2Hz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endParaRPr lang="zh-CN" altLang="en-US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12.	  {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13.	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HAL_GPIO_TogglePin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(LD2_GPIO_Port, LD2_Pin);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14.	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HAL_Delay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(500);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15.	   }        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16.	  else if(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Blink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Speed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== 1 ) 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指示灯的闪烁频率为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10Hz </a:t>
            </a:r>
            <a:endParaRPr lang="zh-CN" altLang="en-US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17.	  {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18.	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HAL_GPIO_TogglePin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(LD2_GPIO_Port, LD2_Pin);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19.	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HAL_Delay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(100);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20.	   }    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21.	  else                      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指示灯的闪烁频率为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20Hz </a:t>
            </a:r>
            <a:endParaRPr lang="zh-CN" altLang="en-US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22.	  {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23.	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HAL_GPIO_TogglePin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(LD2_GPIO_Port, LD2_Pin);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24.	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HAL_Delay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(50);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25.	  } 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26.	}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27.	 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USER CODE END 3 */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1" name="Rectangle 52"/>
          <p:cNvSpPr/>
          <p:nvPr/>
        </p:nvSpPr>
        <p:spPr>
          <a:xfrm>
            <a:off x="3999895" y="36503"/>
            <a:ext cx="41922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后台程序：用户应用代码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08866" y="696441"/>
            <a:ext cx="3734634" cy="349755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408866" y="6287846"/>
            <a:ext cx="3477170" cy="337084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标注 52"/>
          <p:cNvSpPr/>
          <p:nvPr/>
        </p:nvSpPr>
        <p:spPr>
          <a:xfrm>
            <a:off x="6966408" y="5383144"/>
            <a:ext cx="4182004" cy="1304200"/>
          </a:xfrm>
          <a:prstGeom prst="wedgeRoundRectCallout">
            <a:avLst>
              <a:gd name="adj1" fmla="val -26601"/>
              <a:gd name="adj2" fmla="val 24081"/>
              <a:gd name="adj3" fmla="val 16667"/>
            </a:avLst>
          </a:prstGeom>
          <a:solidFill>
            <a:srgbClr val="FFFFC8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代码解析</a:t>
            </a:r>
            <a:endParaRPr lang="en-US" altLang="zh-CN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根据</a:t>
            </a:r>
            <a:r>
              <a:rPr lang="en-US" altLang="zh-CN" sz="2400" b="1" dirty="0" err="1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BlinkSpeed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的不同取值，修改指示灯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LD2</a:t>
            </a:r>
            <a:r>
              <a:rPr lang="zh-CN" altLang="en-US" sz="24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的闪烁频率。</a:t>
            </a:r>
            <a:endParaRPr lang="zh-CN" altLang="en-US" sz="24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5498" y="1104044"/>
            <a:ext cx="688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ISR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40058" y="633173"/>
            <a:ext cx="10311884" cy="607660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1.	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USER CODE BEGIN 4 */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2.	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3.	 * @brief  EXTI line detection callbacks.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4.	 * @</a:t>
            </a:r>
            <a:r>
              <a:rPr lang="en-US" altLang="zh-CN" sz="20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param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r>
              <a:rPr lang="en-US" altLang="zh-CN" sz="20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: Specifies the pins connected EXTI line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5.	 * @</a:t>
            </a:r>
            <a:r>
              <a:rPr lang="en-US" altLang="zh-CN" sz="20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retval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None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6.	 */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7.	void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HAL_GPIO_EXTI_Callback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(uint16_t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)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8.	{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9.	   if(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GPIO_Pin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== B1_EXTI_Pin)  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判断发生外部中断的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GPIO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引脚</a:t>
            </a:r>
            <a:r>
              <a:rPr lang="zh-CN" altLang="en-US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</a:t>
            </a:r>
            <a:endParaRPr lang="zh-CN" altLang="en-US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10.	    {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11.	 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BlinkSpeed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++;             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// 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修改</a:t>
            </a:r>
            <a:r>
              <a:rPr lang="en-US" altLang="zh-CN" sz="2000" b="1" dirty="0" err="1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BlinkSpeed</a:t>
            </a:r>
            <a:r>
              <a:rPr lang="zh-CN" altLang="en-US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变量的值</a:t>
            </a:r>
            <a:endParaRPr lang="zh-CN" altLang="en-US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12.	      if(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Blink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Speed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== 3) 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 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13.	      {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14.	   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Blink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Speed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 = 0;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15.	      }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16.	    }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17.	}  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  <a:p>
            <a:pPr lvl="0">
              <a:lnSpc>
                <a:spcPts val="26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18.	</a:t>
            </a:r>
            <a:r>
              <a:rPr lang="en-US" altLang="zh-CN" sz="2000" b="1" dirty="0">
                <a:solidFill>
                  <a:srgbClr val="008200"/>
                </a:solidFill>
                <a:latin typeface="Consolas" panose="020B0609020204030204" pitchFamily="49" charset="0"/>
                <a:ea typeface="+mn-ea"/>
                <a:cs typeface="宋体" panose="02010600030101010101" pitchFamily="2" charset="-122"/>
              </a:rPr>
              <a:t>/* USER CODE END 4 */</a:t>
            </a:r>
            <a:endParaRPr lang="en-US" altLang="zh-CN" sz="2000" b="1" dirty="0">
              <a:solidFill>
                <a:srgbClr val="008200"/>
              </a:solidFill>
              <a:latin typeface="Consolas" panose="020B0609020204030204" pitchFamily="49" charset="0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1" name="Rectangle 52"/>
          <p:cNvSpPr/>
          <p:nvPr/>
        </p:nvSpPr>
        <p:spPr>
          <a:xfrm>
            <a:off x="3666741" y="36503"/>
            <a:ext cx="48585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85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latin typeface="+mn-ea"/>
                <a:ea typeface="+mn-ea"/>
              </a:rPr>
              <a:t>前台程序：外部中断回调函数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08866" y="696442"/>
            <a:ext cx="3477170" cy="337084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473520" y="6316421"/>
            <a:ext cx="3477170" cy="337084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781040" y="3257072"/>
            <a:ext cx="4078986" cy="414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206817" y="4026779"/>
            <a:ext cx="2883657" cy="16828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文本框 58"/>
          <p:cNvSpPr txBox="1">
            <a:spLocks noChangeArrowheads="1"/>
          </p:cNvSpPr>
          <p:nvPr/>
        </p:nvSpPr>
        <p:spPr bwMode="auto">
          <a:xfrm>
            <a:off x="6870700" y="6550025"/>
            <a:ext cx="532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2016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年全国辅导员工作精品项目 </a:t>
            </a:r>
            <a:r>
              <a:rPr lang="en-US" altLang="zh-CN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1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南昌大学“卓越”辅导员培养工程建设</a:t>
            </a:r>
            <a:endParaRPr lang="zh-CN" altLang="en-US" sz="1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Box 36"/>
          <p:cNvSpPr txBox="1"/>
          <p:nvPr/>
        </p:nvSpPr>
        <p:spPr>
          <a:xfrm>
            <a:off x="40330" y="1148416"/>
            <a:ext cx="250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中国情怀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73335" y="1013863"/>
            <a:ext cx="2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学生管理工作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2"/>
          <p:cNvSpPr txBox="1">
            <a:spLocks noChangeArrowheads="1"/>
          </p:cNvSpPr>
          <p:nvPr/>
        </p:nvSpPr>
        <p:spPr bwMode="auto">
          <a:xfrm>
            <a:off x="0" y="6542922"/>
            <a:ext cx="12176125" cy="277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2014-2017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任期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0" y="323850"/>
            <a:ext cx="12192001" cy="304800"/>
            <a:chOff x="0" y="323850"/>
            <a:chExt cx="12192001" cy="304800"/>
          </a:xfrm>
        </p:grpSpPr>
        <p:sp>
          <p:nvSpPr>
            <p:cNvPr id="33" name="矩形 32"/>
            <p:cNvSpPr/>
            <p:nvPr/>
          </p:nvSpPr>
          <p:spPr>
            <a:xfrm>
              <a:off x="0" y="323850"/>
              <a:ext cx="1311275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129239" y="323850"/>
              <a:ext cx="806276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43" name="矩形 42"/>
          <p:cNvSpPr/>
          <p:nvPr/>
        </p:nvSpPr>
        <p:spPr>
          <a:xfrm>
            <a:off x="1558018" y="1842410"/>
            <a:ext cx="96290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组合 19"/>
          <p:cNvGrpSpPr/>
          <p:nvPr/>
        </p:nvGrpSpPr>
        <p:grpSpPr bwMode="auto">
          <a:xfrm>
            <a:off x="1377" y="6470650"/>
            <a:ext cx="12192000" cy="387350"/>
            <a:chOff x="-24" y="10190"/>
            <a:chExt cx="19200" cy="611"/>
          </a:xfrm>
        </p:grpSpPr>
        <p:sp>
          <p:nvSpPr>
            <p:cNvPr id="40" name="矩形 39"/>
            <p:cNvSpPr/>
            <p:nvPr/>
          </p:nvSpPr>
          <p:spPr>
            <a:xfrm>
              <a:off x="-24" y="10190"/>
              <a:ext cx="19200" cy="1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-24" y="10263"/>
              <a:ext cx="19200" cy="538"/>
            </a:xfrm>
            <a:prstGeom prst="rect">
              <a:avLst/>
            </a:prstGeom>
            <a:solidFill>
              <a:srgbClr val="E44B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pic>
        <p:nvPicPr>
          <p:cNvPr id="19460" name="图片 5" descr="纪念册-A-05.jpg"/>
          <p:cNvPicPr>
            <a:picLocks noChangeAspect="1"/>
          </p:cNvPicPr>
          <p:nvPr/>
        </p:nvPicPr>
        <p:blipFill>
          <a:blip r:embed="rId1" cstate="print"/>
          <a:srcRect l="6250" r="6250"/>
          <a:stretch>
            <a:fillRect/>
          </a:stretch>
        </p:blipFill>
        <p:spPr>
          <a:xfrm>
            <a:off x="4806232" y="1463801"/>
            <a:ext cx="6708775" cy="38125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文本框 13"/>
          <p:cNvSpPr txBox="1">
            <a:spLocks noChangeArrowheads="1"/>
          </p:cNvSpPr>
          <p:nvPr/>
        </p:nvSpPr>
        <p:spPr bwMode="auto">
          <a:xfrm>
            <a:off x="1944166" y="313514"/>
            <a:ext cx="14967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本章结束</a:t>
            </a:r>
            <a:endParaRPr lang="zh-CN" altLang="en-US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36687" y="2488002"/>
            <a:ext cx="3767138" cy="1482725"/>
            <a:chOff x="449375" y="2337479"/>
            <a:chExt cx="3767138" cy="1482725"/>
          </a:xfrm>
        </p:grpSpPr>
        <p:sp>
          <p:nvSpPr>
            <p:cNvPr id="18" name="TextBox 2"/>
            <p:cNvSpPr txBox="1">
              <a:spLocks noChangeArrowheads="1"/>
            </p:cNvSpPr>
            <p:nvPr/>
          </p:nvSpPr>
          <p:spPr bwMode="auto">
            <a:xfrm>
              <a:off x="449375" y="2576897"/>
              <a:ext cx="3262432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6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本章结束</a:t>
              </a:r>
              <a:endParaRPr lang="en-US" altLang="zh-CN" sz="6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空心弧 18"/>
            <p:cNvSpPr/>
            <p:nvPr/>
          </p:nvSpPr>
          <p:spPr bwMode="auto">
            <a:xfrm rot="7086271">
              <a:off x="2733788" y="2337479"/>
              <a:ext cx="1482725" cy="1482725"/>
            </a:xfrm>
            <a:prstGeom prst="blockArc">
              <a:avLst>
                <a:gd name="adj1" fmla="val 5502533"/>
                <a:gd name="adj2" fmla="val 1980318"/>
                <a:gd name="adj3" fmla="val 1053"/>
              </a:avLst>
            </a:prstGeom>
            <a:solidFill>
              <a:schemeClr val="accent2"/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tx1">
                <a:lumMod val="85000"/>
                <a:lumOff val="15000"/>
              </a:schemeClr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14588</Words>
  <Application>WPS 演示</Application>
  <PresentationFormat>宽屏</PresentationFormat>
  <Paragraphs>1482</Paragraphs>
  <Slides>70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90" baseType="lpstr">
      <vt:lpstr>Arial</vt:lpstr>
      <vt:lpstr>宋体</vt:lpstr>
      <vt:lpstr>Wingdings</vt:lpstr>
      <vt:lpstr>等线</vt:lpstr>
      <vt:lpstr>等线 Light</vt:lpstr>
      <vt:lpstr>微软雅黑</vt:lpstr>
      <vt:lpstr>Calibri</vt:lpstr>
      <vt:lpstr>黑体</vt:lpstr>
      <vt:lpstr>仿宋_GB2312</vt:lpstr>
      <vt:lpstr>Century Gothic</vt:lpstr>
      <vt:lpstr>Consolas</vt:lpstr>
      <vt:lpstr>Arial Unicode MS</vt:lpstr>
      <vt:lpstr>Arial Rounded MT Bold</vt:lpstr>
      <vt:lpstr>Wingdings 2</vt:lpstr>
      <vt:lpstr>Roboto Light</vt:lpstr>
      <vt:lpstr>RomanS</vt:lpstr>
      <vt:lpstr>Microsoft JhengHei</vt:lpstr>
      <vt:lpstr>Arial</vt:lpstr>
      <vt:lpstr>Stymie Std Light Italic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sun小个子</dc:creator>
  <cp:lastModifiedBy>echo</cp:lastModifiedBy>
  <cp:revision>1641</cp:revision>
  <dcterms:created xsi:type="dcterms:W3CDTF">2018-04-17T03:20:00Z</dcterms:created>
  <dcterms:modified xsi:type="dcterms:W3CDTF">2025-10-28T12:10:02Z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68575CF01C154C0898DA3A36FDBD3DA3_12</vt:lpwstr>
  </property>
</Properties>
</file>